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[20 s]</a:t>
            </a:r>
          </a:p>
          <a:p/>
          <a:p>
            <a:r>
              <a:t>Bonjour. Je m'appelle Hala Sadoumi, quatrième année intelligence artificielle et data science à l'EMSI. J'ai effectué mon stage chez S2M Casablanca, au département des ressources humaines. Le projet tient en trois mots : un support de formation en PDF, une chaîne d'intelligence artificielle, un cours e-learning complet.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[70 s]</a:t>
            </a:r>
          </a:p>
          <a:p/>
          <a:p>
            <a:r>
              <a:t>Une entreprise produit régulièrement des supports de formation. Les transformer en cours e-learning suppose de les analyser, de les scénariser, d'enregistrer une voix, de monter, de sous-titrer, puis de publier. Chaque étape est manuelle, et l'ensemble se compte en jours par formation. Sur un catalogue entier, l'effort devient prohibitif. La question qui a guidé tout le projet est donc celle-ci : comment automatiser cette transformation de bout en bout, sans perdre la qualité pédagogique ? Ce n'est pas un problème de plateforme, c'est un problème de production de contenu.</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[50 s]</a:t>
            </a:r>
          </a:p>
          <a:p/>
          <a:p>
            <a:r>
              <a:t>S2M est une entreprise marocaine spécialisée dans la monétique : elle édite des solutions logicielles de paiement, fournit les moyens de paiement physiques, et exploite ces systèmes pour ses clients en mode service. Elle est présente sur cinq zones géographiques. Mon stage s'est déroulé au département des ressources humaines, sur le volet formation — et ce rattachement compte : le commanditaire n'était pas une équipe technique, mais le service qui doit rendre ses formations accessibles et consultables.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[60 s]</a:t>
            </a:r>
          </a:p>
          <a:p/>
          <a:p>
            <a:r>
              <a:t>La solution tient en une transformation. En entrée, le support PDF existant. Au centre, une chaîne d'intelligence artificielle qui comprend le document, rédige le contenu et le structure. En sortie, un cours e-learning complet. Autour de ce flux, les huit objectifs du cahier des charges : des chapitres de moins de cinq minutes, une narration pédagogique et non un résumé, une voix de synthèse, des schémas animés, des sous-titres calés sur la parole, une évaluation finale, la publication web — et une chaîne automatisée, reprenable après interruption.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[90 s]</a:t>
            </a:r>
          </a:p>
          <a:p/>
          <a:p>
            <a:r>
              <a:t>Le système est une chaîne de neuf étapes, de la lecture du PDF jusqu'à la publication. Trois d'entre elles appellent un modèle d'intelligence artificielle : la génération de la narration, le découpage en scènes et le plan visuel. Les six autres sont du code déterministe. Le principe qui tient tout l'ensemble est simple : chaque étape lit des fichiers et en écrit d'autres, rien n'est gardé en mémoire. C'est de là que viennent les quatre propriétés du bas. La chaîne est modulaire, elle est reproductible, elle reprend après une interruption au lieu de tout recommencer, et chaque étape se contrôle indépendamment des autres.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[90 s]</a:t>
            </a:r>
          </a:p>
          <a:p/>
          <a:p>
            <a:r>
              <a:t>La réalisation se lit en quatre temps. Comprendre : le PDF est lu, son texte et ses pages rendues en image, puis groupé en chapitres. Générer : le modèle rédige la narration, la découpe en scènes, et la voix est synthétisée. Illustrer : chaque scène reçoit un schéma animé et les sous-titres sont calés sur la parole réelle. Publier : les vidéos, le quiz et les métadonnées partent vers la plateforme. À droite, le studio : c'est ce que voit la personne qui fabrique les cours. Elle dépose un PDF depuis son navigateur et suit l'avancement des neuf étapes. Aucun terminal, aucune ligne de commande — c'est ce qui distingue un prototype d'un outil utilisable par le service formation.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[60 s]</a:t>
            </a:r>
          </a:p>
          <a:p/>
          <a:p>
            <a:r>
              <a:t>Les outils, par rôle. PyMuPDF lit le PDF : il extrait le texte et rend la page en image avec la même bibliothèque. Gemini est le modèle de langage, multimodal, ce qui lui permet de lire un graphique. Pydantic déclare la forme attendue de chaque réponse, et cette déclaration sert deux fois : elle contraint le modèle et valide sa sortie. edge-tts produit la voix française. Remotion et FFmpeg rendent la vidéo. FastAPI porte le studio. python-docx lit le quiz officiel des formateurs. Et pytest couvre les fonctions qui décident. Point important : rien de tout cela ne demande de carte graphique, ce qui était une contrainte du cahier des charges.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[60 s]</a:t>
            </a:r>
          </a:p>
          <a:p/>
          <a:p>
            <a:r>
              <a:t>Voici ce que le système produit réellement, sur le support de validation. Vingt-huit pages en entrée donnent huit chapitres, dix-sept minutes de cours, soixante-huit scènes animées, cent dix sous-titres et huit questions d'évaluation. Le chapitre le plus long fait trois minutes quinze, pour une exigence fixée à cinq minutes : l'objectif est tenu avec de la marge. À droite, six scènes du cours produit — aucune n'est une capture du PDF, tout est redessiné par le système.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[60 s]</a:t>
            </a:r>
          </a:p>
          <a:p/>
          <a:p>
            <a:r>
              <a:t>La validation s'est faite à deux niveaux. Trente et un tests automatisés couvrent les fonctions qui décident : le pipeline, le traitement des données, la reprise après interruption, la cohérence des résultats. Mais un système qui fabrique du contenu ne se valide pas uniquement par des tests sur son code : il a fallu regarder la vidéo, écouter l'audio, vérifier les sous-titres, les visuels et les durées. Résultat : sept objectifs sur huit entièrement atteints, et sept valeurs chiffrées sur huit reprises depuis le support. Une valeur manque. Je le dis clairement parce que c'est un axe d'amélioration identifié, et non un résultat que je cherche à masquer.</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[50 s]</a:t>
            </a:r>
          </a:p>
          <a:p/>
          <a:p>
            <a:r>
              <a:t>Pour conclure. Le système génère automatiquement un cours complet à partir d'un support PDF : des chapitres courts, une narration portée par une voix de synthèse, des visuels animés, des sous-titres, un quiz final, et la publication web — le tout par une chaîne reproductible et reprenable. Les perspectives sont claires : améliorer l'exhaustivité des informations reprises, étendre les types de contenus acceptés, enrichir les modèles de schémas, développer le suivi des apprenants, et passer à une utilisation de production. Je vous remercie de votre attention.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emsi_honoris.png"/>
          <p:cNvPicPr>
            <a:picLocks noChangeAspect="1"/>
          </p:cNvPicPr>
          <p:nvPr/>
        </p:nvPicPr>
        <p:blipFill>
          <a:blip r:embed="rId2"/>
          <a:stretch>
            <a:fillRect/>
          </a:stretch>
        </p:blipFill>
        <p:spPr>
          <a:xfrm>
            <a:off x="868680" y="502920"/>
            <a:ext cx="2651760" cy="580072"/>
          </a:xfrm>
          <a:prstGeom prst="rect">
            <a:avLst/>
          </a:prstGeom>
        </p:spPr>
      </p:pic>
      <p:pic>
        <p:nvPicPr>
          <p:cNvPr id="3" name="Picture 2" descr="s2m.png"/>
          <p:cNvPicPr>
            <a:picLocks noChangeAspect="1"/>
          </p:cNvPicPr>
          <p:nvPr/>
        </p:nvPicPr>
        <p:blipFill>
          <a:blip r:embed="rId3"/>
          <a:stretch>
            <a:fillRect/>
          </a:stretch>
        </p:blipFill>
        <p:spPr>
          <a:xfrm>
            <a:off x="9997135" y="502920"/>
            <a:ext cx="1325880" cy="664062"/>
          </a:xfrm>
          <a:prstGeom prst="rect">
            <a:avLst/>
          </a:prstGeom>
        </p:spPr>
      </p:pic>
      <p:sp>
        <p:nvSpPr>
          <p:cNvPr id="4" name="TextBox 3"/>
          <p:cNvSpPr txBox="1"/>
          <p:nvPr/>
        </p:nvSpPr>
        <p:spPr>
          <a:xfrm>
            <a:off x="868680" y="1874519"/>
            <a:ext cx="7680960" cy="1737360"/>
          </a:xfrm>
          <a:prstGeom prst="rect">
            <a:avLst/>
          </a:prstGeom>
          <a:noFill/>
        </p:spPr>
        <p:txBody>
          <a:bodyPr wrap="square" lIns="0" rIns="0" tIns="0" bIns="0">
            <a:spAutoFit/>
          </a:bodyPr>
          <a:lstStyle/>
          <a:p>
            <a:pPr algn="l">
              <a:lnSpc>
                <a:spcPct val="112000"/>
              </a:lnSpc>
              <a:spcBef>
                <a:spcPts val="0"/>
              </a:spcBef>
              <a:defRPr sz="3300" b="0" i="0">
                <a:solidFill>
                  <a:srgbClr val="101828"/>
                </a:solidFill>
                <a:latin typeface="Segoe UI Light"/>
              </a:defRPr>
            </a:pPr>
            <a:r>
              <a:t>Du support de formation à l'e-learning,</a:t>
            </a:r>
          </a:p>
          <a:p>
            <a:pPr algn="l">
              <a:lnSpc>
                <a:spcPct val="112000"/>
              </a:lnSpc>
              <a:spcBef>
                <a:spcPts val="0"/>
              </a:spcBef>
              <a:defRPr sz="3300" b="0" i="0">
                <a:solidFill>
                  <a:srgbClr val="101828"/>
                </a:solidFill>
                <a:latin typeface="Segoe UI Light"/>
              </a:defRPr>
            </a:pPr>
            <a:r>
              <a:t>par intelligence artificielle</a:t>
            </a:r>
          </a:p>
        </p:txBody>
      </p:sp>
      <p:sp>
        <p:nvSpPr>
          <p:cNvPr id="5" name="TextBox 4"/>
          <p:cNvSpPr txBox="1"/>
          <p:nvPr/>
        </p:nvSpPr>
        <p:spPr>
          <a:xfrm>
            <a:off x="868680" y="3611880"/>
            <a:ext cx="7680960" cy="548640"/>
          </a:xfrm>
          <a:prstGeom prst="rect">
            <a:avLst/>
          </a:prstGeom>
          <a:noFill/>
        </p:spPr>
        <p:txBody>
          <a:bodyPr wrap="square" lIns="0" rIns="0" tIns="0" bIns="0">
            <a:spAutoFit/>
          </a:bodyPr>
          <a:lstStyle/>
          <a:p>
            <a:pPr algn="l">
              <a:lnSpc>
                <a:spcPct val="100000"/>
              </a:lnSpc>
              <a:spcBef>
                <a:spcPts val="0"/>
              </a:spcBef>
              <a:defRPr sz="1450" b="0" i="0">
                <a:solidFill>
                  <a:srgbClr val="00ABC8"/>
                </a:solidFill>
                <a:latin typeface="Segoe UI"/>
              </a:defRPr>
            </a:pPr>
            <a:r>
              <a:t>Conception et réalisation d'un système automatisé de génération de cours vidéo</a:t>
            </a:r>
          </a:p>
        </p:txBody>
      </p:sp>
      <p:sp>
        <p:nvSpPr>
          <p:cNvPr id="6" name="Rounded Rectangle 5"/>
          <p:cNvSpPr/>
          <p:nvPr/>
        </p:nvSpPr>
        <p:spPr>
          <a:xfrm>
            <a:off x="868680" y="4526280"/>
            <a:ext cx="2377440" cy="914400"/>
          </a:xfrm>
          <a:prstGeom prst="roundRect">
            <a:avLst>
              <a:gd name="adj" fmla="val 8000"/>
            </a:avLst>
          </a:prstGeom>
          <a:solidFill>
            <a:srgbClr val="F7F9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146304" bIns="109728"/>
          <a:lstStyle/>
          <a:p>
            <a:pPr algn="ctr">
              <a:lnSpc>
                <a:spcPct val="100000"/>
              </a:lnSpc>
              <a:spcBef>
                <a:spcPts val="0"/>
              </a:spcBef>
              <a:defRPr sz="1600" b="0" i="0">
                <a:solidFill>
                  <a:srgbClr val="667085"/>
                </a:solidFill>
                <a:latin typeface="Segoe UI Semibold"/>
              </a:defRPr>
            </a:pPr>
            <a:r>
              <a:t>PDF</a:t>
            </a:r>
          </a:p>
          <a:p>
            <a:pPr algn="ctr">
              <a:lnSpc>
                <a:spcPct val="100000"/>
              </a:lnSpc>
              <a:spcBef>
                <a:spcPts val="200"/>
              </a:spcBef>
              <a:defRPr sz="950" b="0" i="0">
                <a:solidFill>
                  <a:srgbClr val="667085"/>
                </a:solidFill>
                <a:latin typeface="Segoe UI"/>
              </a:defRPr>
            </a:pPr>
            <a:r>
              <a:t>Support de formation</a:t>
            </a:r>
          </a:p>
        </p:txBody>
      </p:sp>
      <p:sp>
        <p:nvSpPr>
          <p:cNvPr id="7" name="TextBox 6"/>
          <p:cNvSpPr txBox="1"/>
          <p:nvPr/>
        </p:nvSpPr>
        <p:spPr>
          <a:xfrm>
            <a:off x="3319272" y="4828032"/>
            <a:ext cx="411480" cy="365760"/>
          </a:xfrm>
          <a:prstGeom prst="rect">
            <a:avLst/>
          </a:prstGeom>
          <a:noFill/>
        </p:spPr>
        <p:txBody>
          <a:bodyPr wrap="square" lIns="0" rIns="0" tIns="0" bIns="0">
            <a:spAutoFit/>
          </a:bodyPr>
          <a:lstStyle/>
          <a:p>
            <a:pPr algn="ctr">
              <a:lnSpc>
                <a:spcPct val="100000"/>
              </a:lnSpc>
              <a:spcBef>
                <a:spcPts val="0"/>
              </a:spcBef>
              <a:defRPr sz="1600" b="1" i="0">
                <a:solidFill>
                  <a:srgbClr val="00ABC8"/>
                </a:solidFill>
                <a:latin typeface="Segoe UI"/>
              </a:defRPr>
            </a:pPr>
            <a:r>
              <a:t>→</a:t>
            </a:r>
          </a:p>
        </p:txBody>
      </p:sp>
      <p:sp>
        <p:nvSpPr>
          <p:cNvPr id="8" name="Rounded Rectangle 7"/>
          <p:cNvSpPr/>
          <p:nvPr/>
        </p:nvSpPr>
        <p:spPr>
          <a:xfrm>
            <a:off x="3657600" y="4526280"/>
            <a:ext cx="2377440" cy="914400"/>
          </a:xfrm>
          <a:prstGeom prst="roundRect">
            <a:avLst>
              <a:gd name="adj" fmla="val 8000"/>
            </a:avLst>
          </a:prstGeom>
          <a:solidFill>
            <a:srgbClr val="EEF0F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146304" bIns="109728"/>
          <a:lstStyle/>
          <a:p>
            <a:pPr algn="ctr">
              <a:lnSpc>
                <a:spcPct val="100000"/>
              </a:lnSpc>
              <a:spcBef>
                <a:spcPts val="0"/>
              </a:spcBef>
              <a:defRPr sz="1600" b="0" i="0">
                <a:solidFill>
                  <a:srgbClr val="4F5BD5"/>
                </a:solidFill>
                <a:latin typeface="Segoe UI Semibold"/>
              </a:defRPr>
            </a:pPr>
            <a:r>
              <a:t>IA</a:t>
            </a:r>
          </a:p>
          <a:p>
            <a:pPr algn="ctr">
              <a:lnSpc>
                <a:spcPct val="100000"/>
              </a:lnSpc>
              <a:spcBef>
                <a:spcPts val="200"/>
              </a:spcBef>
              <a:defRPr sz="950" b="0" i="0">
                <a:solidFill>
                  <a:srgbClr val="667085"/>
                </a:solidFill>
                <a:latin typeface="Segoe UI"/>
              </a:defRPr>
            </a:pPr>
            <a:r>
              <a:t>Compréhension et génération</a:t>
            </a:r>
          </a:p>
        </p:txBody>
      </p:sp>
      <p:sp>
        <p:nvSpPr>
          <p:cNvPr id="9" name="TextBox 8"/>
          <p:cNvSpPr txBox="1"/>
          <p:nvPr/>
        </p:nvSpPr>
        <p:spPr>
          <a:xfrm>
            <a:off x="6108192" y="4828032"/>
            <a:ext cx="411480" cy="365760"/>
          </a:xfrm>
          <a:prstGeom prst="rect">
            <a:avLst/>
          </a:prstGeom>
          <a:noFill/>
        </p:spPr>
        <p:txBody>
          <a:bodyPr wrap="square" lIns="0" rIns="0" tIns="0" bIns="0">
            <a:spAutoFit/>
          </a:bodyPr>
          <a:lstStyle/>
          <a:p>
            <a:pPr algn="ctr">
              <a:lnSpc>
                <a:spcPct val="100000"/>
              </a:lnSpc>
              <a:spcBef>
                <a:spcPts val="0"/>
              </a:spcBef>
              <a:defRPr sz="1600" b="1" i="0">
                <a:solidFill>
                  <a:srgbClr val="00ABC8"/>
                </a:solidFill>
                <a:latin typeface="Segoe UI"/>
              </a:defRPr>
            </a:pPr>
            <a:r>
              <a:t>→</a:t>
            </a:r>
          </a:p>
        </p:txBody>
      </p:sp>
      <p:sp>
        <p:nvSpPr>
          <p:cNvPr id="10" name="Rounded Rectangle 9"/>
          <p:cNvSpPr/>
          <p:nvPr/>
        </p:nvSpPr>
        <p:spPr>
          <a:xfrm>
            <a:off x="6446520" y="4526280"/>
            <a:ext cx="2377440" cy="914400"/>
          </a:xfrm>
          <a:prstGeom prst="roundRect">
            <a:avLst>
              <a:gd name="adj" fmla="val 8000"/>
            </a:avLst>
          </a:prstGeom>
          <a:solidFill>
            <a:srgbClr val="E6F7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146304" bIns="109728"/>
          <a:lstStyle/>
          <a:p>
            <a:pPr algn="ctr">
              <a:lnSpc>
                <a:spcPct val="100000"/>
              </a:lnSpc>
              <a:spcBef>
                <a:spcPts val="0"/>
              </a:spcBef>
              <a:defRPr sz="1600" b="0" i="0">
                <a:solidFill>
                  <a:srgbClr val="00ABC8"/>
                </a:solidFill>
                <a:latin typeface="Segoe UI Semibold"/>
              </a:defRPr>
            </a:pPr>
            <a:r>
              <a:t>E-LEARNING</a:t>
            </a:r>
          </a:p>
          <a:p>
            <a:pPr algn="ctr">
              <a:lnSpc>
                <a:spcPct val="100000"/>
              </a:lnSpc>
              <a:spcBef>
                <a:spcPts val="200"/>
              </a:spcBef>
              <a:defRPr sz="950" b="0" i="0">
                <a:solidFill>
                  <a:srgbClr val="667085"/>
                </a:solidFill>
                <a:latin typeface="Segoe UI"/>
              </a:defRPr>
            </a:pPr>
            <a:r>
              <a:t>Cours vidéo publié</a:t>
            </a:r>
          </a:p>
        </p:txBody>
      </p:sp>
      <p:sp>
        <p:nvSpPr>
          <p:cNvPr id="11" name="Rectangle 10"/>
          <p:cNvSpPr/>
          <p:nvPr/>
        </p:nvSpPr>
        <p:spPr>
          <a:xfrm>
            <a:off x="868680" y="5806440"/>
            <a:ext cx="10454335" cy="12801"/>
          </a:xfrm>
          <a:prstGeom prst="rect">
            <a:avLst/>
          </a:prstGeom>
          <a:solidFill>
            <a:srgbClr val="E3E8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68680" y="5989320"/>
            <a:ext cx="5120640" cy="822960"/>
          </a:xfrm>
          <a:prstGeom prst="rect">
            <a:avLst/>
          </a:prstGeom>
          <a:noFill/>
        </p:spPr>
        <p:txBody>
          <a:bodyPr wrap="square" lIns="0" rIns="0" tIns="0" bIns="0">
            <a:spAutoFit/>
          </a:bodyPr>
          <a:lstStyle/>
          <a:p>
            <a:pPr algn="l">
              <a:lnSpc>
                <a:spcPct val="100000"/>
              </a:lnSpc>
              <a:spcBef>
                <a:spcPts val="0"/>
              </a:spcBef>
              <a:defRPr sz="1300" b="0" i="0">
                <a:solidFill>
                  <a:srgbClr val="101828"/>
                </a:solidFill>
                <a:latin typeface="Segoe UI Semibold"/>
              </a:defRPr>
            </a:pPr>
            <a:r>
              <a:t>Hala Sadoumi</a:t>
            </a:r>
          </a:p>
          <a:p>
            <a:pPr algn="l">
              <a:lnSpc>
                <a:spcPct val="100000"/>
              </a:lnSpc>
              <a:spcBef>
                <a:spcPts val="200"/>
              </a:spcBef>
              <a:defRPr sz="1100" b="0" i="0">
                <a:solidFill>
                  <a:srgbClr val="667085"/>
                </a:solidFill>
                <a:latin typeface="Segoe UI"/>
              </a:defRPr>
            </a:pPr>
            <a:r>
              <a:t>4ème année — Intelligence Artificielle &amp; Data Science</a:t>
            </a:r>
          </a:p>
          <a:p>
            <a:pPr algn="l">
              <a:lnSpc>
                <a:spcPct val="100000"/>
              </a:lnSpc>
              <a:spcBef>
                <a:spcPts val="200"/>
              </a:spcBef>
              <a:defRPr sz="1100" b="0" i="0">
                <a:solidFill>
                  <a:srgbClr val="667085"/>
                </a:solidFill>
                <a:latin typeface="Segoe UI"/>
              </a:defRPr>
            </a:pPr>
            <a:r>
              <a:t>S2M Casablanca  ·  Année universitaire 2025 / 2026</a:t>
            </a:r>
          </a:p>
        </p:txBody>
      </p:sp>
      <p:sp>
        <p:nvSpPr>
          <p:cNvPr id="13" name="TextBox 12"/>
          <p:cNvSpPr txBox="1"/>
          <p:nvPr/>
        </p:nvSpPr>
        <p:spPr>
          <a:xfrm>
            <a:off x="6583680" y="5989320"/>
            <a:ext cx="4754880" cy="822960"/>
          </a:xfrm>
          <a:prstGeom prst="rect">
            <a:avLst/>
          </a:prstGeom>
          <a:noFill/>
        </p:spPr>
        <p:txBody>
          <a:bodyPr wrap="square" lIns="0" rIns="0" tIns="0" bIns="0">
            <a:spAutoFit/>
          </a:bodyPr>
          <a:lstStyle/>
          <a:p>
            <a:pPr algn="r">
              <a:lnSpc>
                <a:spcPct val="100000"/>
              </a:lnSpc>
              <a:spcBef>
                <a:spcPts val="0"/>
              </a:spcBef>
              <a:defRPr sz="1100" b="0" i="0">
                <a:solidFill>
                  <a:srgbClr val="667085"/>
                </a:solidFill>
                <a:latin typeface="Segoe UI"/>
              </a:defRPr>
            </a:pPr>
            <a:r>
              <a:t>Encadrante professionnelle : Mme Firdaous Bazhod</a:t>
            </a:r>
          </a:p>
          <a:p>
            <a:pPr algn="r">
              <a:lnSpc>
                <a:spcPct val="100000"/>
              </a:lnSpc>
              <a:spcBef>
                <a:spcPts val="200"/>
              </a:spcBef>
              <a:defRPr sz="1100" b="0" i="0">
                <a:solidFill>
                  <a:srgbClr val="667085"/>
                </a:solidFill>
                <a:latin typeface="Segoe UI"/>
              </a:defRPr>
            </a:pPr>
            <a:r>
              <a:t>Encadrant pédagogique : M. Hamza Abouabid</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868680" y="457200"/>
            <a:ext cx="10454335" cy="320040"/>
          </a:xfrm>
          <a:prstGeom prst="rect">
            <a:avLst/>
          </a:prstGeom>
          <a:noFill/>
        </p:spPr>
        <p:txBody>
          <a:bodyPr wrap="square" lIns="0" rIns="0" tIns="0" bIns="0">
            <a:spAutoFit/>
          </a:bodyPr>
          <a:lstStyle/>
          <a:p/>
        </p:txBody>
      </p:sp>
      <p:sp>
        <p:nvSpPr>
          <p:cNvPr id="3" name="TextBox 2"/>
          <p:cNvSpPr txBox="1"/>
          <p:nvPr/>
        </p:nvSpPr>
        <p:spPr>
          <a:xfrm>
            <a:off x="868680" y="566928"/>
            <a:ext cx="10454335" cy="685800"/>
          </a:xfrm>
          <a:prstGeom prst="rect">
            <a:avLst/>
          </a:prstGeom>
          <a:noFill/>
        </p:spPr>
        <p:txBody>
          <a:bodyPr wrap="square" lIns="0" rIns="0" tIns="0" bIns="0">
            <a:spAutoFit/>
          </a:bodyPr>
          <a:lstStyle/>
          <a:p>
            <a:pPr algn="l">
              <a:lnSpc>
                <a:spcPct val="100000"/>
              </a:lnSpc>
              <a:spcBef>
                <a:spcPts val="0"/>
              </a:spcBef>
              <a:defRPr sz="2700" b="0" i="0">
                <a:solidFill>
                  <a:srgbClr val="101828"/>
                </a:solidFill>
                <a:latin typeface="Segoe UI Light"/>
              </a:defRPr>
            </a:pPr>
            <a:r>
              <a:t>Contexte &amp; problématique</a:t>
            </a:r>
          </a:p>
        </p:txBody>
      </p:sp>
      <p:sp>
        <p:nvSpPr>
          <p:cNvPr id="4" name="TextBox 3"/>
          <p:cNvSpPr txBox="1"/>
          <p:nvPr/>
        </p:nvSpPr>
        <p:spPr>
          <a:xfrm>
            <a:off x="10957255" y="6309360"/>
            <a:ext cx="731520" cy="320040"/>
          </a:xfrm>
          <a:prstGeom prst="rect">
            <a:avLst/>
          </a:prstGeom>
          <a:noFill/>
        </p:spPr>
        <p:txBody>
          <a:bodyPr wrap="square" lIns="0" rIns="0" tIns="0" bIns="0">
            <a:spAutoFit/>
          </a:bodyPr>
          <a:lstStyle/>
          <a:p>
            <a:pPr algn="r">
              <a:lnSpc>
                <a:spcPct val="100000"/>
              </a:lnSpc>
              <a:spcBef>
                <a:spcPts val="0"/>
              </a:spcBef>
              <a:defRPr sz="950" b="0" i="0">
                <a:solidFill>
                  <a:srgbClr val="667085"/>
                </a:solidFill>
                <a:latin typeface="Segoe UI"/>
              </a:defRPr>
            </a:pPr>
            <a:r>
              <a:t>2</a:t>
            </a:r>
          </a:p>
        </p:txBody>
      </p:sp>
      <p:sp>
        <p:nvSpPr>
          <p:cNvPr id="5" name="Rounded Rectangle 4"/>
          <p:cNvSpPr/>
          <p:nvPr/>
        </p:nvSpPr>
        <p:spPr>
          <a:xfrm>
            <a:off x="868680" y="1828800"/>
            <a:ext cx="1353312" cy="713232"/>
          </a:xfrm>
          <a:prstGeom prst="roundRect">
            <a:avLst>
              <a:gd name="adj" fmla="val 8000"/>
            </a:avLst>
          </a:prstGeom>
          <a:solidFill>
            <a:srgbClr val="F7F9FB"/>
          </a:solidFill>
          <a:ln w="9525">
            <a:solidFill>
              <a:srgbClr val="E3E8EF"/>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146304" bIns="109728"/>
          <a:lstStyle/>
          <a:p>
            <a:pPr algn="ctr">
              <a:lnSpc>
                <a:spcPct val="108000"/>
              </a:lnSpc>
              <a:spcBef>
                <a:spcPts val="0"/>
              </a:spcBef>
              <a:defRPr sz="1000" b="0" i="0">
                <a:solidFill>
                  <a:srgbClr val="101828"/>
                </a:solidFill>
                <a:latin typeface="Segoe UI"/>
              </a:defRPr>
            </a:pPr>
            <a:r>
              <a:t>Support de formation</a:t>
            </a:r>
          </a:p>
        </p:txBody>
      </p:sp>
      <p:sp>
        <p:nvSpPr>
          <p:cNvPr id="6" name="TextBox 5"/>
          <p:cNvSpPr txBox="1"/>
          <p:nvPr/>
        </p:nvSpPr>
        <p:spPr>
          <a:xfrm>
            <a:off x="2203703" y="2048256"/>
            <a:ext cx="411480" cy="365760"/>
          </a:xfrm>
          <a:prstGeom prst="rect">
            <a:avLst/>
          </a:prstGeom>
          <a:noFill/>
        </p:spPr>
        <p:txBody>
          <a:bodyPr wrap="square" lIns="0" rIns="0" tIns="0" bIns="0">
            <a:spAutoFit/>
          </a:bodyPr>
          <a:lstStyle/>
          <a:p>
            <a:pPr algn="ctr">
              <a:lnSpc>
                <a:spcPct val="100000"/>
              </a:lnSpc>
              <a:spcBef>
                <a:spcPts val="0"/>
              </a:spcBef>
              <a:defRPr sz="1300" b="1" i="0">
                <a:solidFill>
                  <a:srgbClr val="667085"/>
                </a:solidFill>
                <a:latin typeface="Segoe UI"/>
              </a:defRPr>
            </a:pPr>
            <a:r>
              <a:t>→</a:t>
            </a:r>
          </a:p>
        </p:txBody>
      </p:sp>
      <p:sp>
        <p:nvSpPr>
          <p:cNvPr id="7" name="Rounded Rectangle 6"/>
          <p:cNvSpPr/>
          <p:nvPr/>
        </p:nvSpPr>
        <p:spPr>
          <a:xfrm>
            <a:off x="2395728" y="1828800"/>
            <a:ext cx="1353312" cy="713232"/>
          </a:xfrm>
          <a:prstGeom prst="roundRect">
            <a:avLst>
              <a:gd name="adj" fmla="val 8000"/>
            </a:avLst>
          </a:prstGeom>
          <a:solidFill>
            <a:srgbClr val="F7F9FB"/>
          </a:solidFill>
          <a:ln w="9525">
            <a:solidFill>
              <a:srgbClr val="E3E8EF"/>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146304" bIns="109728"/>
          <a:lstStyle/>
          <a:p>
            <a:pPr algn="ctr">
              <a:lnSpc>
                <a:spcPct val="108000"/>
              </a:lnSpc>
              <a:spcBef>
                <a:spcPts val="0"/>
              </a:spcBef>
              <a:defRPr sz="1000" b="0" i="0">
                <a:solidFill>
                  <a:srgbClr val="101828"/>
                </a:solidFill>
                <a:latin typeface="Segoe UI"/>
              </a:defRPr>
            </a:pPr>
            <a:r>
              <a:t>Analyse</a:t>
            </a:r>
          </a:p>
        </p:txBody>
      </p:sp>
      <p:sp>
        <p:nvSpPr>
          <p:cNvPr id="8" name="TextBox 7"/>
          <p:cNvSpPr txBox="1"/>
          <p:nvPr/>
        </p:nvSpPr>
        <p:spPr>
          <a:xfrm>
            <a:off x="3730752" y="2048256"/>
            <a:ext cx="411480" cy="365760"/>
          </a:xfrm>
          <a:prstGeom prst="rect">
            <a:avLst/>
          </a:prstGeom>
          <a:noFill/>
        </p:spPr>
        <p:txBody>
          <a:bodyPr wrap="square" lIns="0" rIns="0" tIns="0" bIns="0">
            <a:spAutoFit/>
          </a:bodyPr>
          <a:lstStyle/>
          <a:p>
            <a:pPr algn="ctr">
              <a:lnSpc>
                <a:spcPct val="100000"/>
              </a:lnSpc>
              <a:spcBef>
                <a:spcPts val="0"/>
              </a:spcBef>
              <a:defRPr sz="1300" b="1" i="0">
                <a:solidFill>
                  <a:srgbClr val="667085"/>
                </a:solidFill>
                <a:latin typeface="Segoe UI"/>
              </a:defRPr>
            </a:pPr>
            <a:r>
              <a:t>→</a:t>
            </a:r>
          </a:p>
        </p:txBody>
      </p:sp>
      <p:sp>
        <p:nvSpPr>
          <p:cNvPr id="9" name="Rounded Rectangle 8"/>
          <p:cNvSpPr/>
          <p:nvPr/>
        </p:nvSpPr>
        <p:spPr>
          <a:xfrm>
            <a:off x="3922776" y="1828800"/>
            <a:ext cx="1353312" cy="713232"/>
          </a:xfrm>
          <a:prstGeom prst="roundRect">
            <a:avLst>
              <a:gd name="adj" fmla="val 8000"/>
            </a:avLst>
          </a:prstGeom>
          <a:solidFill>
            <a:srgbClr val="F7F9FB"/>
          </a:solidFill>
          <a:ln w="9525">
            <a:solidFill>
              <a:srgbClr val="E3E8EF"/>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146304" bIns="109728"/>
          <a:lstStyle/>
          <a:p>
            <a:pPr algn="ctr">
              <a:lnSpc>
                <a:spcPct val="108000"/>
              </a:lnSpc>
              <a:spcBef>
                <a:spcPts val="0"/>
              </a:spcBef>
              <a:defRPr sz="1000" b="0" i="0">
                <a:solidFill>
                  <a:srgbClr val="101828"/>
                </a:solidFill>
                <a:latin typeface="Segoe UI"/>
              </a:defRPr>
            </a:pPr>
            <a:r>
              <a:t>Scénarisation</a:t>
            </a:r>
          </a:p>
        </p:txBody>
      </p:sp>
      <p:sp>
        <p:nvSpPr>
          <p:cNvPr id="10" name="TextBox 9"/>
          <p:cNvSpPr txBox="1"/>
          <p:nvPr/>
        </p:nvSpPr>
        <p:spPr>
          <a:xfrm>
            <a:off x="5257800" y="2048256"/>
            <a:ext cx="411480" cy="365760"/>
          </a:xfrm>
          <a:prstGeom prst="rect">
            <a:avLst/>
          </a:prstGeom>
          <a:noFill/>
        </p:spPr>
        <p:txBody>
          <a:bodyPr wrap="square" lIns="0" rIns="0" tIns="0" bIns="0">
            <a:spAutoFit/>
          </a:bodyPr>
          <a:lstStyle/>
          <a:p>
            <a:pPr algn="ctr">
              <a:lnSpc>
                <a:spcPct val="100000"/>
              </a:lnSpc>
              <a:spcBef>
                <a:spcPts val="0"/>
              </a:spcBef>
              <a:defRPr sz="1300" b="1" i="0">
                <a:solidFill>
                  <a:srgbClr val="667085"/>
                </a:solidFill>
                <a:latin typeface="Segoe UI"/>
              </a:defRPr>
            </a:pPr>
            <a:r>
              <a:t>→</a:t>
            </a:r>
          </a:p>
        </p:txBody>
      </p:sp>
      <p:sp>
        <p:nvSpPr>
          <p:cNvPr id="11" name="Rounded Rectangle 10"/>
          <p:cNvSpPr/>
          <p:nvPr/>
        </p:nvSpPr>
        <p:spPr>
          <a:xfrm>
            <a:off x="5449824" y="1828800"/>
            <a:ext cx="1353312" cy="713232"/>
          </a:xfrm>
          <a:prstGeom prst="roundRect">
            <a:avLst>
              <a:gd name="adj" fmla="val 8000"/>
            </a:avLst>
          </a:prstGeom>
          <a:solidFill>
            <a:srgbClr val="F7F9FB"/>
          </a:solidFill>
          <a:ln w="9525">
            <a:solidFill>
              <a:srgbClr val="E3E8EF"/>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146304" bIns="109728"/>
          <a:lstStyle/>
          <a:p>
            <a:pPr algn="ctr">
              <a:lnSpc>
                <a:spcPct val="108000"/>
              </a:lnSpc>
              <a:spcBef>
                <a:spcPts val="0"/>
              </a:spcBef>
              <a:defRPr sz="1000" b="0" i="0">
                <a:solidFill>
                  <a:srgbClr val="101828"/>
                </a:solidFill>
                <a:latin typeface="Segoe UI"/>
              </a:defRPr>
            </a:pPr>
            <a:r>
              <a:t>Voix</a:t>
            </a:r>
          </a:p>
        </p:txBody>
      </p:sp>
      <p:sp>
        <p:nvSpPr>
          <p:cNvPr id="12" name="TextBox 11"/>
          <p:cNvSpPr txBox="1"/>
          <p:nvPr/>
        </p:nvSpPr>
        <p:spPr>
          <a:xfrm>
            <a:off x="6784848" y="2048256"/>
            <a:ext cx="411480" cy="365760"/>
          </a:xfrm>
          <a:prstGeom prst="rect">
            <a:avLst/>
          </a:prstGeom>
          <a:noFill/>
        </p:spPr>
        <p:txBody>
          <a:bodyPr wrap="square" lIns="0" rIns="0" tIns="0" bIns="0">
            <a:spAutoFit/>
          </a:bodyPr>
          <a:lstStyle/>
          <a:p>
            <a:pPr algn="ctr">
              <a:lnSpc>
                <a:spcPct val="100000"/>
              </a:lnSpc>
              <a:spcBef>
                <a:spcPts val="0"/>
              </a:spcBef>
              <a:defRPr sz="1300" b="1" i="0">
                <a:solidFill>
                  <a:srgbClr val="667085"/>
                </a:solidFill>
                <a:latin typeface="Segoe UI"/>
              </a:defRPr>
            </a:pPr>
            <a:r>
              <a:t>→</a:t>
            </a:r>
          </a:p>
        </p:txBody>
      </p:sp>
      <p:sp>
        <p:nvSpPr>
          <p:cNvPr id="13" name="Rounded Rectangle 12"/>
          <p:cNvSpPr/>
          <p:nvPr/>
        </p:nvSpPr>
        <p:spPr>
          <a:xfrm>
            <a:off x="6976872" y="1828800"/>
            <a:ext cx="1353312" cy="713232"/>
          </a:xfrm>
          <a:prstGeom prst="roundRect">
            <a:avLst>
              <a:gd name="adj" fmla="val 8000"/>
            </a:avLst>
          </a:prstGeom>
          <a:solidFill>
            <a:srgbClr val="F7F9FB"/>
          </a:solidFill>
          <a:ln w="9525">
            <a:solidFill>
              <a:srgbClr val="E3E8EF"/>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146304" bIns="109728"/>
          <a:lstStyle/>
          <a:p>
            <a:pPr algn="ctr">
              <a:lnSpc>
                <a:spcPct val="108000"/>
              </a:lnSpc>
              <a:spcBef>
                <a:spcPts val="0"/>
              </a:spcBef>
              <a:defRPr sz="1000" b="0" i="0">
                <a:solidFill>
                  <a:srgbClr val="101828"/>
                </a:solidFill>
                <a:latin typeface="Segoe UI"/>
              </a:defRPr>
            </a:pPr>
            <a:r>
              <a:t>Montage</a:t>
            </a:r>
          </a:p>
        </p:txBody>
      </p:sp>
      <p:sp>
        <p:nvSpPr>
          <p:cNvPr id="14" name="TextBox 13"/>
          <p:cNvSpPr txBox="1"/>
          <p:nvPr/>
        </p:nvSpPr>
        <p:spPr>
          <a:xfrm>
            <a:off x="8311896" y="2048256"/>
            <a:ext cx="411480" cy="365760"/>
          </a:xfrm>
          <a:prstGeom prst="rect">
            <a:avLst/>
          </a:prstGeom>
          <a:noFill/>
        </p:spPr>
        <p:txBody>
          <a:bodyPr wrap="square" lIns="0" rIns="0" tIns="0" bIns="0">
            <a:spAutoFit/>
          </a:bodyPr>
          <a:lstStyle/>
          <a:p>
            <a:pPr algn="ctr">
              <a:lnSpc>
                <a:spcPct val="100000"/>
              </a:lnSpc>
              <a:spcBef>
                <a:spcPts val="0"/>
              </a:spcBef>
              <a:defRPr sz="1300" b="1" i="0">
                <a:solidFill>
                  <a:srgbClr val="667085"/>
                </a:solidFill>
                <a:latin typeface="Segoe UI"/>
              </a:defRPr>
            </a:pPr>
            <a:r>
              <a:t>→</a:t>
            </a:r>
          </a:p>
        </p:txBody>
      </p:sp>
      <p:sp>
        <p:nvSpPr>
          <p:cNvPr id="15" name="Rounded Rectangle 14"/>
          <p:cNvSpPr/>
          <p:nvPr/>
        </p:nvSpPr>
        <p:spPr>
          <a:xfrm>
            <a:off x="8503919" y="1828800"/>
            <a:ext cx="1353312" cy="713232"/>
          </a:xfrm>
          <a:prstGeom prst="roundRect">
            <a:avLst>
              <a:gd name="adj" fmla="val 8000"/>
            </a:avLst>
          </a:prstGeom>
          <a:solidFill>
            <a:srgbClr val="F7F9FB"/>
          </a:solidFill>
          <a:ln w="9525">
            <a:solidFill>
              <a:srgbClr val="E3E8EF"/>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146304" bIns="109728"/>
          <a:lstStyle/>
          <a:p>
            <a:pPr algn="ctr">
              <a:lnSpc>
                <a:spcPct val="108000"/>
              </a:lnSpc>
              <a:spcBef>
                <a:spcPts val="0"/>
              </a:spcBef>
              <a:defRPr sz="1000" b="0" i="0">
                <a:solidFill>
                  <a:srgbClr val="101828"/>
                </a:solidFill>
                <a:latin typeface="Segoe UI"/>
              </a:defRPr>
            </a:pPr>
            <a:r>
              <a:t>Sous-titres</a:t>
            </a:r>
          </a:p>
        </p:txBody>
      </p:sp>
      <p:sp>
        <p:nvSpPr>
          <p:cNvPr id="16" name="TextBox 15"/>
          <p:cNvSpPr txBox="1"/>
          <p:nvPr/>
        </p:nvSpPr>
        <p:spPr>
          <a:xfrm>
            <a:off x="9838944" y="2048256"/>
            <a:ext cx="411480" cy="365760"/>
          </a:xfrm>
          <a:prstGeom prst="rect">
            <a:avLst/>
          </a:prstGeom>
          <a:noFill/>
        </p:spPr>
        <p:txBody>
          <a:bodyPr wrap="square" lIns="0" rIns="0" tIns="0" bIns="0">
            <a:spAutoFit/>
          </a:bodyPr>
          <a:lstStyle/>
          <a:p>
            <a:pPr algn="ctr">
              <a:lnSpc>
                <a:spcPct val="100000"/>
              </a:lnSpc>
              <a:spcBef>
                <a:spcPts val="0"/>
              </a:spcBef>
              <a:defRPr sz="1300" b="1" i="0">
                <a:solidFill>
                  <a:srgbClr val="667085"/>
                </a:solidFill>
                <a:latin typeface="Segoe UI"/>
              </a:defRPr>
            </a:pPr>
            <a:r>
              <a:t>→</a:t>
            </a:r>
          </a:p>
        </p:txBody>
      </p:sp>
      <p:sp>
        <p:nvSpPr>
          <p:cNvPr id="17" name="Rounded Rectangle 16"/>
          <p:cNvSpPr/>
          <p:nvPr/>
        </p:nvSpPr>
        <p:spPr>
          <a:xfrm>
            <a:off x="10030967" y="1828800"/>
            <a:ext cx="1353312" cy="713232"/>
          </a:xfrm>
          <a:prstGeom prst="roundRect">
            <a:avLst>
              <a:gd name="adj" fmla="val 8000"/>
            </a:avLst>
          </a:prstGeom>
          <a:solidFill>
            <a:srgbClr val="F7F9FB"/>
          </a:solidFill>
          <a:ln w="9525">
            <a:solidFill>
              <a:srgbClr val="E3E8EF"/>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146304" bIns="109728"/>
          <a:lstStyle/>
          <a:p>
            <a:pPr algn="ctr">
              <a:lnSpc>
                <a:spcPct val="108000"/>
              </a:lnSpc>
              <a:spcBef>
                <a:spcPts val="0"/>
              </a:spcBef>
              <a:defRPr sz="1000" b="0" i="0">
                <a:solidFill>
                  <a:srgbClr val="101828"/>
                </a:solidFill>
                <a:latin typeface="Segoe UI"/>
              </a:defRPr>
            </a:pPr>
            <a:r>
              <a:t>Publication</a:t>
            </a:r>
          </a:p>
        </p:txBody>
      </p:sp>
      <p:sp>
        <p:nvSpPr>
          <p:cNvPr id="18" name="TextBox 17"/>
          <p:cNvSpPr txBox="1"/>
          <p:nvPr/>
        </p:nvSpPr>
        <p:spPr>
          <a:xfrm>
            <a:off x="868680" y="2788920"/>
            <a:ext cx="10454335" cy="411480"/>
          </a:xfrm>
          <a:prstGeom prst="rect">
            <a:avLst/>
          </a:prstGeom>
          <a:noFill/>
        </p:spPr>
        <p:txBody>
          <a:bodyPr wrap="square" lIns="0" rIns="0" tIns="0" bIns="0">
            <a:spAutoFit/>
          </a:bodyPr>
          <a:lstStyle/>
          <a:p>
            <a:pPr algn="ctr">
              <a:lnSpc>
                <a:spcPct val="100000"/>
              </a:lnSpc>
              <a:spcBef>
                <a:spcPts val="0"/>
              </a:spcBef>
              <a:defRPr sz="1400" b="0" i="0">
                <a:solidFill>
                  <a:srgbClr val="B5830B"/>
                </a:solidFill>
                <a:latin typeface="Segoe UI Semibold"/>
              </a:defRPr>
            </a:pPr>
            <a:r>
              <a:t>Une production manuelle longue, répétitive et difficile à reproduire à grande échelle.</a:t>
            </a:r>
          </a:p>
        </p:txBody>
      </p:sp>
      <p:sp>
        <p:nvSpPr>
          <p:cNvPr id="19" name="Rounded Rectangle 18"/>
          <p:cNvSpPr/>
          <p:nvPr/>
        </p:nvSpPr>
        <p:spPr>
          <a:xfrm>
            <a:off x="868680" y="3520440"/>
            <a:ext cx="10454335" cy="1691640"/>
          </a:xfrm>
          <a:prstGeom prst="roundRect">
            <a:avLst>
              <a:gd name="adj" fmla="val 5000"/>
            </a:avLst>
          </a:prstGeom>
          <a:solidFill>
            <a:srgbClr val="EEF0F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146304" bIns="109728"/>
          <a:lstStyle/>
          <a:p>
            <a:pPr algn="ctr">
              <a:lnSpc>
                <a:spcPct val="125000"/>
              </a:lnSpc>
              <a:spcBef>
                <a:spcPts val="0"/>
              </a:spcBef>
              <a:defRPr sz="2100" b="0" i="0">
                <a:solidFill>
                  <a:srgbClr val="4F5BD5"/>
                </a:solidFill>
                <a:latin typeface="Segoe UI Light"/>
              </a:defRPr>
            </a:pPr>
            <a:r>
              <a:t>Comment automatiser la transformation d'un support de formation</a:t>
            </a:r>
          </a:p>
          <a:p>
            <a:pPr algn="ctr">
              <a:lnSpc>
                <a:spcPct val="125000"/>
              </a:lnSpc>
              <a:spcBef>
                <a:spcPts val="0"/>
              </a:spcBef>
              <a:defRPr sz="2100" b="0" i="0">
                <a:solidFill>
                  <a:srgbClr val="4F5BD5"/>
                </a:solidFill>
                <a:latin typeface="Segoe UI Light"/>
              </a:defRPr>
            </a:pPr>
            <a:r>
              <a:t>en un cours e-learning complet, structuré et pédagogique ?</a:t>
            </a:r>
          </a:p>
        </p:txBody>
      </p:sp>
      <p:sp>
        <p:nvSpPr>
          <p:cNvPr id="20" name="TextBox 19"/>
          <p:cNvSpPr txBox="1"/>
          <p:nvPr/>
        </p:nvSpPr>
        <p:spPr>
          <a:xfrm>
            <a:off x="868680" y="5577840"/>
            <a:ext cx="10454335" cy="457200"/>
          </a:xfrm>
          <a:prstGeom prst="rect">
            <a:avLst/>
          </a:prstGeom>
          <a:noFill/>
        </p:spPr>
        <p:txBody>
          <a:bodyPr wrap="square" lIns="0" rIns="0" tIns="0" bIns="0">
            <a:spAutoFit/>
          </a:bodyPr>
          <a:lstStyle/>
          <a:p>
            <a:pPr algn="ctr">
              <a:lnSpc>
                <a:spcPct val="100000"/>
              </a:lnSpc>
              <a:spcBef>
                <a:spcPts val="0"/>
              </a:spcBef>
              <a:defRPr sz="1300" b="0" i="1">
                <a:solidFill>
                  <a:srgbClr val="667085"/>
                </a:solidFill>
                <a:latin typeface="Segoe UI"/>
              </a:defRPr>
            </a:pPr>
            <a:r>
              <a:t>Le problème n'est pas de diffuser un cours — c'est de le produire.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868680" y="457200"/>
            <a:ext cx="10454335" cy="320040"/>
          </a:xfrm>
          <a:prstGeom prst="rect">
            <a:avLst/>
          </a:prstGeom>
          <a:noFill/>
        </p:spPr>
        <p:txBody>
          <a:bodyPr wrap="square" lIns="0" rIns="0" tIns="0" bIns="0">
            <a:spAutoFit/>
          </a:bodyPr>
          <a:lstStyle/>
          <a:p/>
        </p:txBody>
      </p:sp>
      <p:sp>
        <p:nvSpPr>
          <p:cNvPr id="3" name="TextBox 2"/>
          <p:cNvSpPr txBox="1"/>
          <p:nvPr/>
        </p:nvSpPr>
        <p:spPr>
          <a:xfrm>
            <a:off x="868680" y="566928"/>
            <a:ext cx="10454335" cy="685800"/>
          </a:xfrm>
          <a:prstGeom prst="rect">
            <a:avLst/>
          </a:prstGeom>
          <a:noFill/>
        </p:spPr>
        <p:txBody>
          <a:bodyPr wrap="square" lIns="0" rIns="0" tIns="0" bIns="0">
            <a:spAutoFit/>
          </a:bodyPr>
          <a:lstStyle/>
          <a:p>
            <a:pPr algn="l">
              <a:lnSpc>
                <a:spcPct val="100000"/>
              </a:lnSpc>
              <a:spcBef>
                <a:spcPts val="0"/>
              </a:spcBef>
              <a:defRPr sz="2700" b="0" i="0">
                <a:solidFill>
                  <a:srgbClr val="101828"/>
                </a:solidFill>
                <a:latin typeface="Segoe UI Light"/>
              </a:defRPr>
            </a:pPr>
            <a:r>
              <a:t>S2M Casablanca — Contexte du stage</a:t>
            </a:r>
          </a:p>
        </p:txBody>
      </p:sp>
      <p:sp>
        <p:nvSpPr>
          <p:cNvPr id="4" name="TextBox 3"/>
          <p:cNvSpPr txBox="1"/>
          <p:nvPr/>
        </p:nvSpPr>
        <p:spPr>
          <a:xfrm>
            <a:off x="10957255" y="6309360"/>
            <a:ext cx="731520" cy="320040"/>
          </a:xfrm>
          <a:prstGeom prst="rect">
            <a:avLst/>
          </a:prstGeom>
          <a:noFill/>
        </p:spPr>
        <p:txBody>
          <a:bodyPr wrap="square" lIns="0" rIns="0" tIns="0" bIns="0">
            <a:spAutoFit/>
          </a:bodyPr>
          <a:lstStyle/>
          <a:p>
            <a:pPr algn="r">
              <a:lnSpc>
                <a:spcPct val="100000"/>
              </a:lnSpc>
              <a:spcBef>
                <a:spcPts val="0"/>
              </a:spcBef>
              <a:defRPr sz="950" b="0" i="0">
                <a:solidFill>
                  <a:srgbClr val="667085"/>
                </a:solidFill>
                <a:latin typeface="Segoe UI"/>
              </a:defRPr>
            </a:pPr>
            <a:r>
              <a:t>3</a:t>
            </a:r>
          </a:p>
        </p:txBody>
      </p:sp>
      <p:sp>
        <p:nvSpPr>
          <p:cNvPr id="5" name="Rounded Rectangle 4"/>
          <p:cNvSpPr/>
          <p:nvPr/>
        </p:nvSpPr>
        <p:spPr>
          <a:xfrm>
            <a:off x="868680" y="1783080"/>
            <a:ext cx="2468880" cy="1143000"/>
          </a:xfrm>
          <a:prstGeom prst="roundRect">
            <a:avLst>
              <a:gd name="adj" fmla="val 8000"/>
            </a:avLst>
          </a:prstGeom>
          <a:solidFill>
            <a:srgbClr val="F7F9FB"/>
          </a:solidFill>
          <a:ln w="9525">
            <a:solidFill>
              <a:srgbClr val="E3E8EF"/>
            </a:solidFill>
          </a:ln>
          <a:effectLst/>
        </p:spPr>
        <p:style>
          <a:lnRef idx="1">
            <a:schemeClr val="accent1"/>
          </a:lnRef>
          <a:fillRef idx="3">
            <a:schemeClr val="accent1"/>
          </a:fillRef>
          <a:effectRef idx="2">
            <a:schemeClr val="accent1"/>
          </a:effectRef>
          <a:fontRef idx="minor">
            <a:schemeClr val="lt1"/>
          </a:fontRef>
        </p:style>
        <p:txBody>
          <a:bodyPr rtlCol="0" anchor="t" wrap="square" lIns="182880" rIns="182880" tIns="146304" bIns="109728"/>
          <a:lstStyle/>
          <a:p>
            <a:pPr algn="l">
              <a:lnSpc>
                <a:spcPct val="110000"/>
              </a:lnSpc>
              <a:spcBef>
                <a:spcPts val="0"/>
              </a:spcBef>
              <a:defRPr sz="1250" b="0" i="0">
                <a:solidFill>
                  <a:srgbClr val="101828"/>
                </a:solidFill>
                <a:latin typeface="Segoe UI Semibold"/>
              </a:defRPr>
            </a:pPr>
            <a:r>
              <a:t>Monétique</a:t>
            </a:r>
          </a:p>
          <a:p>
            <a:pPr algn="l">
              <a:lnSpc>
                <a:spcPct val="115000"/>
              </a:lnSpc>
              <a:spcBef>
                <a:spcPts val="400"/>
              </a:spcBef>
              <a:defRPr sz="1000" b="0" i="0">
                <a:solidFill>
                  <a:srgbClr val="667085"/>
                </a:solidFill>
                <a:latin typeface="Segoe UI"/>
              </a:defRPr>
            </a:pPr>
            <a:r>
              <a:t>Systèmes de paiement électronique</a:t>
            </a:r>
          </a:p>
        </p:txBody>
      </p:sp>
      <p:sp>
        <p:nvSpPr>
          <p:cNvPr id="6" name="Rounded Rectangle 5"/>
          <p:cNvSpPr/>
          <p:nvPr/>
        </p:nvSpPr>
        <p:spPr>
          <a:xfrm>
            <a:off x="3566160" y="1783080"/>
            <a:ext cx="2468880" cy="1143000"/>
          </a:xfrm>
          <a:prstGeom prst="roundRect">
            <a:avLst>
              <a:gd name="adj" fmla="val 8000"/>
            </a:avLst>
          </a:prstGeom>
          <a:solidFill>
            <a:srgbClr val="F7F9FB"/>
          </a:solidFill>
          <a:ln w="9525">
            <a:solidFill>
              <a:srgbClr val="E3E8EF"/>
            </a:solidFill>
          </a:ln>
          <a:effectLst/>
        </p:spPr>
        <p:style>
          <a:lnRef idx="1">
            <a:schemeClr val="accent1"/>
          </a:lnRef>
          <a:fillRef idx="3">
            <a:schemeClr val="accent1"/>
          </a:fillRef>
          <a:effectRef idx="2">
            <a:schemeClr val="accent1"/>
          </a:effectRef>
          <a:fontRef idx="minor">
            <a:schemeClr val="lt1"/>
          </a:fontRef>
        </p:style>
        <p:txBody>
          <a:bodyPr rtlCol="0" anchor="t" wrap="square" lIns="182880" rIns="182880" tIns="146304" bIns="109728"/>
          <a:lstStyle/>
          <a:p>
            <a:pPr algn="l">
              <a:lnSpc>
                <a:spcPct val="110000"/>
              </a:lnSpc>
              <a:spcBef>
                <a:spcPts val="0"/>
              </a:spcBef>
              <a:defRPr sz="1250" b="0" i="0">
                <a:solidFill>
                  <a:srgbClr val="101828"/>
                </a:solidFill>
                <a:latin typeface="Segoe UI Semibold"/>
              </a:defRPr>
            </a:pPr>
            <a:r>
              <a:t>Édition logicielle</a:t>
            </a:r>
          </a:p>
          <a:p>
            <a:pPr algn="l">
              <a:lnSpc>
                <a:spcPct val="115000"/>
              </a:lnSpc>
              <a:spcBef>
                <a:spcPts val="400"/>
              </a:spcBef>
              <a:defRPr sz="1000" b="0" i="0">
                <a:solidFill>
                  <a:srgbClr val="667085"/>
                </a:solidFill>
                <a:latin typeface="Segoe UI"/>
              </a:defRPr>
            </a:pPr>
            <a:r>
              <a:t>Solutions conçues et déployées</a:t>
            </a:r>
          </a:p>
        </p:txBody>
      </p:sp>
      <p:sp>
        <p:nvSpPr>
          <p:cNvPr id="7" name="Rounded Rectangle 6"/>
          <p:cNvSpPr/>
          <p:nvPr/>
        </p:nvSpPr>
        <p:spPr>
          <a:xfrm>
            <a:off x="6263640" y="1783080"/>
            <a:ext cx="2468880" cy="1143000"/>
          </a:xfrm>
          <a:prstGeom prst="roundRect">
            <a:avLst>
              <a:gd name="adj" fmla="val 8000"/>
            </a:avLst>
          </a:prstGeom>
          <a:solidFill>
            <a:srgbClr val="F7F9FB"/>
          </a:solidFill>
          <a:ln w="9525">
            <a:solidFill>
              <a:srgbClr val="E3E8EF"/>
            </a:solidFill>
          </a:ln>
          <a:effectLst/>
        </p:spPr>
        <p:style>
          <a:lnRef idx="1">
            <a:schemeClr val="accent1"/>
          </a:lnRef>
          <a:fillRef idx="3">
            <a:schemeClr val="accent1"/>
          </a:fillRef>
          <a:effectRef idx="2">
            <a:schemeClr val="accent1"/>
          </a:effectRef>
          <a:fontRef idx="minor">
            <a:schemeClr val="lt1"/>
          </a:fontRef>
        </p:style>
        <p:txBody>
          <a:bodyPr rtlCol="0" anchor="t" wrap="square" lIns="182880" rIns="182880" tIns="146304" bIns="109728"/>
          <a:lstStyle/>
          <a:p>
            <a:pPr algn="l">
              <a:lnSpc>
                <a:spcPct val="110000"/>
              </a:lnSpc>
              <a:spcBef>
                <a:spcPts val="0"/>
              </a:spcBef>
              <a:defRPr sz="1250" b="0" i="0">
                <a:solidFill>
                  <a:srgbClr val="101828"/>
                </a:solidFill>
                <a:latin typeface="Segoe UI Semibold"/>
              </a:defRPr>
            </a:pPr>
            <a:r>
              <a:t>Moyens de paiement</a:t>
            </a:r>
          </a:p>
          <a:p>
            <a:pPr algn="l">
              <a:lnSpc>
                <a:spcPct val="115000"/>
              </a:lnSpc>
              <a:spcBef>
                <a:spcPts val="400"/>
              </a:spcBef>
              <a:defRPr sz="1000" b="0" i="0">
                <a:solidFill>
                  <a:srgbClr val="667085"/>
                </a:solidFill>
                <a:latin typeface="Segoe UI"/>
              </a:defRPr>
            </a:pPr>
            <a:r>
              <a:t>Cartes et terminaux</a:t>
            </a:r>
          </a:p>
        </p:txBody>
      </p:sp>
      <p:sp>
        <p:nvSpPr>
          <p:cNvPr id="8" name="Rounded Rectangle 7"/>
          <p:cNvSpPr/>
          <p:nvPr/>
        </p:nvSpPr>
        <p:spPr>
          <a:xfrm>
            <a:off x="8961120" y="1783080"/>
            <a:ext cx="2468880" cy="1143000"/>
          </a:xfrm>
          <a:prstGeom prst="roundRect">
            <a:avLst>
              <a:gd name="adj" fmla="val 8000"/>
            </a:avLst>
          </a:prstGeom>
          <a:solidFill>
            <a:srgbClr val="F7F9FB"/>
          </a:solidFill>
          <a:ln w="9525">
            <a:solidFill>
              <a:srgbClr val="E3E8EF"/>
            </a:solidFill>
          </a:ln>
          <a:effectLst/>
        </p:spPr>
        <p:style>
          <a:lnRef idx="1">
            <a:schemeClr val="accent1"/>
          </a:lnRef>
          <a:fillRef idx="3">
            <a:schemeClr val="accent1"/>
          </a:fillRef>
          <a:effectRef idx="2">
            <a:schemeClr val="accent1"/>
          </a:effectRef>
          <a:fontRef idx="minor">
            <a:schemeClr val="lt1"/>
          </a:fontRef>
        </p:style>
        <p:txBody>
          <a:bodyPr rtlCol="0" anchor="t" wrap="square" lIns="182880" rIns="182880" tIns="146304" bIns="109728"/>
          <a:lstStyle/>
          <a:p>
            <a:pPr algn="l">
              <a:lnSpc>
                <a:spcPct val="110000"/>
              </a:lnSpc>
              <a:spcBef>
                <a:spcPts val="0"/>
              </a:spcBef>
              <a:defRPr sz="1250" b="0" i="0">
                <a:solidFill>
                  <a:srgbClr val="101828"/>
                </a:solidFill>
                <a:latin typeface="Segoe UI Semibold"/>
              </a:defRPr>
            </a:pPr>
            <a:r>
              <a:t>Payment as a Service</a:t>
            </a:r>
          </a:p>
          <a:p>
            <a:pPr algn="l">
              <a:lnSpc>
                <a:spcPct val="115000"/>
              </a:lnSpc>
              <a:spcBef>
                <a:spcPts val="400"/>
              </a:spcBef>
              <a:defRPr sz="1000" b="0" i="0">
                <a:solidFill>
                  <a:srgbClr val="667085"/>
                </a:solidFill>
                <a:latin typeface="Segoe UI"/>
              </a:defRPr>
            </a:pPr>
            <a:r>
              <a:t>Exploitation pour le client</a:t>
            </a:r>
          </a:p>
        </p:txBody>
      </p:sp>
      <p:sp>
        <p:nvSpPr>
          <p:cNvPr id="9" name="TextBox 8"/>
          <p:cNvSpPr txBox="1"/>
          <p:nvPr/>
        </p:nvSpPr>
        <p:spPr>
          <a:xfrm>
            <a:off x="868680" y="3127248"/>
            <a:ext cx="10454335" cy="365760"/>
          </a:xfrm>
          <a:prstGeom prst="rect">
            <a:avLst/>
          </a:prstGeom>
          <a:noFill/>
        </p:spPr>
        <p:txBody>
          <a:bodyPr wrap="square" lIns="0" rIns="0" tIns="0" bIns="0">
            <a:spAutoFit/>
          </a:bodyPr>
          <a:lstStyle/>
          <a:p>
            <a:pPr algn="ctr">
              <a:lnSpc>
                <a:spcPct val="100000"/>
              </a:lnSpc>
              <a:spcBef>
                <a:spcPts val="0"/>
              </a:spcBef>
              <a:defRPr sz="1100" b="0" i="0">
                <a:solidFill>
                  <a:srgbClr val="667085"/>
                </a:solidFill>
                <a:latin typeface="Segoe UI"/>
              </a:defRPr>
            </a:pPr>
            <a:r>
              <a:t>Présence internationale — Maroc, Afrique, Moyen-Orient, Asie, Océanie</a:t>
            </a:r>
          </a:p>
        </p:txBody>
      </p:sp>
      <p:sp>
        <p:nvSpPr>
          <p:cNvPr id="10" name="Rounded Rectangle 9"/>
          <p:cNvSpPr/>
          <p:nvPr/>
        </p:nvSpPr>
        <p:spPr>
          <a:xfrm>
            <a:off x="868680" y="3703320"/>
            <a:ext cx="10454335" cy="914400"/>
          </a:xfrm>
          <a:prstGeom prst="roundRect">
            <a:avLst>
              <a:gd name="adj" fmla="val 6000"/>
            </a:avLst>
          </a:prstGeom>
          <a:solidFill>
            <a:srgbClr val="E6F7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146304" bIns="109728"/>
          <a:lstStyle/>
          <a:p>
            <a:pPr algn="ctr">
              <a:lnSpc>
                <a:spcPct val="100000"/>
              </a:lnSpc>
              <a:spcBef>
                <a:spcPts val="0"/>
              </a:spcBef>
              <a:defRPr sz="1700" b="0" i="0">
                <a:solidFill>
                  <a:srgbClr val="00ABC8"/>
                </a:solidFill>
                <a:latin typeface="Segoe UI Semibold"/>
              </a:defRPr>
            </a:pPr>
            <a:r>
              <a:t>Département d'accueil :  Ressources Humaines — Formation</a:t>
            </a:r>
          </a:p>
        </p:txBody>
      </p:sp>
      <p:sp>
        <p:nvSpPr>
          <p:cNvPr id="11" name="TextBox 10"/>
          <p:cNvSpPr txBox="1"/>
          <p:nvPr/>
        </p:nvSpPr>
        <p:spPr>
          <a:xfrm>
            <a:off x="868680" y="4983480"/>
            <a:ext cx="10454335" cy="822960"/>
          </a:xfrm>
          <a:prstGeom prst="rect">
            <a:avLst/>
          </a:prstGeom>
          <a:noFill/>
        </p:spPr>
        <p:txBody>
          <a:bodyPr wrap="square" lIns="0" rIns="0" tIns="0" bIns="0">
            <a:spAutoFit/>
          </a:bodyPr>
          <a:lstStyle/>
          <a:p>
            <a:pPr algn="ctr">
              <a:lnSpc>
                <a:spcPct val="100000"/>
              </a:lnSpc>
              <a:spcBef>
                <a:spcPts val="0"/>
              </a:spcBef>
              <a:defRPr sz="1100" b="0" i="0">
                <a:solidFill>
                  <a:srgbClr val="00ABC8"/>
                </a:solidFill>
                <a:latin typeface="Segoe UI Semibold"/>
              </a:defRPr>
            </a:pPr>
            <a:r>
              <a:t>Le besoin</a:t>
            </a:r>
          </a:p>
          <a:p>
            <a:pPr algn="ctr">
              <a:lnSpc>
                <a:spcPct val="100000"/>
              </a:lnSpc>
              <a:spcBef>
                <a:spcPts val="600"/>
              </a:spcBef>
              <a:defRPr sz="1800" b="0" i="0">
                <a:solidFill>
                  <a:srgbClr val="101828"/>
                </a:solidFill>
                <a:latin typeface="Segoe UI Light"/>
              </a:defRPr>
            </a:pPr>
            <a:r>
              <a:t>Rendre les formations plus accessibles, structurées et facilement consultables.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868680" y="457200"/>
            <a:ext cx="10454335" cy="320040"/>
          </a:xfrm>
          <a:prstGeom prst="rect">
            <a:avLst/>
          </a:prstGeom>
          <a:noFill/>
        </p:spPr>
        <p:txBody>
          <a:bodyPr wrap="square" lIns="0" rIns="0" tIns="0" bIns="0">
            <a:spAutoFit/>
          </a:bodyPr>
          <a:lstStyle/>
          <a:p/>
        </p:txBody>
      </p:sp>
      <p:sp>
        <p:nvSpPr>
          <p:cNvPr id="3" name="TextBox 2"/>
          <p:cNvSpPr txBox="1"/>
          <p:nvPr/>
        </p:nvSpPr>
        <p:spPr>
          <a:xfrm>
            <a:off x="868680" y="566928"/>
            <a:ext cx="10454335" cy="685800"/>
          </a:xfrm>
          <a:prstGeom prst="rect">
            <a:avLst/>
          </a:prstGeom>
          <a:noFill/>
        </p:spPr>
        <p:txBody>
          <a:bodyPr wrap="square" lIns="0" rIns="0" tIns="0" bIns="0">
            <a:spAutoFit/>
          </a:bodyPr>
          <a:lstStyle/>
          <a:p>
            <a:pPr algn="l">
              <a:lnSpc>
                <a:spcPct val="100000"/>
              </a:lnSpc>
              <a:spcBef>
                <a:spcPts val="0"/>
              </a:spcBef>
              <a:defRPr sz="2700" b="0" i="0">
                <a:solidFill>
                  <a:srgbClr val="101828"/>
                </a:solidFill>
                <a:latin typeface="Segoe UI Light"/>
              </a:defRPr>
            </a:pPr>
            <a:r>
              <a:t>Objectifs &amp; solution proposée</a:t>
            </a:r>
          </a:p>
        </p:txBody>
      </p:sp>
      <p:sp>
        <p:nvSpPr>
          <p:cNvPr id="4" name="TextBox 3"/>
          <p:cNvSpPr txBox="1"/>
          <p:nvPr/>
        </p:nvSpPr>
        <p:spPr>
          <a:xfrm>
            <a:off x="10957255" y="6309360"/>
            <a:ext cx="731520" cy="320040"/>
          </a:xfrm>
          <a:prstGeom prst="rect">
            <a:avLst/>
          </a:prstGeom>
          <a:noFill/>
        </p:spPr>
        <p:txBody>
          <a:bodyPr wrap="square" lIns="0" rIns="0" tIns="0" bIns="0">
            <a:spAutoFit/>
          </a:bodyPr>
          <a:lstStyle/>
          <a:p>
            <a:pPr algn="r">
              <a:lnSpc>
                <a:spcPct val="100000"/>
              </a:lnSpc>
              <a:spcBef>
                <a:spcPts val="0"/>
              </a:spcBef>
              <a:defRPr sz="950" b="0" i="0">
                <a:solidFill>
                  <a:srgbClr val="667085"/>
                </a:solidFill>
                <a:latin typeface="Segoe UI"/>
              </a:defRPr>
            </a:pPr>
            <a:r>
              <a:t>4</a:t>
            </a:r>
          </a:p>
        </p:txBody>
      </p:sp>
      <p:sp>
        <p:nvSpPr>
          <p:cNvPr id="5" name="Rounded Rectangle 4"/>
          <p:cNvSpPr/>
          <p:nvPr/>
        </p:nvSpPr>
        <p:spPr>
          <a:xfrm>
            <a:off x="868680" y="1737360"/>
            <a:ext cx="3246120" cy="1508760"/>
          </a:xfrm>
          <a:prstGeom prst="roundRect">
            <a:avLst>
              <a:gd name="adj" fmla="val 7000"/>
            </a:avLst>
          </a:prstGeom>
          <a:solidFill>
            <a:srgbClr val="F7F9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146304" bIns="109728"/>
          <a:lstStyle/>
          <a:p>
            <a:pPr algn="ctr">
              <a:lnSpc>
                <a:spcPct val="100000"/>
              </a:lnSpc>
              <a:spcBef>
                <a:spcPts val="0"/>
              </a:spcBef>
              <a:defRPr sz="1000" b="0" i="0">
                <a:solidFill>
                  <a:srgbClr val="667085"/>
                </a:solidFill>
                <a:latin typeface="Segoe UI Semibold"/>
              </a:defRPr>
            </a:pPr>
            <a:r>
              <a:t>INPUT</a:t>
            </a:r>
          </a:p>
          <a:p>
            <a:pPr algn="ctr">
              <a:lnSpc>
                <a:spcPct val="115000"/>
              </a:lnSpc>
              <a:spcBef>
                <a:spcPts val="400"/>
              </a:spcBef>
              <a:defRPr sz="1500" b="0" i="0">
                <a:solidFill>
                  <a:srgbClr val="101828"/>
                </a:solidFill>
                <a:latin typeface="Segoe UI Semibold"/>
              </a:defRPr>
            </a:pPr>
            <a:r>
              <a:t>Support PDF</a:t>
            </a:r>
          </a:p>
          <a:p>
            <a:pPr algn="ctr">
              <a:lnSpc>
                <a:spcPct val="100000"/>
              </a:lnSpc>
              <a:spcBef>
                <a:spcPts val="300"/>
              </a:spcBef>
              <a:defRPr sz="950" b="0" i="0">
                <a:solidFill>
                  <a:srgbClr val="667085"/>
                </a:solidFill>
                <a:latin typeface="Segoe UI"/>
              </a:defRPr>
            </a:pPr>
            <a:r>
              <a:t>Le document de formation existant</a:t>
            </a:r>
          </a:p>
        </p:txBody>
      </p:sp>
      <p:sp>
        <p:nvSpPr>
          <p:cNvPr id="6" name="TextBox 5"/>
          <p:cNvSpPr txBox="1"/>
          <p:nvPr/>
        </p:nvSpPr>
        <p:spPr>
          <a:xfrm>
            <a:off x="4160520" y="2331720"/>
            <a:ext cx="411480" cy="365760"/>
          </a:xfrm>
          <a:prstGeom prst="rect">
            <a:avLst/>
          </a:prstGeom>
          <a:noFill/>
        </p:spPr>
        <p:txBody>
          <a:bodyPr wrap="square" lIns="0" rIns="0" tIns="0" bIns="0">
            <a:spAutoFit/>
          </a:bodyPr>
          <a:lstStyle/>
          <a:p>
            <a:pPr algn="ctr">
              <a:lnSpc>
                <a:spcPct val="100000"/>
              </a:lnSpc>
              <a:spcBef>
                <a:spcPts val="0"/>
              </a:spcBef>
              <a:defRPr sz="1800" b="1" i="0">
                <a:solidFill>
                  <a:srgbClr val="00ABC8"/>
                </a:solidFill>
                <a:latin typeface="Segoe UI"/>
              </a:defRPr>
            </a:pPr>
            <a:r>
              <a:t>→</a:t>
            </a:r>
          </a:p>
        </p:txBody>
      </p:sp>
      <p:sp>
        <p:nvSpPr>
          <p:cNvPr id="7" name="Rounded Rectangle 6"/>
          <p:cNvSpPr/>
          <p:nvPr/>
        </p:nvSpPr>
        <p:spPr>
          <a:xfrm>
            <a:off x="4480560" y="1737360"/>
            <a:ext cx="3246120" cy="1508760"/>
          </a:xfrm>
          <a:prstGeom prst="roundRect">
            <a:avLst>
              <a:gd name="adj" fmla="val 7000"/>
            </a:avLst>
          </a:prstGeom>
          <a:solidFill>
            <a:srgbClr val="EEF0F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146304" bIns="109728"/>
          <a:lstStyle/>
          <a:p>
            <a:pPr algn="ctr">
              <a:lnSpc>
                <a:spcPct val="100000"/>
              </a:lnSpc>
              <a:spcBef>
                <a:spcPts val="0"/>
              </a:spcBef>
              <a:defRPr sz="1000" b="0" i="0">
                <a:solidFill>
                  <a:srgbClr val="4F5BD5"/>
                </a:solidFill>
                <a:latin typeface="Segoe UI Semibold"/>
              </a:defRPr>
            </a:pPr>
            <a:r>
              <a:t>IA</a:t>
            </a:r>
          </a:p>
          <a:p>
            <a:pPr algn="ctr">
              <a:lnSpc>
                <a:spcPct val="115000"/>
              </a:lnSpc>
              <a:spcBef>
                <a:spcPts val="400"/>
              </a:spcBef>
              <a:defRPr sz="1500" b="0" i="0">
                <a:solidFill>
                  <a:srgbClr val="4F5BD5"/>
                </a:solidFill>
                <a:latin typeface="Segoe UI Semibold"/>
              </a:defRPr>
            </a:pPr>
            <a:r>
              <a:t>Compréhension + génération</a:t>
            </a:r>
            <a:br/>
            <a:r>
              <a:t>+ structuration</a:t>
            </a:r>
          </a:p>
        </p:txBody>
      </p:sp>
      <p:sp>
        <p:nvSpPr>
          <p:cNvPr id="8" name="TextBox 7"/>
          <p:cNvSpPr txBox="1"/>
          <p:nvPr/>
        </p:nvSpPr>
        <p:spPr>
          <a:xfrm>
            <a:off x="7772400" y="2331720"/>
            <a:ext cx="411480" cy="365760"/>
          </a:xfrm>
          <a:prstGeom prst="rect">
            <a:avLst/>
          </a:prstGeom>
          <a:noFill/>
        </p:spPr>
        <p:txBody>
          <a:bodyPr wrap="square" lIns="0" rIns="0" tIns="0" bIns="0">
            <a:spAutoFit/>
          </a:bodyPr>
          <a:lstStyle/>
          <a:p>
            <a:pPr algn="ctr">
              <a:lnSpc>
                <a:spcPct val="100000"/>
              </a:lnSpc>
              <a:spcBef>
                <a:spcPts val="0"/>
              </a:spcBef>
              <a:defRPr sz="1800" b="1" i="0">
                <a:solidFill>
                  <a:srgbClr val="00ABC8"/>
                </a:solidFill>
                <a:latin typeface="Segoe UI"/>
              </a:defRPr>
            </a:pPr>
            <a:r>
              <a:t>→</a:t>
            </a:r>
          </a:p>
        </p:txBody>
      </p:sp>
      <p:sp>
        <p:nvSpPr>
          <p:cNvPr id="9" name="Rounded Rectangle 8"/>
          <p:cNvSpPr/>
          <p:nvPr/>
        </p:nvSpPr>
        <p:spPr>
          <a:xfrm>
            <a:off x="8092440" y="1737360"/>
            <a:ext cx="3246120" cy="1508760"/>
          </a:xfrm>
          <a:prstGeom prst="roundRect">
            <a:avLst>
              <a:gd name="adj" fmla="val 7000"/>
            </a:avLst>
          </a:prstGeom>
          <a:solidFill>
            <a:srgbClr val="E6F7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146304" bIns="109728"/>
          <a:lstStyle/>
          <a:p>
            <a:pPr algn="ctr">
              <a:lnSpc>
                <a:spcPct val="100000"/>
              </a:lnSpc>
              <a:spcBef>
                <a:spcPts val="0"/>
              </a:spcBef>
              <a:defRPr sz="1000" b="0" i="0">
                <a:solidFill>
                  <a:srgbClr val="00ABC8"/>
                </a:solidFill>
                <a:latin typeface="Segoe UI Semibold"/>
              </a:defRPr>
            </a:pPr>
            <a:r>
              <a:t>OUTPUT</a:t>
            </a:r>
          </a:p>
          <a:p>
            <a:pPr algn="ctr">
              <a:lnSpc>
                <a:spcPct val="115000"/>
              </a:lnSpc>
              <a:spcBef>
                <a:spcPts val="400"/>
              </a:spcBef>
              <a:defRPr sz="1500" b="0" i="0">
                <a:solidFill>
                  <a:srgbClr val="00ABC8"/>
                </a:solidFill>
                <a:latin typeface="Segoe UI Semibold"/>
              </a:defRPr>
            </a:pPr>
            <a:r>
              <a:t>Cours e-learning complet</a:t>
            </a:r>
          </a:p>
          <a:p>
            <a:pPr algn="ctr">
              <a:lnSpc>
                <a:spcPct val="100000"/>
              </a:lnSpc>
              <a:spcBef>
                <a:spcPts val="300"/>
              </a:spcBef>
              <a:defRPr sz="950" b="0" i="0">
                <a:solidFill>
                  <a:srgbClr val="667085"/>
                </a:solidFill>
                <a:latin typeface="Segoe UI"/>
              </a:defRPr>
            </a:pPr>
            <a:r>
              <a:t>Vidéo, sous-titres, évaluation</a:t>
            </a:r>
          </a:p>
        </p:txBody>
      </p:sp>
      <p:sp>
        <p:nvSpPr>
          <p:cNvPr id="10" name="Rounded Rectangle 9"/>
          <p:cNvSpPr/>
          <p:nvPr/>
        </p:nvSpPr>
        <p:spPr>
          <a:xfrm>
            <a:off x="868680" y="3749039"/>
            <a:ext cx="2468880" cy="713232"/>
          </a:xfrm>
          <a:prstGeom prst="roundRect">
            <a:avLst>
              <a:gd name="adj" fmla="val 8000"/>
            </a:avLst>
          </a:prstGeom>
          <a:solidFill>
            <a:srgbClr val="FFFFFF"/>
          </a:solidFill>
          <a:ln w="9525">
            <a:solidFill>
              <a:srgbClr val="E3E8EF"/>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146304" bIns="109728"/>
          <a:lstStyle/>
          <a:p>
            <a:pPr algn="ctr">
              <a:lnSpc>
                <a:spcPct val="110000"/>
              </a:lnSpc>
              <a:spcBef>
                <a:spcPts val="0"/>
              </a:spcBef>
              <a:defRPr sz="1150" b="0" i="0">
                <a:solidFill>
                  <a:srgbClr val="101828"/>
                </a:solidFill>
                <a:latin typeface="Segoe UI"/>
              </a:defRPr>
            </a:pPr>
            <a:r>
              <a:t>Chapitres &lt; 5 min</a:t>
            </a:r>
          </a:p>
        </p:txBody>
      </p:sp>
      <p:sp>
        <p:nvSpPr>
          <p:cNvPr id="11" name="Rounded Rectangle 10"/>
          <p:cNvSpPr/>
          <p:nvPr/>
        </p:nvSpPr>
        <p:spPr>
          <a:xfrm>
            <a:off x="3566160" y="3749039"/>
            <a:ext cx="2468880" cy="713232"/>
          </a:xfrm>
          <a:prstGeom prst="roundRect">
            <a:avLst>
              <a:gd name="adj" fmla="val 8000"/>
            </a:avLst>
          </a:prstGeom>
          <a:solidFill>
            <a:srgbClr val="FFFFFF"/>
          </a:solidFill>
          <a:ln w="9525">
            <a:solidFill>
              <a:srgbClr val="E3E8EF"/>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146304" bIns="109728"/>
          <a:lstStyle/>
          <a:p>
            <a:pPr algn="ctr">
              <a:lnSpc>
                <a:spcPct val="110000"/>
              </a:lnSpc>
              <a:spcBef>
                <a:spcPts val="0"/>
              </a:spcBef>
              <a:defRPr sz="1150" b="0" i="0">
                <a:solidFill>
                  <a:srgbClr val="101828"/>
                </a:solidFill>
                <a:latin typeface="Segoe UI"/>
              </a:defRPr>
            </a:pPr>
            <a:r>
              <a:t>Narration pédagogique</a:t>
            </a:r>
          </a:p>
        </p:txBody>
      </p:sp>
      <p:sp>
        <p:nvSpPr>
          <p:cNvPr id="12" name="Rounded Rectangle 11"/>
          <p:cNvSpPr/>
          <p:nvPr/>
        </p:nvSpPr>
        <p:spPr>
          <a:xfrm>
            <a:off x="6263640" y="3749039"/>
            <a:ext cx="2468880" cy="713232"/>
          </a:xfrm>
          <a:prstGeom prst="roundRect">
            <a:avLst>
              <a:gd name="adj" fmla="val 8000"/>
            </a:avLst>
          </a:prstGeom>
          <a:solidFill>
            <a:srgbClr val="FFFFFF"/>
          </a:solidFill>
          <a:ln w="9525">
            <a:solidFill>
              <a:srgbClr val="E3E8EF"/>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146304" bIns="109728"/>
          <a:lstStyle/>
          <a:p>
            <a:pPr algn="ctr">
              <a:lnSpc>
                <a:spcPct val="110000"/>
              </a:lnSpc>
              <a:spcBef>
                <a:spcPts val="0"/>
              </a:spcBef>
              <a:defRPr sz="1150" b="0" i="0">
                <a:solidFill>
                  <a:srgbClr val="101828"/>
                </a:solidFill>
                <a:latin typeface="Segoe UI"/>
              </a:defRPr>
            </a:pPr>
            <a:r>
              <a:t>Voix synthétique</a:t>
            </a:r>
          </a:p>
        </p:txBody>
      </p:sp>
      <p:sp>
        <p:nvSpPr>
          <p:cNvPr id="13" name="Rounded Rectangle 12"/>
          <p:cNvSpPr/>
          <p:nvPr/>
        </p:nvSpPr>
        <p:spPr>
          <a:xfrm>
            <a:off x="8961120" y="3749039"/>
            <a:ext cx="2468880" cy="713232"/>
          </a:xfrm>
          <a:prstGeom prst="roundRect">
            <a:avLst>
              <a:gd name="adj" fmla="val 8000"/>
            </a:avLst>
          </a:prstGeom>
          <a:solidFill>
            <a:srgbClr val="FFFFFF"/>
          </a:solidFill>
          <a:ln w="9525">
            <a:solidFill>
              <a:srgbClr val="E3E8EF"/>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146304" bIns="109728"/>
          <a:lstStyle/>
          <a:p>
            <a:pPr algn="ctr">
              <a:lnSpc>
                <a:spcPct val="110000"/>
              </a:lnSpc>
              <a:spcBef>
                <a:spcPts val="0"/>
              </a:spcBef>
              <a:defRPr sz="1150" b="0" i="0">
                <a:solidFill>
                  <a:srgbClr val="101828"/>
                </a:solidFill>
                <a:latin typeface="Segoe UI"/>
              </a:defRPr>
            </a:pPr>
            <a:r>
              <a:t>Scènes et schémas animés</a:t>
            </a:r>
          </a:p>
        </p:txBody>
      </p:sp>
      <p:sp>
        <p:nvSpPr>
          <p:cNvPr id="14" name="Rounded Rectangle 13"/>
          <p:cNvSpPr/>
          <p:nvPr/>
        </p:nvSpPr>
        <p:spPr>
          <a:xfrm>
            <a:off x="868680" y="4663440"/>
            <a:ext cx="2468880" cy="713232"/>
          </a:xfrm>
          <a:prstGeom prst="roundRect">
            <a:avLst>
              <a:gd name="adj" fmla="val 8000"/>
            </a:avLst>
          </a:prstGeom>
          <a:solidFill>
            <a:srgbClr val="FFFFFF"/>
          </a:solidFill>
          <a:ln w="9525">
            <a:solidFill>
              <a:srgbClr val="E3E8EF"/>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146304" bIns="109728"/>
          <a:lstStyle/>
          <a:p>
            <a:pPr algn="ctr">
              <a:lnSpc>
                <a:spcPct val="110000"/>
              </a:lnSpc>
              <a:spcBef>
                <a:spcPts val="0"/>
              </a:spcBef>
              <a:defRPr sz="1150" b="0" i="0">
                <a:solidFill>
                  <a:srgbClr val="101828"/>
                </a:solidFill>
                <a:latin typeface="Segoe UI"/>
              </a:defRPr>
            </a:pPr>
            <a:r>
              <a:t>Sous-titres synchronisés</a:t>
            </a:r>
          </a:p>
        </p:txBody>
      </p:sp>
      <p:sp>
        <p:nvSpPr>
          <p:cNvPr id="15" name="Rounded Rectangle 14"/>
          <p:cNvSpPr/>
          <p:nvPr/>
        </p:nvSpPr>
        <p:spPr>
          <a:xfrm>
            <a:off x="3566160" y="4663440"/>
            <a:ext cx="2468880" cy="713232"/>
          </a:xfrm>
          <a:prstGeom prst="roundRect">
            <a:avLst>
              <a:gd name="adj" fmla="val 8000"/>
            </a:avLst>
          </a:prstGeom>
          <a:solidFill>
            <a:srgbClr val="FFFFFF"/>
          </a:solidFill>
          <a:ln w="9525">
            <a:solidFill>
              <a:srgbClr val="E3E8EF"/>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146304" bIns="109728"/>
          <a:lstStyle/>
          <a:p>
            <a:pPr algn="ctr">
              <a:lnSpc>
                <a:spcPct val="110000"/>
              </a:lnSpc>
              <a:spcBef>
                <a:spcPts val="0"/>
              </a:spcBef>
              <a:defRPr sz="1150" b="0" i="0">
                <a:solidFill>
                  <a:srgbClr val="101828"/>
                </a:solidFill>
                <a:latin typeface="Segoe UI"/>
              </a:defRPr>
            </a:pPr>
            <a:r>
              <a:t>Évaluation finale</a:t>
            </a:r>
          </a:p>
        </p:txBody>
      </p:sp>
      <p:sp>
        <p:nvSpPr>
          <p:cNvPr id="16" name="Rounded Rectangle 15"/>
          <p:cNvSpPr/>
          <p:nvPr/>
        </p:nvSpPr>
        <p:spPr>
          <a:xfrm>
            <a:off x="6263640" y="4663440"/>
            <a:ext cx="2468880" cy="713232"/>
          </a:xfrm>
          <a:prstGeom prst="roundRect">
            <a:avLst>
              <a:gd name="adj" fmla="val 8000"/>
            </a:avLst>
          </a:prstGeom>
          <a:solidFill>
            <a:srgbClr val="FFFFFF"/>
          </a:solidFill>
          <a:ln w="9525">
            <a:solidFill>
              <a:srgbClr val="E3E8EF"/>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146304" bIns="109728"/>
          <a:lstStyle/>
          <a:p>
            <a:pPr algn="ctr">
              <a:lnSpc>
                <a:spcPct val="110000"/>
              </a:lnSpc>
              <a:spcBef>
                <a:spcPts val="0"/>
              </a:spcBef>
              <a:defRPr sz="1150" b="0" i="0">
                <a:solidFill>
                  <a:srgbClr val="101828"/>
                </a:solidFill>
                <a:latin typeface="Segoe UI"/>
              </a:defRPr>
            </a:pPr>
            <a:r>
              <a:t>Publication web</a:t>
            </a:r>
          </a:p>
        </p:txBody>
      </p:sp>
      <p:sp>
        <p:nvSpPr>
          <p:cNvPr id="17" name="Rounded Rectangle 16"/>
          <p:cNvSpPr/>
          <p:nvPr/>
        </p:nvSpPr>
        <p:spPr>
          <a:xfrm>
            <a:off x="8961120" y="4663440"/>
            <a:ext cx="2468880" cy="713232"/>
          </a:xfrm>
          <a:prstGeom prst="roundRect">
            <a:avLst>
              <a:gd name="adj" fmla="val 8000"/>
            </a:avLst>
          </a:prstGeom>
          <a:solidFill>
            <a:srgbClr val="FFFFFF"/>
          </a:solidFill>
          <a:ln w="9525">
            <a:solidFill>
              <a:srgbClr val="E3E8EF"/>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146304" bIns="109728"/>
          <a:lstStyle/>
          <a:p>
            <a:pPr algn="ctr">
              <a:lnSpc>
                <a:spcPct val="110000"/>
              </a:lnSpc>
              <a:spcBef>
                <a:spcPts val="0"/>
              </a:spcBef>
              <a:defRPr sz="1150" b="0" i="0">
                <a:solidFill>
                  <a:srgbClr val="101828"/>
                </a:solidFill>
                <a:latin typeface="Segoe UI"/>
              </a:defRPr>
            </a:pPr>
            <a:r>
              <a:t>Pipeline automatisé et reprenable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868680" y="457200"/>
            <a:ext cx="10454335" cy="320040"/>
          </a:xfrm>
          <a:prstGeom prst="rect">
            <a:avLst/>
          </a:prstGeom>
          <a:noFill/>
        </p:spPr>
        <p:txBody>
          <a:bodyPr wrap="square" lIns="0" rIns="0" tIns="0" bIns="0">
            <a:spAutoFit/>
          </a:bodyPr>
          <a:lstStyle/>
          <a:p/>
        </p:txBody>
      </p:sp>
      <p:sp>
        <p:nvSpPr>
          <p:cNvPr id="3" name="TextBox 2"/>
          <p:cNvSpPr txBox="1"/>
          <p:nvPr/>
        </p:nvSpPr>
        <p:spPr>
          <a:xfrm>
            <a:off x="868680" y="566928"/>
            <a:ext cx="10454335" cy="685800"/>
          </a:xfrm>
          <a:prstGeom prst="rect">
            <a:avLst/>
          </a:prstGeom>
          <a:noFill/>
        </p:spPr>
        <p:txBody>
          <a:bodyPr wrap="square" lIns="0" rIns="0" tIns="0" bIns="0">
            <a:spAutoFit/>
          </a:bodyPr>
          <a:lstStyle/>
          <a:p>
            <a:pPr algn="l">
              <a:lnSpc>
                <a:spcPct val="100000"/>
              </a:lnSpc>
              <a:spcBef>
                <a:spcPts val="0"/>
              </a:spcBef>
              <a:defRPr sz="2700" b="0" i="0">
                <a:solidFill>
                  <a:srgbClr val="101828"/>
                </a:solidFill>
                <a:latin typeface="Segoe UI Light"/>
              </a:defRPr>
            </a:pPr>
            <a:r>
              <a:t>Conception — Architecture du système</a:t>
            </a:r>
          </a:p>
        </p:txBody>
      </p:sp>
      <p:sp>
        <p:nvSpPr>
          <p:cNvPr id="4" name="TextBox 3"/>
          <p:cNvSpPr txBox="1"/>
          <p:nvPr/>
        </p:nvSpPr>
        <p:spPr>
          <a:xfrm>
            <a:off x="10957255" y="6309360"/>
            <a:ext cx="731520" cy="320040"/>
          </a:xfrm>
          <a:prstGeom prst="rect">
            <a:avLst/>
          </a:prstGeom>
          <a:noFill/>
        </p:spPr>
        <p:txBody>
          <a:bodyPr wrap="square" lIns="0" rIns="0" tIns="0" bIns="0">
            <a:spAutoFit/>
          </a:bodyPr>
          <a:lstStyle/>
          <a:p>
            <a:pPr algn="r">
              <a:lnSpc>
                <a:spcPct val="100000"/>
              </a:lnSpc>
              <a:spcBef>
                <a:spcPts val="0"/>
              </a:spcBef>
              <a:defRPr sz="950" b="0" i="0">
                <a:solidFill>
                  <a:srgbClr val="667085"/>
                </a:solidFill>
                <a:latin typeface="Segoe UI"/>
              </a:defRPr>
            </a:pPr>
            <a:r>
              <a:t>5</a:t>
            </a:r>
          </a:p>
        </p:txBody>
      </p:sp>
      <p:sp>
        <p:nvSpPr>
          <p:cNvPr id="5" name="Rounded Rectangle 4"/>
          <p:cNvSpPr/>
          <p:nvPr/>
        </p:nvSpPr>
        <p:spPr>
          <a:xfrm>
            <a:off x="868680" y="1783080"/>
            <a:ext cx="1115568" cy="1371600"/>
          </a:xfrm>
          <a:prstGeom prst="roundRect">
            <a:avLst>
              <a:gd name="adj" fmla="val 10000"/>
            </a:avLst>
          </a:prstGeom>
          <a:solidFill>
            <a:srgbClr val="FFFFFF"/>
          </a:solidFill>
          <a:ln w="9525">
            <a:solidFill>
              <a:srgbClr val="E3E8EF"/>
            </a:solidFill>
          </a:ln>
          <a:effectLst/>
        </p:spPr>
        <p:style>
          <a:lnRef idx="1">
            <a:schemeClr val="accent1"/>
          </a:lnRef>
          <a:fillRef idx="3">
            <a:schemeClr val="accent1"/>
          </a:fillRef>
          <a:effectRef idx="2">
            <a:schemeClr val="accent1"/>
          </a:effectRef>
          <a:fontRef idx="minor">
            <a:schemeClr val="lt1"/>
          </a:fontRef>
        </p:style>
        <p:txBody>
          <a:bodyPr rtlCol="0" anchor="t" wrap="square" lIns="182880" rIns="182880" tIns="146304" bIns="109728"/>
          <a:lstStyle/>
          <a:p>
            <a:pPr algn="ctr">
              <a:lnSpc>
                <a:spcPct val="100000"/>
              </a:lnSpc>
              <a:spcBef>
                <a:spcPts val="0"/>
              </a:spcBef>
              <a:defRPr sz="1300" b="0" i="0">
                <a:solidFill>
                  <a:srgbClr val="00ABC8"/>
                </a:solidFill>
                <a:latin typeface="Segoe UI Semibold"/>
              </a:defRPr>
            </a:pPr>
            <a:r>
              <a:t>01</a:t>
            </a:r>
          </a:p>
          <a:p>
            <a:pPr algn="ctr">
              <a:lnSpc>
                <a:spcPct val="112000"/>
              </a:lnSpc>
              <a:spcBef>
                <a:spcPts val="400"/>
              </a:spcBef>
              <a:defRPr sz="950" b="0" i="0">
                <a:solidFill>
                  <a:srgbClr val="101828"/>
                </a:solidFill>
                <a:latin typeface="Segoe UI"/>
              </a:defRPr>
            </a:pPr>
            <a:r>
              <a:t>Lecture</a:t>
            </a:r>
            <a:br/>
            <a:r>
              <a:t>du PDF</a:t>
            </a:r>
          </a:p>
        </p:txBody>
      </p:sp>
      <p:sp>
        <p:nvSpPr>
          <p:cNvPr id="6" name="Rounded Rectangle 5"/>
          <p:cNvSpPr/>
          <p:nvPr/>
        </p:nvSpPr>
        <p:spPr>
          <a:xfrm>
            <a:off x="2039112" y="1783080"/>
            <a:ext cx="1115568" cy="1371600"/>
          </a:xfrm>
          <a:prstGeom prst="roundRect">
            <a:avLst>
              <a:gd name="adj" fmla="val 10000"/>
            </a:avLst>
          </a:prstGeom>
          <a:solidFill>
            <a:srgbClr val="EEF0FD"/>
          </a:solidFill>
          <a:ln w="9525">
            <a:solidFill>
              <a:srgbClr val="E3E8EF"/>
            </a:solidFill>
          </a:ln>
          <a:effectLst/>
        </p:spPr>
        <p:style>
          <a:lnRef idx="1">
            <a:schemeClr val="accent1"/>
          </a:lnRef>
          <a:fillRef idx="3">
            <a:schemeClr val="accent1"/>
          </a:fillRef>
          <a:effectRef idx="2">
            <a:schemeClr val="accent1"/>
          </a:effectRef>
          <a:fontRef idx="minor">
            <a:schemeClr val="lt1"/>
          </a:fontRef>
        </p:style>
        <p:txBody>
          <a:bodyPr rtlCol="0" anchor="t" wrap="square" lIns="182880" rIns="182880" tIns="146304" bIns="109728"/>
          <a:lstStyle/>
          <a:p>
            <a:pPr algn="ctr">
              <a:lnSpc>
                <a:spcPct val="100000"/>
              </a:lnSpc>
              <a:spcBef>
                <a:spcPts val="0"/>
              </a:spcBef>
              <a:defRPr sz="1300" b="0" i="0">
                <a:solidFill>
                  <a:srgbClr val="4F5BD5"/>
                </a:solidFill>
                <a:latin typeface="Segoe UI Semibold"/>
              </a:defRPr>
            </a:pPr>
            <a:r>
              <a:t>02</a:t>
            </a:r>
          </a:p>
          <a:p>
            <a:pPr algn="ctr">
              <a:lnSpc>
                <a:spcPct val="112000"/>
              </a:lnSpc>
              <a:spcBef>
                <a:spcPts val="400"/>
              </a:spcBef>
              <a:defRPr sz="950" b="0" i="0">
                <a:solidFill>
                  <a:srgbClr val="101828"/>
                </a:solidFill>
                <a:latin typeface="Segoe UI"/>
              </a:defRPr>
            </a:pPr>
            <a:r>
              <a:t>Génération</a:t>
            </a:r>
            <a:br/>
            <a:r>
              <a:t>de la narration</a:t>
            </a:r>
          </a:p>
        </p:txBody>
      </p:sp>
      <p:sp>
        <p:nvSpPr>
          <p:cNvPr id="7" name="Rounded Rectangle 6"/>
          <p:cNvSpPr/>
          <p:nvPr/>
        </p:nvSpPr>
        <p:spPr>
          <a:xfrm>
            <a:off x="3209544" y="1783080"/>
            <a:ext cx="1115568" cy="1371600"/>
          </a:xfrm>
          <a:prstGeom prst="roundRect">
            <a:avLst>
              <a:gd name="adj" fmla="val 10000"/>
            </a:avLst>
          </a:prstGeom>
          <a:solidFill>
            <a:srgbClr val="EEF0FD"/>
          </a:solidFill>
          <a:ln w="9525">
            <a:solidFill>
              <a:srgbClr val="E3E8EF"/>
            </a:solidFill>
          </a:ln>
          <a:effectLst/>
        </p:spPr>
        <p:style>
          <a:lnRef idx="1">
            <a:schemeClr val="accent1"/>
          </a:lnRef>
          <a:fillRef idx="3">
            <a:schemeClr val="accent1"/>
          </a:fillRef>
          <a:effectRef idx="2">
            <a:schemeClr val="accent1"/>
          </a:effectRef>
          <a:fontRef idx="minor">
            <a:schemeClr val="lt1"/>
          </a:fontRef>
        </p:style>
        <p:txBody>
          <a:bodyPr rtlCol="0" anchor="t" wrap="square" lIns="182880" rIns="182880" tIns="146304" bIns="109728"/>
          <a:lstStyle/>
          <a:p>
            <a:pPr algn="ctr">
              <a:lnSpc>
                <a:spcPct val="100000"/>
              </a:lnSpc>
              <a:spcBef>
                <a:spcPts val="0"/>
              </a:spcBef>
              <a:defRPr sz="1300" b="0" i="0">
                <a:solidFill>
                  <a:srgbClr val="4F5BD5"/>
                </a:solidFill>
                <a:latin typeface="Segoe UI Semibold"/>
              </a:defRPr>
            </a:pPr>
            <a:r>
              <a:t>03</a:t>
            </a:r>
          </a:p>
          <a:p>
            <a:pPr algn="ctr">
              <a:lnSpc>
                <a:spcPct val="112000"/>
              </a:lnSpc>
              <a:spcBef>
                <a:spcPts val="400"/>
              </a:spcBef>
              <a:defRPr sz="950" b="0" i="0">
                <a:solidFill>
                  <a:srgbClr val="101828"/>
                </a:solidFill>
                <a:latin typeface="Segoe UI"/>
              </a:defRPr>
            </a:pPr>
            <a:r>
              <a:t>Découpage</a:t>
            </a:r>
            <a:br/>
            <a:r>
              <a:t>en scènes</a:t>
            </a:r>
          </a:p>
        </p:txBody>
      </p:sp>
      <p:sp>
        <p:nvSpPr>
          <p:cNvPr id="8" name="Rounded Rectangle 7"/>
          <p:cNvSpPr/>
          <p:nvPr/>
        </p:nvSpPr>
        <p:spPr>
          <a:xfrm>
            <a:off x="4379976" y="1783080"/>
            <a:ext cx="1115568" cy="1371600"/>
          </a:xfrm>
          <a:prstGeom prst="roundRect">
            <a:avLst>
              <a:gd name="adj" fmla="val 10000"/>
            </a:avLst>
          </a:prstGeom>
          <a:solidFill>
            <a:srgbClr val="FFFFFF"/>
          </a:solidFill>
          <a:ln w="9525">
            <a:solidFill>
              <a:srgbClr val="E3E8EF"/>
            </a:solidFill>
          </a:ln>
          <a:effectLst/>
        </p:spPr>
        <p:style>
          <a:lnRef idx="1">
            <a:schemeClr val="accent1"/>
          </a:lnRef>
          <a:fillRef idx="3">
            <a:schemeClr val="accent1"/>
          </a:fillRef>
          <a:effectRef idx="2">
            <a:schemeClr val="accent1"/>
          </a:effectRef>
          <a:fontRef idx="minor">
            <a:schemeClr val="lt1"/>
          </a:fontRef>
        </p:style>
        <p:txBody>
          <a:bodyPr rtlCol="0" anchor="t" wrap="square" lIns="182880" rIns="182880" tIns="146304" bIns="109728"/>
          <a:lstStyle/>
          <a:p>
            <a:pPr algn="ctr">
              <a:lnSpc>
                <a:spcPct val="100000"/>
              </a:lnSpc>
              <a:spcBef>
                <a:spcPts val="0"/>
              </a:spcBef>
              <a:defRPr sz="1300" b="0" i="0">
                <a:solidFill>
                  <a:srgbClr val="00ABC8"/>
                </a:solidFill>
                <a:latin typeface="Segoe UI Semibold"/>
              </a:defRPr>
            </a:pPr>
            <a:r>
              <a:t>04</a:t>
            </a:r>
          </a:p>
          <a:p>
            <a:pPr algn="ctr">
              <a:lnSpc>
                <a:spcPct val="112000"/>
              </a:lnSpc>
              <a:spcBef>
                <a:spcPts val="400"/>
              </a:spcBef>
              <a:defRPr sz="950" b="0" i="0">
                <a:solidFill>
                  <a:srgbClr val="101828"/>
                </a:solidFill>
                <a:latin typeface="Segoe UI"/>
              </a:defRPr>
            </a:pPr>
            <a:r>
              <a:t>Synthèse</a:t>
            </a:r>
            <a:br/>
            <a:r>
              <a:t>vocale</a:t>
            </a:r>
          </a:p>
        </p:txBody>
      </p:sp>
      <p:sp>
        <p:nvSpPr>
          <p:cNvPr id="9" name="Rounded Rectangle 8"/>
          <p:cNvSpPr/>
          <p:nvPr/>
        </p:nvSpPr>
        <p:spPr>
          <a:xfrm>
            <a:off x="5550408" y="1783080"/>
            <a:ext cx="1115568" cy="1371600"/>
          </a:xfrm>
          <a:prstGeom prst="roundRect">
            <a:avLst>
              <a:gd name="adj" fmla="val 10000"/>
            </a:avLst>
          </a:prstGeom>
          <a:solidFill>
            <a:srgbClr val="FFFFFF"/>
          </a:solidFill>
          <a:ln w="9525">
            <a:solidFill>
              <a:srgbClr val="E3E8EF"/>
            </a:solidFill>
          </a:ln>
          <a:effectLst/>
        </p:spPr>
        <p:style>
          <a:lnRef idx="1">
            <a:schemeClr val="accent1"/>
          </a:lnRef>
          <a:fillRef idx="3">
            <a:schemeClr val="accent1"/>
          </a:fillRef>
          <a:effectRef idx="2">
            <a:schemeClr val="accent1"/>
          </a:effectRef>
          <a:fontRef idx="minor">
            <a:schemeClr val="lt1"/>
          </a:fontRef>
        </p:style>
        <p:txBody>
          <a:bodyPr rtlCol="0" anchor="t" wrap="square" lIns="182880" rIns="182880" tIns="146304" bIns="109728"/>
          <a:lstStyle/>
          <a:p>
            <a:pPr algn="ctr">
              <a:lnSpc>
                <a:spcPct val="100000"/>
              </a:lnSpc>
              <a:spcBef>
                <a:spcPts val="0"/>
              </a:spcBef>
              <a:defRPr sz="1300" b="0" i="0">
                <a:solidFill>
                  <a:srgbClr val="00ABC8"/>
                </a:solidFill>
                <a:latin typeface="Segoe UI Semibold"/>
              </a:defRPr>
            </a:pPr>
            <a:r>
              <a:t>05</a:t>
            </a:r>
          </a:p>
          <a:p>
            <a:pPr algn="ctr">
              <a:lnSpc>
                <a:spcPct val="112000"/>
              </a:lnSpc>
              <a:spcBef>
                <a:spcPts val="400"/>
              </a:spcBef>
              <a:defRPr sz="950" b="0" i="0">
                <a:solidFill>
                  <a:srgbClr val="101828"/>
                </a:solidFill>
                <a:latin typeface="Segoe UI"/>
              </a:defRPr>
            </a:pPr>
            <a:r>
              <a:t>Génération</a:t>
            </a:r>
            <a:br/>
            <a:r>
              <a:t>des sous-titres</a:t>
            </a:r>
          </a:p>
        </p:txBody>
      </p:sp>
      <p:sp>
        <p:nvSpPr>
          <p:cNvPr id="10" name="Rounded Rectangle 9"/>
          <p:cNvSpPr/>
          <p:nvPr/>
        </p:nvSpPr>
        <p:spPr>
          <a:xfrm>
            <a:off x="6720840" y="1783080"/>
            <a:ext cx="1115568" cy="1371600"/>
          </a:xfrm>
          <a:prstGeom prst="roundRect">
            <a:avLst>
              <a:gd name="adj" fmla="val 10000"/>
            </a:avLst>
          </a:prstGeom>
          <a:solidFill>
            <a:srgbClr val="EEF0FD"/>
          </a:solidFill>
          <a:ln w="9525">
            <a:solidFill>
              <a:srgbClr val="E3E8EF"/>
            </a:solidFill>
          </a:ln>
          <a:effectLst/>
        </p:spPr>
        <p:style>
          <a:lnRef idx="1">
            <a:schemeClr val="accent1"/>
          </a:lnRef>
          <a:fillRef idx="3">
            <a:schemeClr val="accent1"/>
          </a:fillRef>
          <a:effectRef idx="2">
            <a:schemeClr val="accent1"/>
          </a:effectRef>
          <a:fontRef idx="minor">
            <a:schemeClr val="lt1"/>
          </a:fontRef>
        </p:style>
        <p:txBody>
          <a:bodyPr rtlCol="0" anchor="t" wrap="square" lIns="182880" rIns="182880" tIns="146304" bIns="109728"/>
          <a:lstStyle/>
          <a:p>
            <a:pPr algn="ctr">
              <a:lnSpc>
                <a:spcPct val="100000"/>
              </a:lnSpc>
              <a:spcBef>
                <a:spcPts val="0"/>
              </a:spcBef>
              <a:defRPr sz="1300" b="0" i="0">
                <a:solidFill>
                  <a:srgbClr val="4F5BD5"/>
                </a:solidFill>
                <a:latin typeface="Segoe UI Semibold"/>
              </a:defRPr>
            </a:pPr>
            <a:r>
              <a:t>06</a:t>
            </a:r>
          </a:p>
          <a:p>
            <a:pPr algn="ctr">
              <a:lnSpc>
                <a:spcPct val="112000"/>
              </a:lnSpc>
              <a:spcBef>
                <a:spcPts val="400"/>
              </a:spcBef>
              <a:defRPr sz="950" b="0" i="0">
                <a:solidFill>
                  <a:srgbClr val="101828"/>
                </a:solidFill>
                <a:latin typeface="Segoe UI"/>
              </a:defRPr>
            </a:pPr>
            <a:r>
              <a:t>Plan</a:t>
            </a:r>
            <a:br/>
            <a:r>
              <a:t>visuel</a:t>
            </a:r>
          </a:p>
        </p:txBody>
      </p:sp>
      <p:sp>
        <p:nvSpPr>
          <p:cNvPr id="11" name="Rounded Rectangle 10"/>
          <p:cNvSpPr/>
          <p:nvPr/>
        </p:nvSpPr>
        <p:spPr>
          <a:xfrm>
            <a:off x="7891271" y="1783080"/>
            <a:ext cx="1115568" cy="1371600"/>
          </a:xfrm>
          <a:prstGeom prst="roundRect">
            <a:avLst>
              <a:gd name="adj" fmla="val 10000"/>
            </a:avLst>
          </a:prstGeom>
          <a:solidFill>
            <a:srgbClr val="FFFFFF"/>
          </a:solidFill>
          <a:ln w="9525">
            <a:solidFill>
              <a:srgbClr val="E3E8EF"/>
            </a:solidFill>
          </a:ln>
          <a:effectLst/>
        </p:spPr>
        <p:style>
          <a:lnRef idx="1">
            <a:schemeClr val="accent1"/>
          </a:lnRef>
          <a:fillRef idx="3">
            <a:schemeClr val="accent1"/>
          </a:fillRef>
          <a:effectRef idx="2">
            <a:schemeClr val="accent1"/>
          </a:effectRef>
          <a:fontRef idx="minor">
            <a:schemeClr val="lt1"/>
          </a:fontRef>
        </p:style>
        <p:txBody>
          <a:bodyPr rtlCol="0" anchor="t" wrap="square" lIns="182880" rIns="182880" tIns="146304" bIns="109728"/>
          <a:lstStyle/>
          <a:p>
            <a:pPr algn="ctr">
              <a:lnSpc>
                <a:spcPct val="100000"/>
              </a:lnSpc>
              <a:spcBef>
                <a:spcPts val="0"/>
              </a:spcBef>
              <a:defRPr sz="1300" b="0" i="0">
                <a:solidFill>
                  <a:srgbClr val="00ABC8"/>
                </a:solidFill>
                <a:latin typeface="Segoe UI Semibold"/>
              </a:defRPr>
            </a:pPr>
            <a:r>
              <a:t>07</a:t>
            </a:r>
          </a:p>
          <a:p>
            <a:pPr algn="ctr">
              <a:lnSpc>
                <a:spcPct val="112000"/>
              </a:lnSpc>
              <a:spcBef>
                <a:spcPts val="400"/>
              </a:spcBef>
              <a:defRPr sz="950" b="0" i="0">
                <a:solidFill>
                  <a:srgbClr val="101828"/>
                </a:solidFill>
                <a:latin typeface="Segoe UI"/>
              </a:defRPr>
            </a:pPr>
            <a:r>
              <a:t>Création</a:t>
            </a:r>
            <a:br/>
            <a:r>
              <a:t>des visuels</a:t>
            </a:r>
          </a:p>
        </p:txBody>
      </p:sp>
      <p:sp>
        <p:nvSpPr>
          <p:cNvPr id="12" name="Rounded Rectangle 11"/>
          <p:cNvSpPr/>
          <p:nvPr/>
        </p:nvSpPr>
        <p:spPr>
          <a:xfrm>
            <a:off x="9061704" y="1783080"/>
            <a:ext cx="1115568" cy="1371600"/>
          </a:xfrm>
          <a:prstGeom prst="roundRect">
            <a:avLst>
              <a:gd name="adj" fmla="val 10000"/>
            </a:avLst>
          </a:prstGeom>
          <a:solidFill>
            <a:srgbClr val="FFFFFF"/>
          </a:solidFill>
          <a:ln w="9525">
            <a:solidFill>
              <a:srgbClr val="E3E8EF"/>
            </a:solidFill>
          </a:ln>
          <a:effectLst/>
        </p:spPr>
        <p:style>
          <a:lnRef idx="1">
            <a:schemeClr val="accent1"/>
          </a:lnRef>
          <a:fillRef idx="3">
            <a:schemeClr val="accent1"/>
          </a:fillRef>
          <a:effectRef idx="2">
            <a:schemeClr val="accent1"/>
          </a:effectRef>
          <a:fontRef idx="minor">
            <a:schemeClr val="lt1"/>
          </a:fontRef>
        </p:style>
        <p:txBody>
          <a:bodyPr rtlCol="0" anchor="t" wrap="square" lIns="182880" rIns="182880" tIns="146304" bIns="109728"/>
          <a:lstStyle/>
          <a:p>
            <a:pPr algn="ctr">
              <a:lnSpc>
                <a:spcPct val="100000"/>
              </a:lnSpc>
              <a:spcBef>
                <a:spcPts val="0"/>
              </a:spcBef>
              <a:defRPr sz="1300" b="0" i="0">
                <a:solidFill>
                  <a:srgbClr val="00ABC8"/>
                </a:solidFill>
                <a:latin typeface="Segoe UI Semibold"/>
              </a:defRPr>
            </a:pPr>
            <a:r>
              <a:t>08</a:t>
            </a:r>
          </a:p>
          <a:p>
            <a:pPr algn="ctr">
              <a:lnSpc>
                <a:spcPct val="112000"/>
              </a:lnSpc>
              <a:spcBef>
                <a:spcPts val="400"/>
              </a:spcBef>
              <a:defRPr sz="950" b="0" i="0">
                <a:solidFill>
                  <a:srgbClr val="101828"/>
                </a:solidFill>
                <a:latin typeface="Segoe UI"/>
              </a:defRPr>
            </a:pPr>
            <a:r>
              <a:t>Rendu</a:t>
            </a:r>
            <a:br/>
            <a:r>
              <a:t>vidéo</a:t>
            </a:r>
          </a:p>
        </p:txBody>
      </p:sp>
      <p:sp>
        <p:nvSpPr>
          <p:cNvPr id="13" name="Rounded Rectangle 12"/>
          <p:cNvSpPr/>
          <p:nvPr/>
        </p:nvSpPr>
        <p:spPr>
          <a:xfrm>
            <a:off x="10232136" y="1783080"/>
            <a:ext cx="1115568" cy="1371600"/>
          </a:xfrm>
          <a:prstGeom prst="roundRect">
            <a:avLst>
              <a:gd name="adj" fmla="val 10000"/>
            </a:avLst>
          </a:prstGeom>
          <a:solidFill>
            <a:srgbClr val="FFFFFF"/>
          </a:solidFill>
          <a:ln w="9525">
            <a:solidFill>
              <a:srgbClr val="E3E8EF"/>
            </a:solidFill>
          </a:ln>
          <a:effectLst/>
        </p:spPr>
        <p:style>
          <a:lnRef idx="1">
            <a:schemeClr val="accent1"/>
          </a:lnRef>
          <a:fillRef idx="3">
            <a:schemeClr val="accent1"/>
          </a:fillRef>
          <a:effectRef idx="2">
            <a:schemeClr val="accent1"/>
          </a:effectRef>
          <a:fontRef idx="minor">
            <a:schemeClr val="lt1"/>
          </a:fontRef>
        </p:style>
        <p:txBody>
          <a:bodyPr rtlCol="0" anchor="t" wrap="square" lIns="182880" rIns="182880" tIns="146304" bIns="109728"/>
          <a:lstStyle/>
          <a:p>
            <a:pPr algn="ctr">
              <a:lnSpc>
                <a:spcPct val="100000"/>
              </a:lnSpc>
              <a:spcBef>
                <a:spcPts val="0"/>
              </a:spcBef>
              <a:defRPr sz="1300" b="0" i="0">
                <a:solidFill>
                  <a:srgbClr val="00ABC8"/>
                </a:solidFill>
                <a:latin typeface="Segoe UI Semibold"/>
              </a:defRPr>
            </a:pPr>
            <a:r>
              <a:t>09</a:t>
            </a:r>
          </a:p>
          <a:p>
            <a:pPr algn="ctr">
              <a:lnSpc>
                <a:spcPct val="112000"/>
              </a:lnSpc>
              <a:spcBef>
                <a:spcPts val="400"/>
              </a:spcBef>
              <a:defRPr sz="950" b="0" i="0">
                <a:solidFill>
                  <a:srgbClr val="101828"/>
                </a:solidFill>
                <a:latin typeface="Segoe UI"/>
              </a:defRPr>
            </a:pPr>
            <a:r>
              <a:t>Publication</a:t>
            </a:r>
          </a:p>
        </p:txBody>
      </p:sp>
      <p:sp>
        <p:nvSpPr>
          <p:cNvPr id="14" name="TextBox 13"/>
          <p:cNvSpPr txBox="1"/>
          <p:nvPr/>
        </p:nvSpPr>
        <p:spPr>
          <a:xfrm>
            <a:off x="868680" y="3310128"/>
            <a:ext cx="10454335" cy="365760"/>
          </a:xfrm>
          <a:prstGeom prst="rect">
            <a:avLst/>
          </a:prstGeom>
          <a:noFill/>
        </p:spPr>
        <p:txBody>
          <a:bodyPr wrap="square" lIns="0" rIns="0" tIns="0" bIns="0">
            <a:spAutoFit/>
          </a:bodyPr>
          <a:lstStyle/>
          <a:p>
            <a:pPr algn="ctr">
              <a:lnSpc>
                <a:spcPct val="100000"/>
              </a:lnSpc>
              <a:spcBef>
                <a:spcPts val="0"/>
              </a:spcBef>
              <a:defRPr sz="1050" b="0" i="1">
                <a:solidFill>
                  <a:srgbClr val="667085"/>
                </a:solidFill>
                <a:latin typeface="Segoe UI"/>
              </a:defRPr>
            </a:pPr>
            <a:r>
              <a:t>En indigo, les trois étapes qui appellent un modèle d'intelligence artificielle.</a:t>
            </a:r>
          </a:p>
        </p:txBody>
      </p:sp>
      <p:sp>
        <p:nvSpPr>
          <p:cNvPr id="15" name="Rounded Rectangle 14"/>
          <p:cNvSpPr/>
          <p:nvPr/>
        </p:nvSpPr>
        <p:spPr>
          <a:xfrm>
            <a:off x="868680" y="3886200"/>
            <a:ext cx="10454335" cy="914400"/>
          </a:xfrm>
          <a:prstGeom prst="roundRect">
            <a:avLst>
              <a:gd name="adj" fmla="val 6000"/>
            </a:avLst>
          </a:prstGeom>
          <a:solidFill>
            <a:srgbClr val="F7F9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146304" bIns="109728"/>
          <a:lstStyle/>
          <a:p>
            <a:pPr algn="ctr">
              <a:lnSpc>
                <a:spcPct val="100000"/>
              </a:lnSpc>
              <a:spcBef>
                <a:spcPts val="0"/>
              </a:spcBef>
              <a:defRPr sz="1900" b="0" i="0">
                <a:solidFill>
                  <a:srgbClr val="101828"/>
                </a:solidFill>
                <a:latin typeface="Segoe UI Light"/>
              </a:defRPr>
            </a:pPr>
            <a:r>
              <a:t>Chaque étape lit et écrit des fichiers intermédiaires.</a:t>
            </a:r>
          </a:p>
        </p:txBody>
      </p:sp>
      <p:sp>
        <p:nvSpPr>
          <p:cNvPr id="16" name="Rounded Rectangle 15"/>
          <p:cNvSpPr/>
          <p:nvPr/>
        </p:nvSpPr>
        <p:spPr>
          <a:xfrm>
            <a:off x="868680" y="5074920"/>
            <a:ext cx="2468880" cy="658368"/>
          </a:xfrm>
          <a:prstGeom prst="roundRect">
            <a:avLst>
              <a:gd name="adj" fmla="val 8000"/>
            </a:avLst>
          </a:prstGeom>
          <a:solidFill>
            <a:srgbClr val="E6F7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146304" bIns="109728"/>
          <a:lstStyle/>
          <a:p>
            <a:pPr algn="ctr">
              <a:lnSpc>
                <a:spcPct val="100000"/>
              </a:lnSpc>
              <a:spcBef>
                <a:spcPts val="0"/>
              </a:spcBef>
              <a:defRPr sz="1150" b="0" i="0">
                <a:solidFill>
                  <a:srgbClr val="00ABC8"/>
                </a:solidFill>
                <a:latin typeface="Segoe UI Semibold"/>
              </a:defRPr>
            </a:pPr>
            <a:r>
              <a:t>Pipeline modulaire</a:t>
            </a:r>
          </a:p>
        </p:txBody>
      </p:sp>
      <p:sp>
        <p:nvSpPr>
          <p:cNvPr id="17" name="Rounded Rectangle 16"/>
          <p:cNvSpPr/>
          <p:nvPr/>
        </p:nvSpPr>
        <p:spPr>
          <a:xfrm>
            <a:off x="3566160" y="5074920"/>
            <a:ext cx="2468880" cy="658368"/>
          </a:xfrm>
          <a:prstGeom prst="roundRect">
            <a:avLst>
              <a:gd name="adj" fmla="val 8000"/>
            </a:avLst>
          </a:prstGeom>
          <a:solidFill>
            <a:srgbClr val="E6F7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146304" bIns="109728"/>
          <a:lstStyle/>
          <a:p>
            <a:pPr algn="ctr">
              <a:lnSpc>
                <a:spcPct val="100000"/>
              </a:lnSpc>
              <a:spcBef>
                <a:spcPts val="0"/>
              </a:spcBef>
              <a:defRPr sz="1150" b="0" i="0">
                <a:solidFill>
                  <a:srgbClr val="00ABC8"/>
                </a:solidFill>
                <a:latin typeface="Segoe UI Semibold"/>
              </a:defRPr>
            </a:pPr>
            <a:r>
              <a:t>Reproductible</a:t>
            </a:r>
          </a:p>
        </p:txBody>
      </p:sp>
      <p:sp>
        <p:nvSpPr>
          <p:cNvPr id="18" name="Rounded Rectangle 17"/>
          <p:cNvSpPr/>
          <p:nvPr/>
        </p:nvSpPr>
        <p:spPr>
          <a:xfrm>
            <a:off x="6263640" y="5074920"/>
            <a:ext cx="2468880" cy="658368"/>
          </a:xfrm>
          <a:prstGeom prst="roundRect">
            <a:avLst>
              <a:gd name="adj" fmla="val 8000"/>
            </a:avLst>
          </a:prstGeom>
          <a:solidFill>
            <a:srgbClr val="E6F7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146304" bIns="109728"/>
          <a:lstStyle/>
          <a:p>
            <a:pPr algn="ctr">
              <a:lnSpc>
                <a:spcPct val="100000"/>
              </a:lnSpc>
              <a:spcBef>
                <a:spcPts val="0"/>
              </a:spcBef>
              <a:defRPr sz="1150" b="0" i="0">
                <a:solidFill>
                  <a:srgbClr val="00ABC8"/>
                </a:solidFill>
                <a:latin typeface="Segoe UI Semibold"/>
              </a:defRPr>
            </a:pPr>
            <a:r>
              <a:t>Reprenable après interruption</a:t>
            </a:r>
          </a:p>
        </p:txBody>
      </p:sp>
      <p:sp>
        <p:nvSpPr>
          <p:cNvPr id="19" name="Rounded Rectangle 18"/>
          <p:cNvSpPr/>
          <p:nvPr/>
        </p:nvSpPr>
        <p:spPr>
          <a:xfrm>
            <a:off x="8961120" y="5074920"/>
            <a:ext cx="2468880" cy="658368"/>
          </a:xfrm>
          <a:prstGeom prst="roundRect">
            <a:avLst>
              <a:gd name="adj" fmla="val 8000"/>
            </a:avLst>
          </a:prstGeom>
          <a:solidFill>
            <a:srgbClr val="E6F7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146304" bIns="109728"/>
          <a:lstStyle/>
          <a:p>
            <a:pPr algn="ctr">
              <a:lnSpc>
                <a:spcPct val="100000"/>
              </a:lnSpc>
              <a:spcBef>
                <a:spcPts val="0"/>
              </a:spcBef>
              <a:defRPr sz="1150" b="0" i="0">
                <a:solidFill>
                  <a:srgbClr val="00ABC8"/>
                </a:solidFill>
                <a:latin typeface="Segoe UI Semibold"/>
              </a:defRPr>
            </a:pPr>
            <a:r>
              <a:t>Chaque étape contrôlable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868680" y="457200"/>
            <a:ext cx="10454335" cy="320040"/>
          </a:xfrm>
          <a:prstGeom prst="rect">
            <a:avLst/>
          </a:prstGeom>
          <a:noFill/>
        </p:spPr>
        <p:txBody>
          <a:bodyPr wrap="square" lIns="0" rIns="0" tIns="0" bIns="0">
            <a:spAutoFit/>
          </a:bodyPr>
          <a:lstStyle/>
          <a:p/>
        </p:txBody>
      </p:sp>
      <p:sp>
        <p:nvSpPr>
          <p:cNvPr id="3" name="TextBox 2"/>
          <p:cNvSpPr txBox="1"/>
          <p:nvPr/>
        </p:nvSpPr>
        <p:spPr>
          <a:xfrm>
            <a:off x="868680" y="566928"/>
            <a:ext cx="10454335" cy="685800"/>
          </a:xfrm>
          <a:prstGeom prst="rect">
            <a:avLst/>
          </a:prstGeom>
          <a:noFill/>
        </p:spPr>
        <p:txBody>
          <a:bodyPr wrap="square" lIns="0" rIns="0" tIns="0" bIns="0">
            <a:spAutoFit/>
          </a:bodyPr>
          <a:lstStyle/>
          <a:p>
            <a:pPr algn="l">
              <a:lnSpc>
                <a:spcPct val="100000"/>
              </a:lnSpc>
              <a:spcBef>
                <a:spcPts val="0"/>
              </a:spcBef>
              <a:defRPr sz="2700" b="0" i="0">
                <a:solidFill>
                  <a:srgbClr val="101828"/>
                </a:solidFill>
                <a:latin typeface="Segoe UI Light"/>
              </a:defRPr>
            </a:pPr>
            <a:r>
              <a:t>Réalisation — Du PDF au cours</a:t>
            </a:r>
          </a:p>
        </p:txBody>
      </p:sp>
      <p:sp>
        <p:nvSpPr>
          <p:cNvPr id="4" name="TextBox 3"/>
          <p:cNvSpPr txBox="1"/>
          <p:nvPr/>
        </p:nvSpPr>
        <p:spPr>
          <a:xfrm>
            <a:off x="10957255" y="6309360"/>
            <a:ext cx="731520" cy="320040"/>
          </a:xfrm>
          <a:prstGeom prst="rect">
            <a:avLst/>
          </a:prstGeom>
          <a:noFill/>
        </p:spPr>
        <p:txBody>
          <a:bodyPr wrap="square" lIns="0" rIns="0" tIns="0" bIns="0">
            <a:spAutoFit/>
          </a:bodyPr>
          <a:lstStyle/>
          <a:p>
            <a:pPr algn="r">
              <a:lnSpc>
                <a:spcPct val="100000"/>
              </a:lnSpc>
              <a:spcBef>
                <a:spcPts val="0"/>
              </a:spcBef>
              <a:defRPr sz="950" b="0" i="0">
                <a:solidFill>
                  <a:srgbClr val="667085"/>
                </a:solidFill>
                <a:latin typeface="Segoe UI"/>
              </a:defRPr>
            </a:pPr>
            <a:r>
              <a:t>6</a:t>
            </a:r>
          </a:p>
        </p:txBody>
      </p:sp>
      <p:sp>
        <p:nvSpPr>
          <p:cNvPr id="5" name="Rounded Rectangle 4"/>
          <p:cNvSpPr/>
          <p:nvPr/>
        </p:nvSpPr>
        <p:spPr>
          <a:xfrm>
            <a:off x="868680" y="1737360"/>
            <a:ext cx="5120640" cy="868680"/>
          </a:xfrm>
          <a:prstGeom prst="roundRect">
            <a:avLst>
              <a:gd name="adj" fmla="val 9000"/>
            </a:avLst>
          </a:prstGeom>
          <a:solidFill>
            <a:srgbClr val="FFFFFF"/>
          </a:solidFill>
          <a:ln w="9525">
            <a:solidFill>
              <a:srgbClr val="E3E8EF"/>
            </a:solidFill>
          </a:ln>
          <a:effectLst/>
        </p:spPr>
        <p:style>
          <a:lnRef idx="1">
            <a:schemeClr val="accent1"/>
          </a:lnRef>
          <a:fillRef idx="3">
            <a:schemeClr val="accent1"/>
          </a:fillRef>
          <a:effectRef idx="2">
            <a:schemeClr val="accent1"/>
          </a:effectRef>
          <a:fontRef idx="minor">
            <a:schemeClr val="lt1"/>
          </a:fontRef>
        </p:style>
        <p:txBody>
          <a:bodyPr rtlCol="0" anchor="t" wrap="square" lIns="182880" rIns="182880" tIns="146304" bIns="109728"/>
          <a:lstStyle/>
          <a:p>
            <a:pPr algn="l">
              <a:lnSpc>
                <a:spcPct val="100000"/>
              </a:lnSpc>
              <a:spcBef>
                <a:spcPts val="0"/>
              </a:spcBef>
              <a:defRPr sz="1200" b="0" i="0">
                <a:solidFill>
                  <a:srgbClr val="101828"/>
                </a:solidFill>
                <a:latin typeface="Segoe UI"/>
              </a:defRPr>
            </a:pPr>
            <a:r>
              <a:rPr sz="1200">
                <a:solidFill>
                  <a:srgbClr val="00ABC8"/>
                </a:solidFill>
                <a:latin typeface="Segoe UI Semibold"/>
              </a:rPr>
              <a:t>01   </a:t>
            </a:r>
            <a:r>
              <a:rPr sz="1250">
                <a:solidFill>
                  <a:srgbClr val="101828"/>
                </a:solidFill>
                <a:latin typeface="Segoe UI Semibold"/>
              </a:rPr>
              <a:t>COMPRENDRE</a:t>
            </a:r>
          </a:p>
          <a:p>
            <a:pPr algn="l">
              <a:lnSpc>
                <a:spcPct val="100000"/>
              </a:lnSpc>
              <a:spcBef>
                <a:spcPts val="300"/>
              </a:spcBef>
              <a:defRPr sz="1050" b="0" i="0">
                <a:solidFill>
                  <a:srgbClr val="667085"/>
                </a:solidFill>
                <a:latin typeface="Segoe UI"/>
              </a:defRPr>
            </a:pPr>
            <a:r>
              <a:t>PDF → texte + images → chapitres</a:t>
            </a:r>
          </a:p>
        </p:txBody>
      </p:sp>
      <p:sp>
        <p:nvSpPr>
          <p:cNvPr id="6" name="Rounded Rectangle 5"/>
          <p:cNvSpPr/>
          <p:nvPr/>
        </p:nvSpPr>
        <p:spPr>
          <a:xfrm>
            <a:off x="868680" y="2724912"/>
            <a:ext cx="5120640" cy="868680"/>
          </a:xfrm>
          <a:prstGeom prst="roundRect">
            <a:avLst>
              <a:gd name="adj" fmla="val 9000"/>
            </a:avLst>
          </a:prstGeom>
          <a:solidFill>
            <a:srgbClr val="FFFFFF"/>
          </a:solidFill>
          <a:ln w="9525">
            <a:solidFill>
              <a:srgbClr val="E3E8EF"/>
            </a:solidFill>
          </a:ln>
          <a:effectLst/>
        </p:spPr>
        <p:style>
          <a:lnRef idx="1">
            <a:schemeClr val="accent1"/>
          </a:lnRef>
          <a:fillRef idx="3">
            <a:schemeClr val="accent1"/>
          </a:fillRef>
          <a:effectRef idx="2">
            <a:schemeClr val="accent1"/>
          </a:effectRef>
          <a:fontRef idx="minor">
            <a:schemeClr val="lt1"/>
          </a:fontRef>
        </p:style>
        <p:txBody>
          <a:bodyPr rtlCol="0" anchor="t" wrap="square" lIns="182880" rIns="182880" tIns="146304" bIns="109728"/>
          <a:lstStyle/>
          <a:p>
            <a:pPr algn="l">
              <a:lnSpc>
                <a:spcPct val="100000"/>
              </a:lnSpc>
              <a:spcBef>
                <a:spcPts val="0"/>
              </a:spcBef>
              <a:defRPr sz="1200" b="0" i="0">
                <a:solidFill>
                  <a:srgbClr val="101828"/>
                </a:solidFill>
                <a:latin typeface="Segoe UI"/>
              </a:defRPr>
            </a:pPr>
            <a:r>
              <a:rPr sz="1200">
                <a:solidFill>
                  <a:srgbClr val="00ABC8"/>
                </a:solidFill>
                <a:latin typeface="Segoe UI Semibold"/>
              </a:rPr>
              <a:t>02   </a:t>
            </a:r>
            <a:r>
              <a:rPr sz="1250">
                <a:solidFill>
                  <a:srgbClr val="101828"/>
                </a:solidFill>
                <a:latin typeface="Segoe UI Semibold"/>
              </a:rPr>
              <a:t>GÉNÉRER</a:t>
            </a:r>
          </a:p>
          <a:p>
            <a:pPr algn="l">
              <a:lnSpc>
                <a:spcPct val="100000"/>
              </a:lnSpc>
              <a:spcBef>
                <a:spcPts val="300"/>
              </a:spcBef>
              <a:defRPr sz="1050" b="0" i="0">
                <a:solidFill>
                  <a:srgbClr val="667085"/>
                </a:solidFill>
                <a:latin typeface="Segoe UI"/>
              </a:defRPr>
            </a:pPr>
            <a:r>
              <a:t>IA → narration → storyboard → voix</a:t>
            </a:r>
          </a:p>
        </p:txBody>
      </p:sp>
      <p:sp>
        <p:nvSpPr>
          <p:cNvPr id="7" name="Rounded Rectangle 6"/>
          <p:cNvSpPr/>
          <p:nvPr/>
        </p:nvSpPr>
        <p:spPr>
          <a:xfrm>
            <a:off x="868680" y="3712464"/>
            <a:ext cx="5120640" cy="868680"/>
          </a:xfrm>
          <a:prstGeom prst="roundRect">
            <a:avLst>
              <a:gd name="adj" fmla="val 9000"/>
            </a:avLst>
          </a:prstGeom>
          <a:solidFill>
            <a:srgbClr val="FFFFFF"/>
          </a:solidFill>
          <a:ln w="9525">
            <a:solidFill>
              <a:srgbClr val="E3E8EF"/>
            </a:solidFill>
          </a:ln>
          <a:effectLst/>
        </p:spPr>
        <p:style>
          <a:lnRef idx="1">
            <a:schemeClr val="accent1"/>
          </a:lnRef>
          <a:fillRef idx="3">
            <a:schemeClr val="accent1"/>
          </a:fillRef>
          <a:effectRef idx="2">
            <a:schemeClr val="accent1"/>
          </a:effectRef>
          <a:fontRef idx="minor">
            <a:schemeClr val="lt1"/>
          </a:fontRef>
        </p:style>
        <p:txBody>
          <a:bodyPr rtlCol="0" anchor="t" wrap="square" lIns="182880" rIns="182880" tIns="146304" bIns="109728"/>
          <a:lstStyle/>
          <a:p>
            <a:pPr algn="l">
              <a:lnSpc>
                <a:spcPct val="100000"/>
              </a:lnSpc>
              <a:spcBef>
                <a:spcPts val="0"/>
              </a:spcBef>
              <a:defRPr sz="1200" b="0" i="0">
                <a:solidFill>
                  <a:srgbClr val="101828"/>
                </a:solidFill>
                <a:latin typeface="Segoe UI"/>
              </a:defRPr>
            </a:pPr>
            <a:r>
              <a:rPr sz="1200">
                <a:solidFill>
                  <a:srgbClr val="00ABC8"/>
                </a:solidFill>
                <a:latin typeface="Segoe UI Semibold"/>
              </a:rPr>
              <a:t>03   </a:t>
            </a:r>
            <a:r>
              <a:rPr sz="1250">
                <a:solidFill>
                  <a:srgbClr val="101828"/>
                </a:solidFill>
                <a:latin typeface="Segoe UI Semibold"/>
              </a:rPr>
              <a:t>ILLUSTRER</a:t>
            </a:r>
          </a:p>
          <a:p>
            <a:pPr algn="l">
              <a:lnSpc>
                <a:spcPct val="100000"/>
              </a:lnSpc>
              <a:spcBef>
                <a:spcPts val="300"/>
              </a:spcBef>
              <a:defRPr sz="1050" b="0" i="0">
                <a:solidFill>
                  <a:srgbClr val="667085"/>
                </a:solidFill>
                <a:latin typeface="Segoe UI"/>
              </a:defRPr>
            </a:pPr>
            <a:r>
              <a:t>Scènes → schémas animés → sous-titres</a:t>
            </a:r>
          </a:p>
        </p:txBody>
      </p:sp>
      <p:sp>
        <p:nvSpPr>
          <p:cNvPr id="8" name="Rounded Rectangle 7"/>
          <p:cNvSpPr/>
          <p:nvPr/>
        </p:nvSpPr>
        <p:spPr>
          <a:xfrm>
            <a:off x="868680" y="4700016"/>
            <a:ext cx="5120640" cy="868680"/>
          </a:xfrm>
          <a:prstGeom prst="roundRect">
            <a:avLst>
              <a:gd name="adj" fmla="val 9000"/>
            </a:avLst>
          </a:prstGeom>
          <a:solidFill>
            <a:srgbClr val="FFFFFF"/>
          </a:solidFill>
          <a:ln w="9525">
            <a:solidFill>
              <a:srgbClr val="E3E8EF"/>
            </a:solidFill>
          </a:ln>
          <a:effectLst/>
        </p:spPr>
        <p:style>
          <a:lnRef idx="1">
            <a:schemeClr val="accent1"/>
          </a:lnRef>
          <a:fillRef idx="3">
            <a:schemeClr val="accent1"/>
          </a:fillRef>
          <a:effectRef idx="2">
            <a:schemeClr val="accent1"/>
          </a:effectRef>
          <a:fontRef idx="minor">
            <a:schemeClr val="lt1"/>
          </a:fontRef>
        </p:style>
        <p:txBody>
          <a:bodyPr rtlCol="0" anchor="t" wrap="square" lIns="182880" rIns="182880" tIns="146304" bIns="109728"/>
          <a:lstStyle/>
          <a:p>
            <a:pPr algn="l">
              <a:lnSpc>
                <a:spcPct val="100000"/>
              </a:lnSpc>
              <a:spcBef>
                <a:spcPts val="0"/>
              </a:spcBef>
              <a:defRPr sz="1200" b="0" i="0">
                <a:solidFill>
                  <a:srgbClr val="101828"/>
                </a:solidFill>
                <a:latin typeface="Segoe UI"/>
              </a:defRPr>
            </a:pPr>
            <a:r>
              <a:rPr sz="1200">
                <a:solidFill>
                  <a:srgbClr val="00ABC8"/>
                </a:solidFill>
                <a:latin typeface="Segoe UI Semibold"/>
              </a:rPr>
              <a:t>04   </a:t>
            </a:r>
            <a:r>
              <a:rPr sz="1250">
                <a:solidFill>
                  <a:srgbClr val="101828"/>
                </a:solidFill>
                <a:latin typeface="Segoe UI Semibold"/>
              </a:rPr>
              <a:t>PUBLIER</a:t>
            </a:r>
          </a:p>
          <a:p>
            <a:pPr algn="l">
              <a:lnSpc>
                <a:spcPct val="100000"/>
              </a:lnSpc>
              <a:spcBef>
                <a:spcPts val="300"/>
              </a:spcBef>
              <a:defRPr sz="1050" b="0" i="0">
                <a:solidFill>
                  <a:srgbClr val="667085"/>
                </a:solidFill>
                <a:latin typeface="Segoe UI"/>
              </a:defRPr>
            </a:pPr>
            <a:r>
              <a:t>Vidéo → quiz → plateforme e-learning</a:t>
            </a:r>
          </a:p>
        </p:txBody>
      </p:sp>
      <p:pic>
        <p:nvPicPr>
          <p:cNvPr id="9" name="Picture 8" descr="slide10_studio.png"/>
          <p:cNvPicPr>
            <a:picLocks noChangeAspect="1"/>
          </p:cNvPicPr>
          <p:nvPr/>
        </p:nvPicPr>
        <p:blipFill>
          <a:blip r:embed="rId2"/>
          <a:stretch>
            <a:fillRect/>
          </a:stretch>
        </p:blipFill>
        <p:spPr>
          <a:xfrm>
            <a:off x="6464808" y="1737360"/>
            <a:ext cx="4754880" cy="3486912"/>
          </a:xfrm>
          <a:prstGeom prst="rect">
            <a:avLst/>
          </a:prstGeom>
        </p:spPr>
      </p:pic>
      <p:sp>
        <p:nvSpPr>
          <p:cNvPr id="10" name="TextBox 9"/>
          <p:cNvSpPr txBox="1"/>
          <p:nvPr/>
        </p:nvSpPr>
        <p:spPr>
          <a:xfrm>
            <a:off x="6355080" y="5303520"/>
            <a:ext cx="4983480" cy="320040"/>
          </a:xfrm>
          <a:prstGeom prst="rect">
            <a:avLst/>
          </a:prstGeom>
          <a:noFill/>
        </p:spPr>
        <p:txBody>
          <a:bodyPr wrap="square" lIns="0" rIns="0" tIns="0" bIns="0">
            <a:spAutoFit/>
          </a:bodyPr>
          <a:lstStyle/>
          <a:p>
            <a:pPr algn="ctr">
              <a:lnSpc>
                <a:spcPct val="100000"/>
              </a:lnSpc>
              <a:spcBef>
                <a:spcPts val="0"/>
              </a:spcBef>
              <a:defRPr sz="950" b="0" i="1">
                <a:solidFill>
                  <a:srgbClr val="667085"/>
                </a:solidFill>
                <a:latin typeface="Segoe UI"/>
              </a:defRPr>
            </a:pPr>
            <a:r>
              <a:t>Le studio — dépôt du support et suivi des neuf étapes</a:t>
            </a:r>
          </a:p>
        </p:txBody>
      </p:sp>
      <p:sp>
        <p:nvSpPr>
          <p:cNvPr id="11" name="Rounded Rectangle 10"/>
          <p:cNvSpPr/>
          <p:nvPr/>
        </p:nvSpPr>
        <p:spPr>
          <a:xfrm>
            <a:off x="868680" y="5715000"/>
            <a:ext cx="10454335" cy="777240"/>
          </a:xfrm>
          <a:prstGeom prst="roundRect">
            <a:avLst>
              <a:gd name="adj" fmla="val 6000"/>
            </a:avLst>
          </a:prstGeom>
          <a:solidFill>
            <a:srgbClr val="E6F7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146304" bIns="109728"/>
          <a:lstStyle/>
          <a:p>
            <a:pPr algn="ctr">
              <a:lnSpc>
                <a:spcPct val="100000"/>
              </a:lnSpc>
              <a:spcBef>
                <a:spcPts val="0"/>
              </a:spcBef>
              <a:defRPr sz="1400" b="0" i="0">
                <a:solidFill>
                  <a:srgbClr val="00ABC8"/>
                </a:solidFill>
                <a:latin typeface="Segoe UI Semibold"/>
              </a:defRPr>
            </a:pPr>
            <a:r>
              <a:t>L'utilisateur dépose simplement le support depuis le navigateur.  Aucun terminal nécessaire pour l'utilisateur final.</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868680" y="457200"/>
            <a:ext cx="10454335" cy="320040"/>
          </a:xfrm>
          <a:prstGeom prst="rect">
            <a:avLst/>
          </a:prstGeom>
          <a:noFill/>
        </p:spPr>
        <p:txBody>
          <a:bodyPr wrap="square" lIns="0" rIns="0" tIns="0" bIns="0">
            <a:spAutoFit/>
          </a:bodyPr>
          <a:lstStyle/>
          <a:p/>
        </p:txBody>
      </p:sp>
      <p:sp>
        <p:nvSpPr>
          <p:cNvPr id="3" name="TextBox 2"/>
          <p:cNvSpPr txBox="1"/>
          <p:nvPr/>
        </p:nvSpPr>
        <p:spPr>
          <a:xfrm>
            <a:off x="868680" y="566928"/>
            <a:ext cx="10454335" cy="685800"/>
          </a:xfrm>
          <a:prstGeom prst="rect">
            <a:avLst/>
          </a:prstGeom>
          <a:noFill/>
        </p:spPr>
        <p:txBody>
          <a:bodyPr wrap="square" lIns="0" rIns="0" tIns="0" bIns="0">
            <a:spAutoFit/>
          </a:bodyPr>
          <a:lstStyle/>
          <a:p>
            <a:pPr algn="l">
              <a:lnSpc>
                <a:spcPct val="100000"/>
              </a:lnSpc>
              <a:spcBef>
                <a:spcPts val="0"/>
              </a:spcBef>
              <a:defRPr sz="2700" b="0" i="0">
                <a:solidFill>
                  <a:srgbClr val="101828"/>
                </a:solidFill>
                <a:latin typeface="Segoe UI Light"/>
              </a:defRPr>
            </a:pPr>
            <a:r>
              <a:t>Technologies utilisées</a:t>
            </a:r>
          </a:p>
        </p:txBody>
      </p:sp>
      <p:sp>
        <p:nvSpPr>
          <p:cNvPr id="4" name="TextBox 3"/>
          <p:cNvSpPr txBox="1"/>
          <p:nvPr/>
        </p:nvSpPr>
        <p:spPr>
          <a:xfrm>
            <a:off x="10957255" y="6309360"/>
            <a:ext cx="731520" cy="320040"/>
          </a:xfrm>
          <a:prstGeom prst="rect">
            <a:avLst/>
          </a:prstGeom>
          <a:noFill/>
        </p:spPr>
        <p:txBody>
          <a:bodyPr wrap="square" lIns="0" rIns="0" tIns="0" bIns="0">
            <a:spAutoFit/>
          </a:bodyPr>
          <a:lstStyle/>
          <a:p>
            <a:pPr algn="r">
              <a:lnSpc>
                <a:spcPct val="100000"/>
              </a:lnSpc>
              <a:spcBef>
                <a:spcPts val="0"/>
              </a:spcBef>
              <a:defRPr sz="950" b="0" i="0">
                <a:solidFill>
                  <a:srgbClr val="667085"/>
                </a:solidFill>
                <a:latin typeface="Segoe UI"/>
              </a:defRPr>
            </a:pPr>
            <a:r>
              <a:t>7</a:t>
            </a:r>
          </a:p>
        </p:txBody>
      </p:sp>
      <p:sp>
        <p:nvSpPr>
          <p:cNvPr id="5" name="Rounded Rectangle 4"/>
          <p:cNvSpPr/>
          <p:nvPr/>
        </p:nvSpPr>
        <p:spPr>
          <a:xfrm>
            <a:off x="868680" y="1828800"/>
            <a:ext cx="2468880" cy="1188720"/>
          </a:xfrm>
          <a:prstGeom prst="roundRect">
            <a:avLst>
              <a:gd name="adj" fmla="val 8000"/>
            </a:avLst>
          </a:prstGeom>
          <a:solidFill>
            <a:srgbClr val="FFFFFF"/>
          </a:solidFill>
          <a:ln w="9525">
            <a:solidFill>
              <a:srgbClr val="E3E8EF"/>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146304" bIns="109728"/>
          <a:lstStyle/>
          <a:p>
            <a:pPr algn="ctr">
              <a:lnSpc>
                <a:spcPct val="100000"/>
              </a:lnSpc>
              <a:spcBef>
                <a:spcPts val="0"/>
              </a:spcBef>
              <a:defRPr sz="950" b="0" i="0">
                <a:solidFill>
                  <a:srgbClr val="00ABC8"/>
                </a:solidFill>
                <a:latin typeface="Segoe UI Semibold"/>
              </a:defRPr>
            </a:pPr>
            <a:r>
              <a:t>PDF</a:t>
            </a:r>
          </a:p>
          <a:p>
            <a:pPr algn="ctr">
              <a:lnSpc>
                <a:spcPct val="110000"/>
              </a:lnSpc>
              <a:spcBef>
                <a:spcPts val="500"/>
              </a:spcBef>
              <a:defRPr sz="1500" b="0" i="0">
                <a:solidFill>
                  <a:srgbClr val="101828"/>
                </a:solidFill>
                <a:latin typeface="Segoe UI Semibold"/>
              </a:defRPr>
            </a:pPr>
            <a:r>
              <a:t>PyMuPDF</a:t>
            </a:r>
          </a:p>
        </p:txBody>
      </p:sp>
      <p:sp>
        <p:nvSpPr>
          <p:cNvPr id="6" name="Rounded Rectangle 5"/>
          <p:cNvSpPr/>
          <p:nvPr/>
        </p:nvSpPr>
        <p:spPr>
          <a:xfrm>
            <a:off x="3566160" y="1828800"/>
            <a:ext cx="2468880" cy="1188720"/>
          </a:xfrm>
          <a:prstGeom prst="roundRect">
            <a:avLst>
              <a:gd name="adj" fmla="val 8000"/>
            </a:avLst>
          </a:prstGeom>
          <a:solidFill>
            <a:srgbClr val="FFFFFF"/>
          </a:solidFill>
          <a:ln w="9525">
            <a:solidFill>
              <a:srgbClr val="E3E8EF"/>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146304" bIns="109728"/>
          <a:lstStyle/>
          <a:p>
            <a:pPr algn="ctr">
              <a:lnSpc>
                <a:spcPct val="100000"/>
              </a:lnSpc>
              <a:spcBef>
                <a:spcPts val="0"/>
              </a:spcBef>
              <a:defRPr sz="950" b="0" i="0">
                <a:solidFill>
                  <a:srgbClr val="4F5BD5"/>
                </a:solidFill>
                <a:latin typeface="Segoe UI Semibold"/>
              </a:defRPr>
            </a:pPr>
            <a:r>
              <a:t>IA</a:t>
            </a:r>
          </a:p>
          <a:p>
            <a:pPr algn="ctr">
              <a:lnSpc>
                <a:spcPct val="110000"/>
              </a:lnSpc>
              <a:spcBef>
                <a:spcPts val="500"/>
              </a:spcBef>
              <a:defRPr sz="1500" b="0" i="0">
                <a:solidFill>
                  <a:srgbClr val="101828"/>
                </a:solidFill>
                <a:latin typeface="Segoe UI Semibold"/>
              </a:defRPr>
            </a:pPr>
            <a:r>
              <a:t>Gemini</a:t>
            </a:r>
          </a:p>
        </p:txBody>
      </p:sp>
      <p:sp>
        <p:nvSpPr>
          <p:cNvPr id="7" name="Rounded Rectangle 6"/>
          <p:cNvSpPr/>
          <p:nvPr/>
        </p:nvSpPr>
        <p:spPr>
          <a:xfrm>
            <a:off x="6263640" y="1828800"/>
            <a:ext cx="2468880" cy="1188720"/>
          </a:xfrm>
          <a:prstGeom prst="roundRect">
            <a:avLst>
              <a:gd name="adj" fmla="val 8000"/>
            </a:avLst>
          </a:prstGeom>
          <a:solidFill>
            <a:srgbClr val="FFFFFF"/>
          </a:solidFill>
          <a:ln w="9525">
            <a:solidFill>
              <a:srgbClr val="E3E8EF"/>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146304" bIns="109728"/>
          <a:lstStyle/>
          <a:p>
            <a:pPr algn="ctr">
              <a:lnSpc>
                <a:spcPct val="100000"/>
              </a:lnSpc>
              <a:spcBef>
                <a:spcPts val="0"/>
              </a:spcBef>
              <a:defRPr sz="950" b="0" i="0">
                <a:solidFill>
                  <a:srgbClr val="4F5BD5"/>
                </a:solidFill>
                <a:latin typeface="Segoe UI Semibold"/>
              </a:defRPr>
            </a:pPr>
            <a:r>
              <a:t>VALIDATION</a:t>
            </a:r>
          </a:p>
          <a:p>
            <a:pPr algn="ctr">
              <a:lnSpc>
                <a:spcPct val="110000"/>
              </a:lnSpc>
              <a:spcBef>
                <a:spcPts val="500"/>
              </a:spcBef>
              <a:defRPr sz="1500" b="0" i="0">
                <a:solidFill>
                  <a:srgbClr val="101828"/>
                </a:solidFill>
                <a:latin typeface="Segoe UI Semibold"/>
              </a:defRPr>
            </a:pPr>
            <a:r>
              <a:t>Pydantic</a:t>
            </a:r>
          </a:p>
        </p:txBody>
      </p:sp>
      <p:sp>
        <p:nvSpPr>
          <p:cNvPr id="8" name="Rounded Rectangle 7"/>
          <p:cNvSpPr/>
          <p:nvPr/>
        </p:nvSpPr>
        <p:spPr>
          <a:xfrm>
            <a:off x="8961120" y="1828800"/>
            <a:ext cx="2468880" cy="1188720"/>
          </a:xfrm>
          <a:prstGeom prst="roundRect">
            <a:avLst>
              <a:gd name="adj" fmla="val 8000"/>
            </a:avLst>
          </a:prstGeom>
          <a:solidFill>
            <a:srgbClr val="FFFFFF"/>
          </a:solidFill>
          <a:ln w="9525">
            <a:solidFill>
              <a:srgbClr val="E3E8EF"/>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146304" bIns="109728"/>
          <a:lstStyle/>
          <a:p>
            <a:pPr algn="ctr">
              <a:lnSpc>
                <a:spcPct val="100000"/>
              </a:lnSpc>
              <a:spcBef>
                <a:spcPts val="0"/>
              </a:spcBef>
              <a:defRPr sz="950" b="0" i="0">
                <a:solidFill>
                  <a:srgbClr val="00ABC8"/>
                </a:solidFill>
                <a:latin typeface="Segoe UI Semibold"/>
              </a:defRPr>
            </a:pPr>
            <a:r>
              <a:t>VOIX</a:t>
            </a:r>
          </a:p>
          <a:p>
            <a:pPr algn="ctr">
              <a:lnSpc>
                <a:spcPct val="110000"/>
              </a:lnSpc>
              <a:spcBef>
                <a:spcPts val="500"/>
              </a:spcBef>
              <a:defRPr sz="1500" b="0" i="0">
                <a:solidFill>
                  <a:srgbClr val="101828"/>
                </a:solidFill>
                <a:latin typeface="Segoe UI Semibold"/>
              </a:defRPr>
            </a:pPr>
            <a:r>
              <a:t>edge-tts</a:t>
            </a:r>
          </a:p>
        </p:txBody>
      </p:sp>
      <p:sp>
        <p:nvSpPr>
          <p:cNvPr id="9" name="Rounded Rectangle 8"/>
          <p:cNvSpPr/>
          <p:nvPr/>
        </p:nvSpPr>
        <p:spPr>
          <a:xfrm>
            <a:off x="868680" y="3246120"/>
            <a:ext cx="2468880" cy="1188720"/>
          </a:xfrm>
          <a:prstGeom prst="roundRect">
            <a:avLst>
              <a:gd name="adj" fmla="val 8000"/>
            </a:avLst>
          </a:prstGeom>
          <a:solidFill>
            <a:srgbClr val="FFFFFF"/>
          </a:solidFill>
          <a:ln w="9525">
            <a:solidFill>
              <a:srgbClr val="E3E8EF"/>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146304" bIns="109728"/>
          <a:lstStyle/>
          <a:p>
            <a:pPr algn="ctr">
              <a:lnSpc>
                <a:spcPct val="100000"/>
              </a:lnSpc>
              <a:spcBef>
                <a:spcPts val="0"/>
              </a:spcBef>
              <a:defRPr sz="950" b="0" i="0">
                <a:solidFill>
                  <a:srgbClr val="00ABC8"/>
                </a:solidFill>
                <a:latin typeface="Segoe UI Semibold"/>
              </a:defRPr>
            </a:pPr>
            <a:r>
              <a:t>VIDÉO</a:t>
            </a:r>
          </a:p>
          <a:p>
            <a:pPr algn="ctr">
              <a:lnSpc>
                <a:spcPct val="110000"/>
              </a:lnSpc>
              <a:spcBef>
                <a:spcPts val="500"/>
              </a:spcBef>
              <a:defRPr sz="1500" b="0" i="0">
                <a:solidFill>
                  <a:srgbClr val="101828"/>
                </a:solidFill>
                <a:latin typeface="Segoe UI Semibold"/>
              </a:defRPr>
            </a:pPr>
            <a:r>
              <a:t>Remotion + FFmpeg</a:t>
            </a:r>
          </a:p>
        </p:txBody>
      </p:sp>
      <p:sp>
        <p:nvSpPr>
          <p:cNvPr id="10" name="Rounded Rectangle 9"/>
          <p:cNvSpPr/>
          <p:nvPr/>
        </p:nvSpPr>
        <p:spPr>
          <a:xfrm>
            <a:off x="3566160" y="3246120"/>
            <a:ext cx="2468880" cy="1188720"/>
          </a:xfrm>
          <a:prstGeom prst="roundRect">
            <a:avLst>
              <a:gd name="adj" fmla="val 8000"/>
            </a:avLst>
          </a:prstGeom>
          <a:solidFill>
            <a:srgbClr val="FFFFFF"/>
          </a:solidFill>
          <a:ln w="9525">
            <a:solidFill>
              <a:srgbClr val="E3E8EF"/>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146304" bIns="109728"/>
          <a:lstStyle/>
          <a:p>
            <a:pPr algn="ctr">
              <a:lnSpc>
                <a:spcPct val="100000"/>
              </a:lnSpc>
              <a:spcBef>
                <a:spcPts val="0"/>
              </a:spcBef>
              <a:defRPr sz="950" b="0" i="0">
                <a:solidFill>
                  <a:srgbClr val="00ABC8"/>
                </a:solidFill>
                <a:latin typeface="Segoe UI Semibold"/>
              </a:defRPr>
            </a:pPr>
            <a:r>
              <a:t>BACKEND / STUDIO</a:t>
            </a:r>
          </a:p>
          <a:p>
            <a:pPr algn="ctr">
              <a:lnSpc>
                <a:spcPct val="110000"/>
              </a:lnSpc>
              <a:spcBef>
                <a:spcPts val="500"/>
              </a:spcBef>
              <a:defRPr sz="1500" b="0" i="0">
                <a:solidFill>
                  <a:srgbClr val="101828"/>
                </a:solidFill>
                <a:latin typeface="Segoe UI Semibold"/>
              </a:defRPr>
            </a:pPr>
            <a:r>
              <a:t>FastAPI + Uvicorn</a:t>
            </a:r>
          </a:p>
        </p:txBody>
      </p:sp>
      <p:sp>
        <p:nvSpPr>
          <p:cNvPr id="11" name="Rounded Rectangle 10"/>
          <p:cNvSpPr/>
          <p:nvPr/>
        </p:nvSpPr>
        <p:spPr>
          <a:xfrm>
            <a:off x="6263640" y="3246120"/>
            <a:ext cx="2468880" cy="1188720"/>
          </a:xfrm>
          <a:prstGeom prst="roundRect">
            <a:avLst>
              <a:gd name="adj" fmla="val 8000"/>
            </a:avLst>
          </a:prstGeom>
          <a:solidFill>
            <a:srgbClr val="FFFFFF"/>
          </a:solidFill>
          <a:ln w="9525">
            <a:solidFill>
              <a:srgbClr val="E3E8EF"/>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146304" bIns="109728"/>
          <a:lstStyle/>
          <a:p>
            <a:pPr algn="ctr">
              <a:lnSpc>
                <a:spcPct val="100000"/>
              </a:lnSpc>
              <a:spcBef>
                <a:spcPts val="0"/>
              </a:spcBef>
              <a:defRPr sz="950" b="0" i="0">
                <a:solidFill>
                  <a:srgbClr val="00ABC8"/>
                </a:solidFill>
                <a:latin typeface="Segoe UI Semibold"/>
              </a:defRPr>
            </a:pPr>
            <a:r>
              <a:t>QUIZ</a:t>
            </a:r>
          </a:p>
          <a:p>
            <a:pPr algn="ctr">
              <a:lnSpc>
                <a:spcPct val="110000"/>
              </a:lnSpc>
              <a:spcBef>
                <a:spcPts val="500"/>
              </a:spcBef>
              <a:defRPr sz="1500" b="0" i="0">
                <a:solidFill>
                  <a:srgbClr val="101828"/>
                </a:solidFill>
                <a:latin typeface="Segoe UI Semibold"/>
              </a:defRPr>
            </a:pPr>
            <a:r>
              <a:t>python-docx</a:t>
            </a:r>
          </a:p>
        </p:txBody>
      </p:sp>
      <p:sp>
        <p:nvSpPr>
          <p:cNvPr id="12" name="Rounded Rectangle 11"/>
          <p:cNvSpPr/>
          <p:nvPr/>
        </p:nvSpPr>
        <p:spPr>
          <a:xfrm>
            <a:off x="8961120" y="3246120"/>
            <a:ext cx="2468880" cy="1188720"/>
          </a:xfrm>
          <a:prstGeom prst="roundRect">
            <a:avLst>
              <a:gd name="adj" fmla="val 8000"/>
            </a:avLst>
          </a:prstGeom>
          <a:solidFill>
            <a:srgbClr val="FFFFFF"/>
          </a:solidFill>
          <a:ln w="9525">
            <a:solidFill>
              <a:srgbClr val="E3E8EF"/>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146304" bIns="109728"/>
          <a:lstStyle/>
          <a:p>
            <a:pPr algn="ctr">
              <a:lnSpc>
                <a:spcPct val="100000"/>
              </a:lnSpc>
              <a:spcBef>
                <a:spcPts val="0"/>
              </a:spcBef>
              <a:defRPr sz="950" b="0" i="0">
                <a:solidFill>
                  <a:srgbClr val="00ABC8"/>
                </a:solidFill>
                <a:latin typeface="Segoe UI Semibold"/>
              </a:defRPr>
            </a:pPr>
            <a:r>
              <a:t>TESTS</a:t>
            </a:r>
          </a:p>
          <a:p>
            <a:pPr algn="ctr">
              <a:lnSpc>
                <a:spcPct val="110000"/>
              </a:lnSpc>
              <a:spcBef>
                <a:spcPts val="500"/>
              </a:spcBef>
              <a:defRPr sz="1500" b="0" i="0">
                <a:solidFill>
                  <a:srgbClr val="101828"/>
                </a:solidFill>
                <a:latin typeface="Segoe UI Semibold"/>
              </a:defRPr>
            </a:pPr>
            <a:r>
              <a:t>pytest</a:t>
            </a:r>
          </a:p>
        </p:txBody>
      </p:sp>
      <p:sp>
        <p:nvSpPr>
          <p:cNvPr id="13" name="Rounded Rectangle 12"/>
          <p:cNvSpPr/>
          <p:nvPr/>
        </p:nvSpPr>
        <p:spPr>
          <a:xfrm>
            <a:off x="3291840" y="4892040"/>
            <a:ext cx="5577840" cy="777240"/>
          </a:xfrm>
          <a:prstGeom prst="roundRect">
            <a:avLst>
              <a:gd name="adj" fmla="val 7000"/>
            </a:avLst>
          </a:prstGeom>
          <a:solidFill>
            <a:srgbClr val="E6F7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146304" bIns="109728"/>
          <a:lstStyle/>
          <a:p>
            <a:pPr algn="ctr">
              <a:lnSpc>
                <a:spcPct val="100000"/>
              </a:lnSpc>
              <a:spcBef>
                <a:spcPts val="0"/>
              </a:spcBef>
              <a:defRPr sz="1800" b="0" i="0">
                <a:solidFill>
                  <a:srgbClr val="00ABC8"/>
                </a:solidFill>
                <a:latin typeface="Segoe UI Semibold"/>
              </a:defRPr>
            </a:pPr>
            <a:r>
              <a:t>Aucune carte graphique requise.</a:t>
            </a:r>
          </a:p>
        </p:txBody>
      </p:sp>
      <p:sp>
        <p:nvSpPr>
          <p:cNvPr id="14" name="TextBox 13"/>
          <p:cNvSpPr txBox="1"/>
          <p:nvPr/>
        </p:nvSpPr>
        <p:spPr>
          <a:xfrm>
            <a:off x="868680" y="5943600"/>
            <a:ext cx="10454335" cy="365760"/>
          </a:xfrm>
          <a:prstGeom prst="rect">
            <a:avLst/>
          </a:prstGeom>
          <a:noFill/>
        </p:spPr>
        <p:txBody>
          <a:bodyPr wrap="square" lIns="0" rIns="0" tIns="0" bIns="0">
            <a:spAutoFit/>
          </a:bodyPr>
          <a:lstStyle/>
          <a:p>
            <a:pPr algn="ctr">
              <a:lnSpc>
                <a:spcPct val="100000"/>
              </a:lnSpc>
              <a:spcBef>
                <a:spcPts val="0"/>
              </a:spcBef>
              <a:defRPr sz="1100" b="0" i="1">
                <a:solidFill>
                  <a:srgbClr val="667085"/>
                </a:solidFill>
                <a:latin typeface="Segoe UI"/>
              </a:defRPr>
            </a:pPr>
            <a:r>
              <a:t>Des outils au service du pipeline — pas l'inverse.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868680" y="457200"/>
            <a:ext cx="10454335" cy="320040"/>
          </a:xfrm>
          <a:prstGeom prst="rect">
            <a:avLst/>
          </a:prstGeom>
          <a:noFill/>
        </p:spPr>
        <p:txBody>
          <a:bodyPr wrap="square" lIns="0" rIns="0" tIns="0" bIns="0">
            <a:spAutoFit/>
          </a:bodyPr>
          <a:lstStyle/>
          <a:p/>
        </p:txBody>
      </p:sp>
      <p:sp>
        <p:nvSpPr>
          <p:cNvPr id="3" name="TextBox 2"/>
          <p:cNvSpPr txBox="1"/>
          <p:nvPr/>
        </p:nvSpPr>
        <p:spPr>
          <a:xfrm>
            <a:off x="868680" y="566928"/>
            <a:ext cx="10454335" cy="685800"/>
          </a:xfrm>
          <a:prstGeom prst="rect">
            <a:avLst/>
          </a:prstGeom>
          <a:noFill/>
        </p:spPr>
        <p:txBody>
          <a:bodyPr wrap="square" lIns="0" rIns="0" tIns="0" bIns="0">
            <a:spAutoFit/>
          </a:bodyPr>
          <a:lstStyle/>
          <a:p>
            <a:pPr algn="l">
              <a:lnSpc>
                <a:spcPct val="100000"/>
              </a:lnSpc>
              <a:spcBef>
                <a:spcPts val="0"/>
              </a:spcBef>
              <a:defRPr sz="2700" b="0" i="0">
                <a:solidFill>
                  <a:srgbClr val="101828"/>
                </a:solidFill>
                <a:latin typeface="Segoe UI Light"/>
              </a:defRPr>
            </a:pPr>
            <a:r>
              <a:t>Résultats — Une production automatisée</a:t>
            </a:r>
          </a:p>
        </p:txBody>
      </p:sp>
      <p:sp>
        <p:nvSpPr>
          <p:cNvPr id="4" name="TextBox 3"/>
          <p:cNvSpPr txBox="1"/>
          <p:nvPr/>
        </p:nvSpPr>
        <p:spPr>
          <a:xfrm>
            <a:off x="10957255" y="6309360"/>
            <a:ext cx="731520" cy="320040"/>
          </a:xfrm>
          <a:prstGeom prst="rect">
            <a:avLst/>
          </a:prstGeom>
          <a:noFill/>
        </p:spPr>
        <p:txBody>
          <a:bodyPr wrap="square" lIns="0" rIns="0" tIns="0" bIns="0">
            <a:spAutoFit/>
          </a:bodyPr>
          <a:lstStyle/>
          <a:p>
            <a:pPr algn="r">
              <a:lnSpc>
                <a:spcPct val="100000"/>
              </a:lnSpc>
              <a:spcBef>
                <a:spcPts val="0"/>
              </a:spcBef>
              <a:defRPr sz="950" b="0" i="0">
                <a:solidFill>
                  <a:srgbClr val="667085"/>
                </a:solidFill>
                <a:latin typeface="Segoe UI"/>
              </a:defRPr>
            </a:pPr>
            <a:r>
              <a:t>8</a:t>
            </a:r>
          </a:p>
        </p:txBody>
      </p:sp>
      <p:sp>
        <p:nvSpPr>
          <p:cNvPr id="5" name="TextBox 4"/>
          <p:cNvSpPr txBox="1"/>
          <p:nvPr/>
        </p:nvSpPr>
        <p:spPr>
          <a:xfrm>
            <a:off x="868680" y="1783080"/>
            <a:ext cx="1572768" cy="914400"/>
          </a:xfrm>
          <a:prstGeom prst="rect">
            <a:avLst/>
          </a:prstGeom>
          <a:noFill/>
        </p:spPr>
        <p:txBody>
          <a:bodyPr wrap="square" lIns="0" rIns="0" tIns="0" bIns="0">
            <a:spAutoFit/>
          </a:bodyPr>
          <a:lstStyle/>
          <a:p>
            <a:pPr algn="ctr">
              <a:lnSpc>
                <a:spcPct val="100000"/>
              </a:lnSpc>
              <a:spcBef>
                <a:spcPts val="0"/>
              </a:spcBef>
              <a:defRPr sz="3000" b="0" i="0">
                <a:solidFill>
                  <a:srgbClr val="101828"/>
                </a:solidFill>
                <a:latin typeface="Segoe UI Light"/>
              </a:defRPr>
            </a:pPr>
            <a:r>
              <a:t>28</a:t>
            </a:r>
          </a:p>
          <a:p>
            <a:pPr algn="ctr">
              <a:lnSpc>
                <a:spcPct val="100000"/>
              </a:lnSpc>
              <a:spcBef>
                <a:spcPts val="100"/>
              </a:spcBef>
              <a:defRPr sz="1050" b="0" i="0">
                <a:solidFill>
                  <a:srgbClr val="667085"/>
                </a:solidFill>
                <a:latin typeface="Segoe UI"/>
              </a:defRPr>
            </a:pPr>
            <a:r>
              <a:t>pages</a:t>
            </a:r>
          </a:p>
        </p:txBody>
      </p:sp>
      <p:sp>
        <p:nvSpPr>
          <p:cNvPr id="6" name="TextBox 5"/>
          <p:cNvSpPr txBox="1"/>
          <p:nvPr/>
        </p:nvSpPr>
        <p:spPr>
          <a:xfrm>
            <a:off x="2414016" y="1993392"/>
            <a:ext cx="411480" cy="365760"/>
          </a:xfrm>
          <a:prstGeom prst="rect">
            <a:avLst/>
          </a:prstGeom>
          <a:noFill/>
        </p:spPr>
        <p:txBody>
          <a:bodyPr wrap="square" lIns="0" rIns="0" tIns="0" bIns="0">
            <a:spAutoFit/>
          </a:bodyPr>
          <a:lstStyle/>
          <a:p>
            <a:pPr algn="ctr">
              <a:lnSpc>
                <a:spcPct val="100000"/>
              </a:lnSpc>
              <a:spcBef>
                <a:spcPts val="0"/>
              </a:spcBef>
              <a:defRPr sz="1500" b="1" i="0">
                <a:solidFill>
                  <a:srgbClr val="00ABC8"/>
                </a:solidFill>
                <a:latin typeface="Segoe UI"/>
              </a:defRPr>
            </a:pPr>
            <a:r>
              <a:t>→</a:t>
            </a:r>
          </a:p>
        </p:txBody>
      </p:sp>
      <p:sp>
        <p:nvSpPr>
          <p:cNvPr id="7" name="TextBox 6"/>
          <p:cNvSpPr txBox="1"/>
          <p:nvPr/>
        </p:nvSpPr>
        <p:spPr>
          <a:xfrm>
            <a:off x="2633472" y="1783080"/>
            <a:ext cx="1572768" cy="914400"/>
          </a:xfrm>
          <a:prstGeom prst="rect">
            <a:avLst/>
          </a:prstGeom>
          <a:noFill/>
        </p:spPr>
        <p:txBody>
          <a:bodyPr wrap="square" lIns="0" rIns="0" tIns="0" bIns="0">
            <a:spAutoFit/>
          </a:bodyPr>
          <a:lstStyle/>
          <a:p>
            <a:pPr algn="ctr">
              <a:lnSpc>
                <a:spcPct val="100000"/>
              </a:lnSpc>
              <a:spcBef>
                <a:spcPts val="0"/>
              </a:spcBef>
              <a:defRPr sz="3000" b="0" i="0">
                <a:solidFill>
                  <a:srgbClr val="101828"/>
                </a:solidFill>
                <a:latin typeface="Segoe UI Light"/>
              </a:defRPr>
            </a:pPr>
            <a:r>
              <a:t>8</a:t>
            </a:r>
          </a:p>
          <a:p>
            <a:pPr algn="ctr">
              <a:lnSpc>
                <a:spcPct val="100000"/>
              </a:lnSpc>
              <a:spcBef>
                <a:spcPts val="100"/>
              </a:spcBef>
              <a:defRPr sz="1050" b="0" i="0">
                <a:solidFill>
                  <a:srgbClr val="667085"/>
                </a:solidFill>
                <a:latin typeface="Segoe UI"/>
              </a:defRPr>
            </a:pPr>
            <a:r>
              <a:t>chapitres</a:t>
            </a:r>
          </a:p>
        </p:txBody>
      </p:sp>
      <p:sp>
        <p:nvSpPr>
          <p:cNvPr id="8" name="TextBox 7"/>
          <p:cNvSpPr txBox="1"/>
          <p:nvPr/>
        </p:nvSpPr>
        <p:spPr>
          <a:xfrm>
            <a:off x="4178807" y="1993392"/>
            <a:ext cx="411480" cy="365760"/>
          </a:xfrm>
          <a:prstGeom prst="rect">
            <a:avLst/>
          </a:prstGeom>
          <a:noFill/>
        </p:spPr>
        <p:txBody>
          <a:bodyPr wrap="square" lIns="0" rIns="0" tIns="0" bIns="0">
            <a:spAutoFit/>
          </a:bodyPr>
          <a:lstStyle/>
          <a:p>
            <a:pPr algn="ctr">
              <a:lnSpc>
                <a:spcPct val="100000"/>
              </a:lnSpc>
              <a:spcBef>
                <a:spcPts val="0"/>
              </a:spcBef>
              <a:defRPr sz="1500" b="1" i="0">
                <a:solidFill>
                  <a:srgbClr val="00ABC8"/>
                </a:solidFill>
                <a:latin typeface="Segoe UI"/>
              </a:defRPr>
            </a:pPr>
            <a:r>
              <a:t>→</a:t>
            </a:r>
          </a:p>
        </p:txBody>
      </p:sp>
      <p:sp>
        <p:nvSpPr>
          <p:cNvPr id="9" name="TextBox 8"/>
          <p:cNvSpPr txBox="1"/>
          <p:nvPr/>
        </p:nvSpPr>
        <p:spPr>
          <a:xfrm>
            <a:off x="4398264" y="1783080"/>
            <a:ext cx="1572768" cy="914400"/>
          </a:xfrm>
          <a:prstGeom prst="rect">
            <a:avLst/>
          </a:prstGeom>
          <a:noFill/>
        </p:spPr>
        <p:txBody>
          <a:bodyPr wrap="square" lIns="0" rIns="0" tIns="0" bIns="0">
            <a:spAutoFit/>
          </a:bodyPr>
          <a:lstStyle/>
          <a:p>
            <a:pPr algn="ctr">
              <a:lnSpc>
                <a:spcPct val="100000"/>
              </a:lnSpc>
              <a:spcBef>
                <a:spcPts val="0"/>
              </a:spcBef>
              <a:defRPr sz="3000" b="0" i="0">
                <a:solidFill>
                  <a:srgbClr val="101828"/>
                </a:solidFill>
                <a:latin typeface="Segoe UI Light"/>
              </a:defRPr>
            </a:pPr>
            <a:r>
              <a:t>17 min</a:t>
            </a:r>
          </a:p>
          <a:p>
            <a:pPr algn="ctr">
              <a:lnSpc>
                <a:spcPct val="100000"/>
              </a:lnSpc>
              <a:spcBef>
                <a:spcPts val="100"/>
              </a:spcBef>
              <a:defRPr sz="1050" b="0" i="0">
                <a:solidFill>
                  <a:srgbClr val="667085"/>
                </a:solidFill>
                <a:latin typeface="Segoe UI"/>
              </a:defRPr>
            </a:pPr>
            <a:r>
              <a:t>de cours</a:t>
            </a:r>
          </a:p>
        </p:txBody>
      </p:sp>
      <p:sp>
        <p:nvSpPr>
          <p:cNvPr id="10" name="TextBox 9"/>
          <p:cNvSpPr txBox="1"/>
          <p:nvPr/>
        </p:nvSpPr>
        <p:spPr>
          <a:xfrm>
            <a:off x="5943599" y="1993392"/>
            <a:ext cx="411480" cy="365760"/>
          </a:xfrm>
          <a:prstGeom prst="rect">
            <a:avLst/>
          </a:prstGeom>
          <a:noFill/>
        </p:spPr>
        <p:txBody>
          <a:bodyPr wrap="square" lIns="0" rIns="0" tIns="0" bIns="0">
            <a:spAutoFit/>
          </a:bodyPr>
          <a:lstStyle/>
          <a:p>
            <a:pPr algn="ctr">
              <a:lnSpc>
                <a:spcPct val="100000"/>
              </a:lnSpc>
              <a:spcBef>
                <a:spcPts val="0"/>
              </a:spcBef>
              <a:defRPr sz="1500" b="1" i="0">
                <a:solidFill>
                  <a:srgbClr val="00ABC8"/>
                </a:solidFill>
                <a:latin typeface="Segoe UI"/>
              </a:defRPr>
            </a:pPr>
            <a:r>
              <a:t>→</a:t>
            </a:r>
          </a:p>
        </p:txBody>
      </p:sp>
      <p:sp>
        <p:nvSpPr>
          <p:cNvPr id="11" name="TextBox 10"/>
          <p:cNvSpPr txBox="1"/>
          <p:nvPr/>
        </p:nvSpPr>
        <p:spPr>
          <a:xfrm>
            <a:off x="6163056" y="1783080"/>
            <a:ext cx="1572768" cy="914400"/>
          </a:xfrm>
          <a:prstGeom prst="rect">
            <a:avLst/>
          </a:prstGeom>
          <a:noFill/>
        </p:spPr>
        <p:txBody>
          <a:bodyPr wrap="square" lIns="0" rIns="0" tIns="0" bIns="0">
            <a:spAutoFit/>
          </a:bodyPr>
          <a:lstStyle/>
          <a:p>
            <a:pPr algn="ctr">
              <a:lnSpc>
                <a:spcPct val="100000"/>
              </a:lnSpc>
              <a:spcBef>
                <a:spcPts val="0"/>
              </a:spcBef>
              <a:defRPr sz="3000" b="0" i="0">
                <a:solidFill>
                  <a:srgbClr val="101828"/>
                </a:solidFill>
                <a:latin typeface="Segoe UI Light"/>
              </a:defRPr>
            </a:pPr>
            <a:r>
              <a:t>68</a:t>
            </a:r>
          </a:p>
          <a:p>
            <a:pPr algn="ctr">
              <a:lnSpc>
                <a:spcPct val="100000"/>
              </a:lnSpc>
              <a:spcBef>
                <a:spcPts val="100"/>
              </a:spcBef>
              <a:defRPr sz="1050" b="0" i="0">
                <a:solidFill>
                  <a:srgbClr val="667085"/>
                </a:solidFill>
                <a:latin typeface="Segoe UI"/>
              </a:defRPr>
            </a:pPr>
            <a:r>
              <a:t>scènes animées</a:t>
            </a:r>
          </a:p>
        </p:txBody>
      </p:sp>
      <p:sp>
        <p:nvSpPr>
          <p:cNvPr id="12" name="TextBox 11"/>
          <p:cNvSpPr txBox="1"/>
          <p:nvPr/>
        </p:nvSpPr>
        <p:spPr>
          <a:xfrm>
            <a:off x="7708392" y="1993392"/>
            <a:ext cx="411480" cy="365760"/>
          </a:xfrm>
          <a:prstGeom prst="rect">
            <a:avLst/>
          </a:prstGeom>
          <a:noFill/>
        </p:spPr>
        <p:txBody>
          <a:bodyPr wrap="square" lIns="0" rIns="0" tIns="0" bIns="0">
            <a:spAutoFit/>
          </a:bodyPr>
          <a:lstStyle/>
          <a:p>
            <a:pPr algn="ctr">
              <a:lnSpc>
                <a:spcPct val="100000"/>
              </a:lnSpc>
              <a:spcBef>
                <a:spcPts val="0"/>
              </a:spcBef>
              <a:defRPr sz="1500" b="1" i="0">
                <a:solidFill>
                  <a:srgbClr val="00ABC8"/>
                </a:solidFill>
                <a:latin typeface="Segoe UI"/>
              </a:defRPr>
            </a:pPr>
            <a:r>
              <a:t>→</a:t>
            </a:r>
          </a:p>
        </p:txBody>
      </p:sp>
      <p:sp>
        <p:nvSpPr>
          <p:cNvPr id="13" name="TextBox 12"/>
          <p:cNvSpPr txBox="1"/>
          <p:nvPr/>
        </p:nvSpPr>
        <p:spPr>
          <a:xfrm>
            <a:off x="7927848" y="1783080"/>
            <a:ext cx="1572768" cy="914400"/>
          </a:xfrm>
          <a:prstGeom prst="rect">
            <a:avLst/>
          </a:prstGeom>
          <a:noFill/>
        </p:spPr>
        <p:txBody>
          <a:bodyPr wrap="square" lIns="0" rIns="0" tIns="0" bIns="0">
            <a:spAutoFit/>
          </a:bodyPr>
          <a:lstStyle/>
          <a:p>
            <a:pPr algn="ctr">
              <a:lnSpc>
                <a:spcPct val="100000"/>
              </a:lnSpc>
              <a:spcBef>
                <a:spcPts val="0"/>
              </a:spcBef>
              <a:defRPr sz="3000" b="0" i="0">
                <a:solidFill>
                  <a:srgbClr val="101828"/>
                </a:solidFill>
                <a:latin typeface="Segoe UI Light"/>
              </a:defRPr>
            </a:pPr>
            <a:r>
              <a:t>110</a:t>
            </a:r>
          </a:p>
          <a:p>
            <a:pPr algn="ctr">
              <a:lnSpc>
                <a:spcPct val="100000"/>
              </a:lnSpc>
              <a:spcBef>
                <a:spcPts val="100"/>
              </a:spcBef>
              <a:defRPr sz="1050" b="0" i="0">
                <a:solidFill>
                  <a:srgbClr val="667085"/>
                </a:solidFill>
                <a:latin typeface="Segoe UI"/>
              </a:defRPr>
            </a:pPr>
            <a:r>
              <a:t>sous-titres</a:t>
            </a:r>
          </a:p>
        </p:txBody>
      </p:sp>
      <p:sp>
        <p:nvSpPr>
          <p:cNvPr id="14" name="TextBox 13"/>
          <p:cNvSpPr txBox="1"/>
          <p:nvPr/>
        </p:nvSpPr>
        <p:spPr>
          <a:xfrm>
            <a:off x="9473184" y="1993392"/>
            <a:ext cx="411480" cy="365760"/>
          </a:xfrm>
          <a:prstGeom prst="rect">
            <a:avLst/>
          </a:prstGeom>
          <a:noFill/>
        </p:spPr>
        <p:txBody>
          <a:bodyPr wrap="square" lIns="0" rIns="0" tIns="0" bIns="0">
            <a:spAutoFit/>
          </a:bodyPr>
          <a:lstStyle/>
          <a:p>
            <a:pPr algn="ctr">
              <a:lnSpc>
                <a:spcPct val="100000"/>
              </a:lnSpc>
              <a:spcBef>
                <a:spcPts val="0"/>
              </a:spcBef>
              <a:defRPr sz="1500" b="1" i="0">
                <a:solidFill>
                  <a:srgbClr val="00ABC8"/>
                </a:solidFill>
                <a:latin typeface="Segoe UI"/>
              </a:defRPr>
            </a:pPr>
            <a:r>
              <a:t>→</a:t>
            </a:r>
          </a:p>
        </p:txBody>
      </p:sp>
      <p:sp>
        <p:nvSpPr>
          <p:cNvPr id="15" name="TextBox 14"/>
          <p:cNvSpPr txBox="1"/>
          <p:nvPr/>
        </p:nvSpPr>
        <p:spPr>
          <a:xfrm>
            <a:off x="9692640" y="1783080"/>
            <a:ext cx="1572768" cy="914400"/>
          </a:xfrm>
          <a:prstGeom prst="rect">
            <a:avLst/>
          </a:prstGeom>
          <a:noFill/>
        </p:spPr>
        <p:txBody>
          <a:bodyPr wrap="square" lIns="0" rIns="0" tIns="0" bIns="0">
            <a:spAutoFit/>
          </a:bodyPr>
          <a:lstStyle/>
          <a:p>
            <a:pPr algn="ctr">
              <a:lnSpc>
                <a:spcPct val="100000"/>
              </a:lnSpc>
              <a:spcBef>
                <a:spcPts val="0"/>
              </a:spcBef>
              <a:defRPr sz="3000" b="0" i="0">
                <a:solidFill>
                  <a:srgbClr val="101828"/>
                </a:solidFill>
                <a:latin typeface="Segoe UI Light"/>
              </a:defRPr>
            </a:pPr>
            <a:r>
              <a:t>8</a:t>
            </a:r>
          </a:p>
          <a:p>
            <a:pPr algn="ctr">
              <a:lnSpc>
                <a:spcPct val="100000"/>
              </a:lnSpc>
              <a:spcBef>
                <a:spcPts val="100"/>
              </a:spcBef>
              <a:defRPr sz="1050" b="0" i="0">
                <a:solidFill>
                  <a:srgbClr val="667085"/>
                </a:solidFill>
                <a:latin typeface="Segoe UI"/>
              </a:defRPr>
            </a:pPr>
            <a:r>
              <a:t>questions</a:t>
            </a:r>
          </a:p>
        </p:txBody>
      </p:sp>
      <p:sp>
        <p:nvSpPr>
          <p:cNvPr id="16" name="Rectangle 15"/>
          <p:cNvSpPr/>
          <p:nvPr/>
        </p:nvSpPr>
        <p:spPr>
          <a:xfrm>
            <a:off x="868680" y="2999232"/>
            <a:ext cx="10454335" cy="12801"/>
          </a:xfrm>
          <a:prstGeom prst="rect">
            <a:avLst/>
          </a:prstGeom>
          <a:solidFill>
            <a:srgbClr val="E3E8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68680" y="3291840"/>
            <a:ext cx="1572768" cy="621792"/>
          </a:xfrm>
          <a:prstGeom prst="roundRect">
            <a:avLst>
              <a:gd name="adj" fmla="val 8000"/>
            </a:avLst>
          </a:prstGeom>
          <a:solidFill>
            <a:srgbClr val="F7F9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146304" bIns="109728"/>
          <a:lstStyle/>
          <a:p>
            <a:pPr algn="ctr">
              <a:lnSpc>
                <a:spcPct val="100000"/>
              </a:lnSpc>
              <a:spcBef>
                <a:spcPts val="0"/>
              </a:spcBef>
              <a:defRPr sz="950" b="0" i="0">
                <a:solidFill>
                  <a:srgbClr val="667085"/>
                </a:solidFill>
                <a:latin typeface="Segoe UI Semibold"/>
              </a:defRPr>
            </a:pPr>
            <a:r>
              <a:t>Support PDF</a:t>
            </a:r>
          </a:p>
        </p:txBody>
      </p:sp>
      <p:sp>
        <p:nvSpPr>
          <p:cNvPr id="18" name="TextBox 17"/>
          <p:cNvSpPr txBox="1"/>
          <p:nvPr/>
        </p:nvSpPr>
        <p:spPr>
          <a:xfrm>
            <a:off x="2423160" y="3401568"/>
            <a:ext cx="411480" cy="365760"/>
          </a:xfrm>
          <a:prstGeom prst="rect">
            <a:avLst/>
          </a:prstGeom>
          <a:noFill/>
        </p:spPr>
        <p:txBody>
          <a:bodyPr wrap="square" lIns="0" rIns="0" tIns="0" bIns="0">
            <a:spAutoFit/>
          </a:bodyPr>
          <a:lstStyle/>
          <a:p>
            <a:pPr algn="ctr">
              <a:lnSpc>
                <a:spcPct val="100000"/>
              </a:lnSpc>
              <a:spcBef>
                <a:spcPts val="0"/>
              </a:spcBef>
              <a:defRPr sz="1300" b="1" i="0">
                <a:solidFill>
                  <a:srgbClr val="667085"/>
                </a:solidFill>
                <a:latin typeface="Segoe UI"/>
              </a:defRPr>
            </a:pPr>
            <a:r>
              <a:t>→</a:t>
            </a:r>
          </a:p>
        </p:txBody>
      </p:sp>
      <p:sp>
        <p:nvSpPr>
          <p:cNvPr id="19" name="Rounded Rectangle 18"/>
          <p:cNvSpPr/>
          <p:nvPr/>
        </p:nvSpPr>
        <p:spPr>
          <a:xfrm>
            <a:off x="2624328" y="3291840"/>
            <a:ext cx="1572768" cy="621792"/>
          </a:xfrm>
          <a:prstGeom prst="roundRect">
            <a:avLst>
              <a:gd name="adj" fmla="val 8000"/>
            </a:avLst>
          </a:prstGeom>
          <a:solidFill>
            <a:srgbClr val="EEF0F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146304" bIns="109728"/>
          <a:lstStyle/>
          <a:p>
            <a:pPr algn="ctr">
              <a:lnSpc>
                <a:spcPct val="100000"/>
              </a:lnSpc>
              <a:spcBef>
                <a:spcPts val="0"/>
              </a:spcBef>
              <a:defRPr sz="950" b="0" i="0">
                <a:solidFill>
                  <a:srgbClr val="4F5BD5"/>
                </a:solidFill>
                <a:latin typeface="Segoe UI Semibold"/>
              </a:defRPr>
            </a:pPr>
            <a:r>
              <a:t>Cours vidéo</a:t>
            </a:r>
          </a:p>
        </p:txBody>
      </p:sp>
      <p:sp>
        <p:nvSpPr>
          <p:cNvPr id="20" name="TextBox 19"/>
          <p:cNvSpPr txBox="1"/>
          <p:nvPr/>
        </p:nvSpPr>
        <p:spPr>
          <a:xfrm>
            <a:off x="4178808" y="3401568"/>
            <a:ext cx="411480" cy="365760"/>
          </a:xfrm>
          <a:prstGeom prst="rect">
            <a:avLst/>
          </a:prstGeom>
          <a:noFill/>
        </p:spPr>
        <p:txBody>
          <a:bodyPr wrap="square" lIns="0" rIns="0" tIns="0" bIns="0">
            <a:spAutoFit/>
          </a:bodyPr>
          <a:lstStyle/>
          <a:p>
            <a:pPr algn="ctr">
              <a:lnSpc>
                <a:spcPct val="100000"/>
              </a:lnSpc>
              <a:spcBef>
                <a:spcPts val="0"/>
              </a:spcBef>
              <a:defRPr sz="1300" b="1" i="0">
                <a:solidFill>
                  <a:srgbClr val="667085"/>
                </a:solidFill>
                <a:latin typeface="Segoe UI"/>
              </a:defRPr>
            </a:pPr>
            <a:r>
              <a:t>→</a:t>
            </a:r>
          </a:p>
        </p:txBody>
      </p:sp>
      <p:sp>
        <p:nvSpPr>
          <p:cNvPr id="21" name="Rounded Rectangle 20"/>
          <p:cNvSpPr/>
          <p:nvPr/>
        </p:nvSpPr>
        <p:spPr>
          <a:xfrm>
            <a:off x="4379976" y="3291840"/>
            <a:ext cx="1572768" cy="621792"/>
          </a:xfrm>
          <a:prstGeom prst="roundRect">
            <a:avLst>
              <a:gd name="adj" fmla="val 8000"/>
            </a:avLst>
          </a:prstGeom>
          <a:solidFill>
            <a:srgbClr val="E6F7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146304" bIns="109728"/>
          <a:lstStyle/>
          <a:p>
            <a:pPr algn="ctr">
              <a:lnSpc>
                <a:spcPct val="100000"/>
              </a:lnSpc>
              <a:spcBef>
                <a:spcPts val="0"/>
              </a:spcBef>
              <a:defRPr sz="950" b="0" i="0">
                <a:solidFill>
                  <a:srgbClr val="00ABC8"/>
                </a:solidFill>
                <a:latin typeface="Segoe UI Semibold"/>
              </a:defRPr>
            </a:pPr>
            <a:r>
              <a:t>Plateforme e-learning</a:t>
            </a:r>
          </a:p>
        </p:txBody>
      </p:sp>
      <p:sp>
        <p:nvSpPr>
          <p:cNvPr id="22" name="Rounded Rectangle 21"/>
          <p:cNvSpPr/>
          <p:nvPr/>
        </p:nvSpPr>
        <p:spPr>
          <a:xfrm>
            <a:off x="868680" y="4114800"/>
            <a:ext cx="5120640" cy="914400"/>
          </a:xfrm>
          <a:prstGeom prst="roundRect">
            <a:avLst>
              <a:gd name="adj" fmla="val 6000"/>
            </a:avLst>
          </a:prstGeom>
          <a:solidFill>
            <a:srgbClr val="E6F7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146304" bIns="109728"/>
          <a:lstStyle/>
          <a:p>
            <a:pPr algn="ctr">
              <a:lnSpc>
                <a:spcPct val="100000"/>
              </a:lnSpc>
              <a:spcBef>
                <a:spcPts val="0"/>
              </a:spcBef>
              <a:defRPr sz="1700" b="0" i="0">
                <a:solidFill>
                  <a:srgbClr val="00ABC8"/>
                </a:solidFill>
                <a:latin typeface="Segoe UI Semibold"/>
              </a:defRPr>
            </a:pPr>
            <a:r>
              <a:t>Chapitre le plus long : 3 min 15 s</a:t>
            </a:r>
          </a:p>
          <a:p>
            <a:pPr algn="ctr">
              <a:lnSpc>
                <a:spcPct val="100000"/>
              </a:lnSpc>
              <a:spcBef>
                <a:spcPts val="200"/>
              </a:spcBef>
              <a:defRPr sz="1050" b="0" i="0">
                <a:solidFill>
                  <a:srgbClr val="667085"/>
                </a:solidFill>
                <a:latin typeface="Segoe UI"/>
              </a:defRPr>
            </a:pPr>
            <a:r>
              <a:t>l'exigence était de rester sous cinq minutes</a:t>
            </a:r>
          </a:p>
        </p:txBody>
      </p:sp>
      <p:sp>
        <p:nvSpPr>
          <p:cNvPr id="23" name="Rounded Rectangle 22"/>
          <p:cNvSpPr/>
          <p:nvPr/>
        </p:nvSpPr>
        <p:spPr>
          <a:xfrm>
            <a:off x="868680" y="5212080"/>
            <a:ext cx="5120640" cy="868680"/>
          </a:xfrm>
          <a:prstGeom prst="roundRect">
            <a:avLst>
              <a:gd name="adj" fmla="val 6000"/>
            </a:avLst>
          </a:prstGeom>
          <a:solidFill>
            <a:srgbClr val="FFFFFF"/>
          </a:solidFill>
          <a:ln w="9525">
            <a:solidFill>
              <a:srgbClr val="E3E8EF"/>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146304" bIns="109728"/>
          <a:lstStyle/>
          <a:p>
            <a:pPr algn="ctr">
              <a:lnSpc>
                <a:spcPct val="100000"/>
              </a:lnSpc>
              <a:spcBef>
                <a:spcPts val="0"/>
              </a:spcBef>
              <a:defRPr sz="1200" b="0" i="1">
                <a:solidFill>
                  <a:srgbClr val="667085"/>
                </a:solidFill>
                <a:latin typeface="Segoe UI"/>
              </a:defRPr>
            </a:pPr>
            <a:r>
              <a:t>Emplacement réservé — démonstration vidéo</a:t>
            </a:r>
          </a:p>
        </p:txBody>
      </p:sp>
      <p:pic>
        <p:nvPicPr>
          <p:cNvPr id="24" name="Picture 23" descr="slide12_six_scenes_du_cours.png"/>
          <p:cNvPicPr>
            <a:picLocks noChangeAspect="1"/>
          </p:cNvPicPr>
          <p:nvPr/>
        </p:nvPicPr>
        <p:blipFill>
          <a:blip r:embed="rId2"/>
          <a:stretch>
            <a:fillRect/>
          </a:stretch>
        </p:blipFill>
        <p:spPr>
          <a:xfrm>
            <a:off x="6922008" y="3200400"/>
            <a:ext cx="3847253" cy="3246120"/>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868680" y="457200"/>
            <a:ext cx="10454335" cy="320040"/>
          </a:xfrm>
          <a:prstGeom prst="rect">
            <a:avLst/>
          </a:prstGeom>
          <a:noFill/>
        </p:spPr>
        <p:txBody>
          <a:bodyPr wrap="square" lIns="0" rIns="0" tIns="0" bIns="0">
            <a:spAutoFit/>
          </a:bodyPr>
          <a:lstStyle/>
          <a:p/>
        </p:txBody>
      </p:sp>
      <p:sp>
        <p:nvSpPr>
          <p:cNvPr id="3" name="TextBox 2"/>
          <p:cNvSpPr txBox="1"/>
          <p:nvPr/>
        </p:nvSpPr>
        <p:spPr>
          <a:xfrm>
            <a:off x="868680" y="566928"/>
            <a:ext cx="10454335" cy="685800"/>
          </a:xfrm>
          <a:prstGeom prst="rect">
            <a:avLst/>
          </a:prstGeom>
          <a:noFill/>
        </p:spPr>
        <p:txBody>
          <a:bodyPr wrap="square" lIns="0" rIns="0" tIns="0" bIns="0">
            <a:spAutoFit/>
          </a:bodyPr>
          <a:lstStyle/>
          <a:p>
            <a:pPr algn="l">
              <a:lnSpc>
                <a:spcPct val="100000"/>
              </a:lnSpc>
              <a:spcBef>
                <a:spcPts val="0"/>
              </a:spcBef>
              <a:defRPr sz="2700" b="0" i="0">
                <a:solidFill>
                  <a:srgbClr val="101828"/>
                </a:solidFill>
                <a:latin typeface="Segoe UI Light"/>
              </a:defRPr>
            </a:pPr>
            <a:r>
              <a:t>Tests &amp; validation</a:t>
            </a:r>
          </a:p>
        </p:txBody>
      </p:sp>
      <p:sp>
        <p:nvSpPr>
          <p:cNvPr id="4" name="TextBox 3"/>
          <p:cNvSpPr txBox="1"/>
          <p:nvPr/>
        </p:nvSpPr>
        <p:spPr>
          <a:xfrm>
            <a:off x="10957255" y="6309360"/>
            <a:ext cx="731520" cy="320040"/>
          </a:xfrm>
          <a:prstGeom prst="rect">
            <a:avLst/>
          </a:prstGeom>
          <a:noFill/>
        </p:spPr>
        <p:txBody>
          <a:bodyPr wrap="square" lIns="0" rIns="0" tIns="0" bIns="0">
            <a:spAutoFit/>
          </a:bodyPr>
          <a:lstStyle/>
          <a:p>
            <a:pPr algn="r">
              <a:lnSpc>
                <a:spcPct val="100000"/>
              </a:lnSpc>
              <a:spcBef>
                <a:spcPts val="0"/>
              </a:spcBef>
              <a:defRPr sz="950" b="0" i="0">
                <a:solidFill>
                  <a:srgbClr val="667085"/>
                </a:solidFill>
                <a:latin typeface="Segoe UI"/>
              </a:defRPr>
            </a:pPr>
            <a:r>
              <a:t>9</a:t>
            </a:r>
          </a:p>
        </p:txBody>
      </p:sp>
      <p:sp>
        <p:nvSpPr>
          <p:cNvPr id="5" name="TextBox 4"/>
          <p:cNvSpPr txBox="1"/>
          <p:nvPr/>
        </p:nvSpPr>
        <p:spPr>
          <a:xfrm>
            <a:off x="868680" y="1737360"/>
            <a:ext cx="2743200" cy="1737360"/>
          </a:xfrm>
          <a:prstGeom prst="rect">
            <a:avLst/>
          </a:prstGeom>
          <a:noFill/>
        </p:spPr>
        <p:txBody>
          <a:bodyPr wrap="square" lIns="0" rIns="0" tIns="0" bIns="0">
            <a:spAutoFit/>
          </a:bodyPr>
          <a:lstStyle/>
          <a:p>
            <a:pPr algn="ctr">
              <a:lnSpc>
                <a:spcPct val="100000"/>
              </a:lnSpc>
              <a:spcBef>
                <a:spcPts val="0"/>
              </a:spcBef>
              <a:defRPr sz="6800" b="0" i="0">
                <a:solidFill>
                  <a:srgbClr val="00ABC8"/>
                </a:solidFill>
                <a:latin typeface="Segoe UI Light"/>
              </a:defRPr>
            </a:pPr>
            <a:r>
              <a:t>31</a:t>
            </a:r>
          </a:p>
          <a:p>
            <a:pPr algn="ctr">
              <a:lnSpc>
                <a:spcPct val="100000"/>
              </a:lnSpc>
              <a:spcBef>
                <a:spcPts val="0"/>
              </a:spcBef>
              <a:defRPr sz="1300" b="0" i="0">
                <a:solidFill>
                  <a:srgbClr val="667085"/>
                </a:solidFill>
                <a:latin typeface="Segoe UI"/>
              </a:defRPr>
            </a:pPr>
            <a:r>
              <a:t>tests automatisés</a:t>
            </a:r>
          </a:p>
        </p:txBody>
      </p:sp>
      <p:sp>
        <p:nvSpPr>
          <p:cNvPr id="6" name="Rounded Rectangle 5"/>
          <p:cNvSpPr/>
          <p:nvPr/>
        </p:nvSpPr>
        <p:spPr>
          <a:xfrm>
            <a:off x="3931920" y="1737360"/>
            <a:ext cx="3566160" cy="2331720"/>
          </a:xfrm>
          <a:prstGeom prst="roundRect">
            <a:avLst>
              <a:gd name="adj" fmla="val 7000"/>
            </a:avLst>
          </a:prstGeom>
          <a:solidFill>
            <a:srgbClr val="FFFFFF"/>
          </a:solidFill>
          <a:ln w="9525">
            <a:solidFill>
              <a:srgbClr val="E3E8EF"/>
            </a:solidFill>
          </a:ln>
          <a:effectLst/>
        </p:spPr>
        <p:style>
          <a:lnRef idx="1">
            <a:schemeClr val="accent1"/>
          </a:lnRef>
          <a:fillRef idx="3">
            <a:schemeClr val="accent1"/>
          </a:fillRef>
          <a:effectRef idx="2">
            <a:schemeClr val="accent1"/>
          </a:effectRef>
          <a:fontRef idx="minor">
            <a:schemeClr val="lt1"/>
          </a:fontRef>
        </p:style>
        <p:txBody>
          <a:bodyPr rtlCol="0" anchor="t" wrap="square" lIns="182880" rIns="182880" tIns="146304" bIns="109728"/>
          <a:lstStyle/>
          <a:p>
            <a:pPr algn="l">
              <a:lnSpc>
                <a:spcPct val="100000"/>
              </a:lnSpc>
              <a:spcBef>
                <a:spcPts val="0"/>
              </a:spcBef>
              <a:defRPr sz="1000" b="0" i="0">
                <a:solidFill>
                  <a:srgbClr val="00ABC8"/>
                </a:solidFill>
                <a:latin typeface="Segoe UI Semibold"/>
              </a:defRPr>
            </a:pPr>
            <a:r>
              <a:t>TESTS AUTOMATISÉS</a:t>
            </a:r>
          </a:p>
          <a:p>
            <a:pPr algn="l">
              <a:lnSpc>
                <a:spcPct val="100000"/>
              </a:lnSpc>
              <a:spcBef>
                <a:spcPts val="700"/>
              </a:spcBef>
              <a:defRPr sz="1250" b="0" i="0">
                <a:solidFill>
                  <a:srgbClr val="101828"/>
                </a:solidFill>
                <a:latin typeface="Segoe UI"/>
              </a:defRPr>
            </a:pPr>
            <a:r>
              <a:t>·  pipeline</a:t>
            </a:r>
          </a:p>
          <a:p>
            <a:pPr algn="l">
              <a:lnSpc>
                <a:spcPct val="100000"/>
              </a:lnSpc>
              <a:spcBef>
                <a:spcPts val="700"/>
              </a:spcBef>
              <a:defRPr sz="1250" b="0" i="0">
                <a:solidFill>
                  <a:srgbClr val="101828"/>
                </a:solidFill>
                <a:latin typeface="Segoe UI"/>
              </a:defRPr>
            </a:pPr>
            <a:r>
              <a:t>·  données</a:t>
            </a:r>
          </a:p>
          <a:p>
            <a:pPr algn="l">
              <a:lnSpc>
                <a:spcPct val="100000"/>
              </a:lnSpc>
              <a:spcBef>
                <a:spcPts val="700"/>
              </a:spcBef>
              <a:defRPr sz="1250" b="0" i="0">
                <a:solidFill>
                  <a:srgbClr val="101828"/>
                </a:solidFill>
                <a:latin typeface="Segoe UI"/>
              </a:defRPr>
            </a:pPr>
            <a:r>
              <a:t>·  reprise</a:t>
            </a:r>
          </a:p>
          <a:p>
            <a:pPr algn="l">
              <a:lnSpc>
                <a:spcPct val="100000"/>
              </a:lnSpc>
              <a:spcBef>
                <a:spcPts val="700"/>
              </a:spcBef>
              <a:defRPr sz="1250" b="0" i="0">
                <a:solidFill>
                  <a:srgbClr val="101828"/>
                </a:solidFill>
                <a:latin typeface="Segoe UI"/>
              </a:defRPr>
            </a:pPr>
            <a:r>
              <a:t>·  cohérence</a:t>
            </a:r>
          </a:p>
        </p:txBody>
      </p:sp>
      <p:sp>
        <p:nvSpPr>
          <p:cNvPr id="7" name="Rounded Rectangle 6"/>
          <p:cNvSpPr/>
          <p:nvPr/>
        </p:nvSpPr>
        <p:spPr>
          <a:xfrm>
            <a:off x="7772400" y="1737360"/>
            <a:ext cx="3566160" cy="2331720"/>
          </a:xfrm>
          <a:prstGeom prst="roundRect">
            <a:avLst>
              <a:gd name="adj" fmla="val 7000"/>
            </a:avLst>
          </a:prstGeom>
          <a:solidFill>
            <a:srgbClr val="FFFFFF"/>
          </a:solidFill>
          <a:ln w="9525">
            <a:solidFill>
              <a:srgbClr val="E3E8EF"/>
            </a:solidFill>
          </a:ln>
          <a:effectLst/>
        </p:spPr>
        <p:style>
          <a:lnRef idx="1">
            <a:schemeClr val="accent1"/>
          </a:lnRef>
          <a:fillRef idx="3">
            <a:schemeClr val="accent1"/>
          </a:fillRef>
          <a:effectRef idx="2">
            <a:schemeClr val="accent1"/>
          </a:effectRef>
          <a:fontRef idx="minor">
            <a:schemeClr val="lt1"/>
          </a:fontRef>
        </p:style>
        <p:txBody>
          <a:bodyPr rtlCol="0" anchor="t" wrap="square" lIns="182880" rIns="182880" tIns="146304" bIns="109728"/>
          <a:lstStyle/>
          <a:p>
            <a:pPr algn="l">
              <a:lnSpc>
                <a:spcPct val="100000"/>
              </a:lnSpc>
              <a:spcBef>
                <a:spcPts val="0"/>
              </a:spcBef>
              <a:defRPr sz="1000" b="0" i="0">
                <a:solidFill>
                  <a:srgbClr val="4F5BD5"/>
                </a:solidFill>
                <a:latin typeface="Segoe UI Semibold"/>
              </a:defRPr>
            </a:pPr>
            <a:r>
              <a:t>VALIDATION DU PRODUIT</a:t>
            </a:r>
          </a:p>
          <a:p>
            <a:pPr algn="l">
              <a:lnSpc>
                <a:spcPct val="100000"/>
              </a:lnSpc>
              <a:spcBef>
                <a:spcPts val="700"/>
              </a:spcBef>
              <a:defRPr sz="1250" b="0" i="0">
                <a:solidFill>
                  <a:srgbClr val="101828"/>
                </a:solidFill>
                <a:latin typeface="Segoe UI"/>
              </a:defRPr>
            </a:pPr>
            <a:r>
              <a:t>·  vidéo</a:t>
            </a:r>
          </a:p>
          <a:p>
            <a:pPr algn="l">
              <a:lnSpc>
                <a:spcPct val="100000"/>
              </a:lnSpc>
              <a:spcBef>
                <a:spcPts val="700"/>
              </a:spcBef>
              <a:defRPr sz="1250" b="0" i="0">
                <a:solidFill>
                  <a:srgbClr val="101828"/>
                </a:solidFill>
                <a:latin typeface="Segoe UI"/>
              </a:defRPr>
            </a:pPr>
            <a:r>
              <a:t>·  audio</a:t>
            </a:r>
          </a:p>
          <a:p>
            <a:pPr algn="l">
              <a:lnSpc>
                <a:spcPct val="100000"/>
              </a:lnSpc>
              <a:spcBef>
                <a:spcPts val="700"/>
              </a:spcBef>
              <a:defRPr sz="1250" b="0" i="0">
                <a:solidFill>
                  <a:srgbClr val="101828"/>
                </a:solidFill>
                <a:latin typeface="Segoe UI"/>
              </a:defRPr>
            </a:pPr>
            <a:r>
              <a:t>·  sous-titres</a:t>
            </a:r>
          </a:p>
          <a:p>
            <a:pPr algn="l">
              <a:lnSpc>
                <a:spcPct val="100000"/>
              </a:lnSpc>
              <a:spcBef>
                <a:spcPts val="700"/>
              </a:spcBef>
              <a:defRPr sz="1250" b="0" i="0">
                <a:solidFill>
                  <a:srgbClr val="101828"/>
                </a:solidFill>
                <a:latin typeface="Segoe UI"/>
              </a:defRPr>
            </a:pPr>
            <a:r>
              <a:t>·  visuels</a:t>
            </a:r>
          </a:p>
          <a:p>
            <a:pPr algn="l">
              <a:lnSpc>
                <a:spcPct val="100000"/>
              </a:lnSpc>
              <a:spcBef>
                <a:spcPts val="700"/>
              </a:spcBef>
              <a:defRPr sz="1250" b="0" i="0">
                <a:solidFill>
                  <a:srgbClr val="101828"/>
                </a:solidFill>
                <a:latin typeface="Segoe UI"/>
              </a:defRPr>
            </a:pPr>
            <a:r>
              <a:t>·  durée</a:t>
            </a:r>
          </a:p>
        </p:txBody>
      </p:sp>
      <p:sp>
        <p:nvSpPr>
          <p:cNvPr id="8" name="Rounded Rectangle 7"/>
          <p:cNvSpPr/>
          <p:nvPr/>
        </p:nvSpPr>
        <p:spPr>
          <a:xfrm>
            <a:off x="868680" y="4343400"/>
            <a:ext cx="3566160" cy="960120"/>
          </a:xfrm>
          <a:prstGeom prst="roundRect">
            <a:avLst>
              <a:gd name="adj" fmla="val 6000"/>
            </a:avLst>
          </a:prstGeom>
          <a:solidFill>
            <a:srgbClr val="F7F9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146304" bIns="109728"/>
          <a:lstStyle/>
          <a:p>
            <a:pPr algn="ctr">
              <a:lnSpc>
                <a:spcPct val="100000"/>
              </a:lnSpc>
              <a:spcBef>
                <a:spcPts val="0"/>
              </a:spcBef>
              <a:defRPr sz="2400" b="0" i="0">
                <a:solidFill>
                  <a:srgbClr val="101828"/>
                </a:solidFill>
                <a:latin typeface="Segoe UI Light"/>
              </a:defRPr>
            </a:pPr>
            <a:r>
              <a:t>7 / 8</a:t>
            </a:r>
          </a:p>
          <a:p>
            <a:pPr algn="ctr">
              <a:lnSpc>
                <a:spcPct val="100000"/>
              </a:lnSpc>
              <a:spcBef>
                <a:spcPts val="0"/>
              </a:spcBef>
              <a:defRPr sz="1050" b="0" i="0">
                <a:solidFill>
                  <a:srgbClr val="667085"/>
                </a:solidFill>
                <a:latin typeface="Segoe UI"/>
              </a:defRPr>
            </a:pPr>
            <a:r>
              <a:t>objectifs entièrement atteints</a:t>
            </a:r>
          </a:p>
        </p:txBody>
      </p:sp>
      <p:sp>
        <p:nvSpPr>
          <p:cNvPr id="9" name="Rounded Rectangle 8"/>
          <p:cNvSpPr/>
          <p:nvPr/>
        </p:nvSpPr>
        <p:spPr>
          <a:xfrm>
            <a:off x="4709160" y="4343400"/>
            <a:ext cx="3566160" cy="960120"/>
          </a:xfrm>
          <a:prstGeom prst="roundRect">
            <a:avLst>
              <a:gd name="adj" fmla="val 6000"/>
            </a:avLst>
          </a:prstGeom>
          <a:solidFill>
            <a:srgbClr val="F7F9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146304" bIns="109728"/>
          <a:lstStyle/>
          <a:p>
            <a:pPr algn="ctr">
              <a:lnSpc>
                <a:spcPct val="100000"/>
              </a:lnSpc>
              <a:spcBef>
                <a:spcPts val="0"/>
              </a:spcBef>
              <a:defRPr sz="2400" b="0" i="0">
                <a:solidFill>
                  <a:srgbClr val="101828"/>
                </a:solidFill>
                <a:latin typeface="Segoe UI Light"/>
              </a:defRPr>
            </a:pPr>
            <a:r>
              <a:t>7 / 8</a:t>
            </a:r>
          </a:p>
          <a:p>
            <a:pPr algn="ctr">
              <a:lnSpc>
                <a:spcPct val="100000"/>
              </a:lnSpc>
              <a:spcBef>
                <a:spcPts val="0"/>
              </a:spcBef>
              <a:defRPr sz="1050" b="0" i="0">
                <a:solidFill>
                  <a:srgbClr val="667085"/>
                </a:solidFill>
                <a:latin typeface="Segoe UI"/>
              </a:defRPr>
            </a:pPr>
            <a:r>
              <a:t>valeurs chiffrées reprises</a:t>
            </a:r>
          </a:p>
        </p:txBody>
      </p:sp>
      <p:sp>
        <p:nvSpPr>
          <p:cNvPr id="10" name="Rounded Rectangle 9"/>
          <p:cNvSpPr/>
          <p:nvPr/>
        </p:nvSpPr>
        <p:spPr>
          <a:xfrm>
            <a:off x="8549640" y="4343400"/>
            <a:ext cx="2788920" cy="960120"/>
          </a:xfrm>
          <a:prstGeom prst="roundRect">
            <a:avLst>
              <a:gd name="adj" fmla="val 6000"/>
            </a:avLst>
          </a:prstGeom>
          <a:solidFill>
            <a:srgbClr val="FDF6E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146304" bIns="109728"/>
          <a:lstStyle/>
          <a:p>
            <a:pPr algn="ctr">
              <a:lnSpc>
                <a:spcPct val="100000"/>
              </a:lnSpc>
              <a:spcBef>
                <a:spcPts val="0"/>
              </a:spcBef>
              <a:defRPr sz="1250" b="0" i="0">
                <a:solidFill>
                  <a:srgbClr val="B5830B"/>
                </a:solidFill>
                <a:latin typeface="Segoe UI Semibold"/>
              </a:defRPr>
            </a:pPr>
            <a:r>
              <a:t>1 valeur chiffrée sur 8</a:t>
            </a:r>
          </a:p>
          <a:p>
            <a:pPr algn="ctr">
              <a:lnSpc>
                <a:spcPct val="100000"/>
              </a:lnSpc>
              <a:spcBef>
                <a:spcPts val="0"/>
              </a:spcBef>
              <a:defRPr sz="1100" b="0" i="0">
                <a:solidFill>
                  <a:srgbClr val="B5830B"/>
                </a:solidFill>
                <a:latin typeface="Segoe UI"/>
              </a:defRPr>
            </a:pPr>
            <a:r>
              <a:t>n'a pas été reprise</a:t>
            </a:r>
          </a:p>
        </p:txBody>
      </p:sp>
      <p:sp>
        <p:nvSpPr>
          <p:cNvPr id="11" name="TextBox 10"/>
          <p:cNvSpPr txBox="1"/>
          <p:nvPr/>
        </p:nvSpPr>
        <p:spPr>
          <a:xfrm>
            <a:off x="868680" y="5623560"/>
            <a:ext cx="10454335" cy="457200"/>
          </a:xfrm>
          <a:prstGeom prst="rect">
            <a:avLst/>
          </a:prstGeom>
          <a:noFill/>
        </p:spPr>
        <p:txBody>
          <a:bodyPr wrap="square" lIns="0" rIns="0" tIns="0" bIns="0">
            <a:spAutoFit/>
          </a:bodyPr>
          <a:lstStyle/>
          <a:p>
            <a:pPr algn="ctr">
              <a:lnSpc>
                <a:spcPct val="100000"/>
              </a:lnSpc>
              <a:spcBef>
                <a:spcPts val="0"/>
              </a:spcBef>
              <a:defRPr sz="1200" b="0" i="1">
                <a:solidFill>
                  <a:srgbClr val="667085"/>
                </a:solidFill>
                <a:latin typeface="Segoe UI"/>
              </a:defRPr>
            </a:pPr>
            <a:r>
              <a:t>Un point de validation, et un axe d'amélioration identifié — non un résultat masqué.</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868680" y="457200"/>
            <a:ext cx="10454335" cy="320040"/>
          </a:xfrm>
          <a:prstGeom prst="rect">
            <a:avLst/>
          </a:prstGeom>
          <a:noFill/>
        </p:spPr>
        <p:txBody>
          <a:bodyPr wrap="square" lIns="0" rIns="0" tIns="0" bIns="0">
            <a:spAutoFit/>
          </a:bodyPr>
          <a:lstStyle/>
          <a:p/>
        </p:txBody>
      </p:sp>
      <p:sp>
        <p:nvSpPr>
          <p:cNvPr id="3" name="TextBox 2"/>
          <p:cNvSpPr txBox="1"/>
          <p:nvPr/>
        </p:nvSpPr>
        <p:spPr>
          <a:xfrm>
            <a:off x="868680" y="566928"/>
            <a:ext cx="10454335" cy="685800"/>
          </a:xfrm>
          <a:prstGeom prst="rect">
            <a:avLst/>
          </a:prstGeom>
          <a:noFill/>
        </p:spPr>
        <p:txBody>
          <a:bodyPr wrap="square" lIns="0" rIns="0" tIns="0" bIns="0">
            <a:spAutoFit/>
          </a:bodyPr>
          <a:lstStyle/>
          <a:p>
            <a:pPr algn="l">
              <a:lnSpc>
                <a:spcPct val="100000"/>
              </a:lnSpc>
              <a:spcBef>
                <a:spcPts val="0"/>
              </a:spcBef>
              <a:defRPr sz="2700" b="0" i="0">
                <a:solidFill>
                  <a:srgbClr val="101828"/>
                </a:solidFill>
                <a:latin typeface="Segoe UI Light"/>
              </a:defRPr>
            </a:pPr>
            <a:r>
              <a:t>Conclusion &amp; perspectives</a:t>
            </a:r>
          </a:p>
        </p:txBody>
      </p:sp>
      <p:sp>
        <p:nvSpPr>
          <p:cNvPr id="4" name="TextBox 3"/>
          <p:cNvSpPr txBox="1"/>
          <p:nvPr/>
        </p:nvSpPr>
        <p:spPr>
          <a:xfrm>
            <a:off x="10957255" y="6309360"/>
            <a:ext cx="731520" cy="320040"/>
          </a:xfrm>
          <a:prstGeom prst="rect">
            <a:avLst/>
          </a:prstGeom>
          <a:noFill/>
        </p:spPr>
        <p:txBody>
          <a:bodyPr wrap="square" lIns="0" rIns="0" tIns="0" bIns="0">
            <a:spAutoFit/>
          </a:bodyPr>
          <a:lstStyle/>
          <a:p>
            <a:pPr algn="r">
              <a:lnSpc>
                <a:spcPct val="100000"/>
              </a:lnSpc>
              <a:spcBef>
                <a:spcPts val="0"/>
              </a:spcBef>
              <a:defRPr sz="950" b="0" i="0">
                <a:solidFill>
                  <a:srgbClr val="667085"/>
                </a:solidFill>
                <a:latin typeface="Segoe UI"/>
              </a:defRPr>
            </a:pPr>
            <a:r>
              <a:t>10</a:t>
            </a:r>
          </a:p>
        </p:txBody>
      </p:sp>
      <p:sp>
        <p:nvSpPr>
          <p:cNvPr id="5" name="Rounded Rectangle 4"/>
          <p:cNvSpPr/>
          <p:nvPr/>
        </p:nvSpPr>
        <p:spPr>
          <a:xfrm>
            <a:off x="868680" y="1691640"/>
            <a:ext cx="5120640" cy="3291840"/>
          </a:xfrm>
          <a:prstGeom prst="roundRect">
            <a:avLst>
              <a:gd name="adj" fmla="val 7000"/>
            </a:avLst>
          </a:prstGeom>
          <a:solidFill>
            <a:srgbClr val="FFFFFF"/>
          </a:solidFill>
          <a:ln w="9525">
            <a:solidFill>
              <a:srgbClr val="E3E8EF"/>
            </a:solidFill>
          </a:ln>
          <a:effectLst/>
        </p:spPr>
        <p:style>
          <a:lnRef idx="1">
            <a:schemeClr val="accent1"/>
          </a:lnRef>
          <a:fillRef idx="3">
            <a:schemeClr val="accent1"/>
          </a:fillRef>
          <a:effectRef idx="2">
            <a:schemeClr val="accent1"/>
          </a:effectRef>
          <a:fontRef idx="minor">
            <a:schemeClr val="lt1"/>
          </a:fontRef>
        </p:style>
        <p:txBody>
          <a:bodyPr rtlCol="0" anchor="t" wrap="square" lIns="182880" rIns="182880" tIns="146304" bIns="109728"/>
          <a:lstStyle/>
          <a:p>
            <a:pPr algn="l">
              <a:lnSpc>
                <a:spcPct val="100000"/>
              </a:lnSpc>
              <a:spcBef>
                <a:spcPts val="0"/>
              </a:spcBef>
              <a:defRPr sz="1000" b="0" i="0">
                <a:solidFill>
                  <a:srgbClr val="0B8E36"/>
                </a:solidFill>
                <a:latin typeface="Segoe UI Semibold"/>
              </a:defRPr>
            </a:pPr>
            <a:r>
              <a:t>CE QUI A ÉTÉ RÉALISÉ</a:t>
            </a:r>
          </a:p>
          <a:p>
            <a:pPr algn="l">
              <a:lnSpc>
                <a:spcPct val="100000"/>
              </a:lnSpc>
              <a:spcBef>
                <a:spcPts val="600"/>
              </a:spcBef>
              <a:defRPr sz="1150" b="0" i="0">
                <a:solidFill>
                  <a:srgbClr val="101828"/>
                </a:solidFill>
                <a:latin typeface="Segoe UI"/>
              </a:defRPr>
            </a:pPr>
            <a:r>
              <a:rPr sz="1150">
                <a:solidFill>
                  <a:srgbClr val="0B8E36"/>
                </a:solidFill>
                <a:latin typeface="Segoe UI"/>
              </a:rPr>
              <a:t>✓  </a:t>
            </a:r>
            <a:r>
              <a:rPr sz="1150">
                <a:solidFill>
                  <a:srgbClr val="101828"/>
                </a:solidFill>
                <a:latin typeface="Segoe UI"/>
              </a:rPr>
              <a:t>Génération automatique du cours</a:t>
            </a:r>
          </a:p>
          <a:p>
            <a:pPr algn="l">
              <a:lnSpc>
                <a:spcPct val="100000"/>
              </a:lnSpc>
              <a:spcBef>
                <a:spcPts val="600"/>
              </a:spcBef>
              <a:defRPr sz="1150" b="0" i="0">
                <a:solidFill>
                  <a:srgbClr val="101828"/>
                </a:solidFill>
                <a:latin typeface="Segoe UI"/>
              </a:defRPr>
            </a:pPr>
            <a:r>
              <a:rPr sz="1150">
                <a:solidFill>
                  <a:srgbClr val="0B8E36"/>
                </a:solidFill>
                <a:latin typeface="Segoe UI"/>
              </a:rPr>
              <a:t>✓  </a:t>
            </a:r>
            <a:r>
              <a:rPr sz="1150">
                <a:solidFill>
                  <a:srgbClr val="101828"/>
                </a:solidFill>
                <a:latin typeface="Segoe UI"/>
              </a:rPr>
              <a:t>Chapitres courts</a:t>
            </a:r>
          </a:p>
          <a:p>
            <a:pPr algn="l">
              <a:lnSpc>
                <a:spcPct val="100000"/>
              </a:lnSpc>
              <a:spcBef>
                <a:spcPts val="600"/>
              </a:spcBef>
              <a:defRPr sz="1150" b="0" i="0">
                <a:solidFill>
                  <a:srgbClr val="101828"/>
                </a:solidFill>
                <a:latin typeface="Segoe UI"/>
              </a:defRPr>
            </a:pPr>
            <a:r>
              <a:rPr sz="1150">
                <a:solidFill>
                  <a:srgbClr val="0B8E36"/>
                </a:solidFill>
                <a:latin typeface="Segoe UI"/>
              </a:rPr>
              <a:t>✓  </a:t>
            </a:r>
            <a:r>
              <a:rPr sz="1150">
                <a:solidFill>
                  <a:srgbClr val="101828"/>
                </a:solidFill>
                <a:latin typeface="Segoe UI"/>
              </a:rPr>
              <a:t>Narration + voix synthétique</a:t>
            </a:r>
          </a:p>
          <a:p>
            <a:pPr algn="l">
              <a:lnSpc>
                <a:spcPct val="100000"/>
              </a:lnSpc>
              <a:spcBef>
                <a:spcPts val="600"/>
              </a:spcBef>
              <a:defRPr sz="1150" b="0" i="0">
                <a:solidFill>
                  <a:srgbClr val="101828"/>
                </a:solidFill>
                <a:latin typeface="Segoe UI"/>
              </a:defRPr>
            </a:pPr>
            <a:r>
              <a:rPr sz="1150">
                <a:solidFill>
                  <a:srgbClr val="0B8E36"/>
                </a:solidFill>
                <a:latin typeface="Segoe UI"/>
              </a:rPr>
              <a:t>✓  </a:t>
            </a:r>
            <a:r>
              <a:rPr sz="1150">
                <a:solidFill>
                  <a:srgbClr val="101828"/>
                </a:solidFill>
                <a:latin typeface="Segoe UI"/>
              </a:rPr>
              <a:t>Visuels et animations</a:t>
            </a:r>
          </a:p>
          <a:p>
            <a:pPr algn="l">
              <a:lnSpc>
                <a:spcPct val="100000"/>
              </a:lnSpc>
              <a:spcBef>
                <a:spcPts val="600"/>
              </a:spcBef>
              <a:defRPr sz="1150" b="0" i="0">
                <a:solidFill>
                  <a:srgbClr val="101828"/>
                </a:solidFill>
                <a:latin typeface="Segoe UI"/>
              </a:defRPr>
            </a:pPr>
            <a:r>
              <a:rPr sz="1150">
                <a:solidFill>
                  <a:srgbClr val="0B8E36"/>
                </a:solidFill>
                <a:latin typeface="Segoe UI"/>
              </a:rPr>
              <a:t>✓  </a:t>
            </a:r>
            <a:r>
              <a:rPr sz="1150">
                <a:solidFill>
                  <a:srgbClr val="101828"/>
                </a:solidFill>
                <a:latin typeface="Segoe UI"/>
              </a:rPr>
              <a:t>Sous-titres</a:t>
            </a:r>
          </a:p>
          <a:p>
            <a:pPr algn="l">
              <a:lnSpc>
                <a:spcPct val="100000"/>
              </a:lnSpc>
              <a:spcBef>
                <a:spcPts val="600"/>
              </a:spcBef>
              <a:defRPr sz="1150" b="0" i="0">
                <a:solidFill>
                  <a:srgbClr val="101828"/>
                </a:solidFill>
                <a:latin typeface="Segoe UI"/>
              </a:defRPr>
            </a:pPr>
            <a:r>
              <a:rPr sz="1150">
                <a:solidFill>
                  <a:srgbClr val="0B8E36"/>
                </a:solidFill>
                <a:latin typeface="Segoe UI"/>
              </a:rPr>
              <a:t>✓  </a:t>
            </a:r>
            <a:r>
              <a:rPr sz="1150">
                <a:solidFill>
                  <a:srgbClr val="101828"/>
                </a:solidFill>
                <a:latin typeface="Segoe UI"/>
              </a:rPr>
              <a:t>Quiz final</a:t>
            </a:r>
          </a:p>
          <a:p>
            <a:pPr algn="l">
              <a:lnSpc>
                <a:spcPct val="100000"/>
              </a:lnSpc>
              <a:spcBef>
                <a:spcPts val="600"/>
              </a:spcBef>
              <a:defRPr sz="1150" b="0" i="0">
                <a:solidFill>
                  <a:srgbClr val="101828"/>
                </a:solidFill>
                <a:latin typeface="Segoe UI"/>
              </a:defRPr>
            </a:pPr>
            <a:r>
              <a:rPr sz="1150">
                <a:solidFill>
                  <a:srgbClr val="0B8E36"/>
                </a:solidFill>
                <a:latin typeface="Segoe UI"/>
              </a:rPr>
              <a:t>✓  </a:t>
            </a:r>
            <a:r>
              <a:rPr sz="1150">
                <a:solidFill>
                  <a:srgbClr val="101828"/>
                </a:solidFill>
                <a:latin typeface="Segoe UI"/>
              </a:rPr>
              <a:t>Publication web</a:t>
            </a:r>
          </a:p>
          <a:p>
            <a:pPr algn="l">
              <a:lnSpc>
                <a:spcPct val="100000"/>
              </a:lnSpc>
              <a:spcBef>
                <a:spcPts val="600"/>
              </a:spcBef>
              <a:defRPr sz="1150" b="0" i="0">
                <a:solidFill>
                  <a:srgbClr val="101828"/>
                </a:solidFill>
                <a:latin typeface="Segoe UI"/>
              </a:defRPr>
            </a:pPr>
            <a:r>
              <a:rPr sz="1150">
                <a:solidFill>
                  <a:srgbClr val="0B8E36"/>
                </a:solidFill>
                <a:latin typeface="Segoe UI"/>
              </a:rPr>
              <a:t>✓  </a:t>
            </a:r>
            <a:r>
              <a:rPr sz="1150">
                <a:solidFill>
                  <a:srgbClr val="101828"/>
                </a:solidFill>
                <a:latin typeface="Segoe UI"/>
              </a:rPr>
              <a:t>Pipeline reproductible et reprenable</a:t>
            </a:r>
          </a:p>
        </p:txBody>
      </p:sp>
      <p:sp>
        <p:nvSpPr>
          <p:cNvPr id="6" name="Rounded Rectangle 5"/>
          <p:cNvSpPr/>
          <p:nvPr/>
        </p:nvSpPr>
        <p:spPr>
          <a:xfrm>
            <a:off x="6400800" y="1691640"/>
            <a:ext cx="4937760" cy="3291840"/>
          </a:xfrm>
          <a:prstGeom prst="roundRect">
            <a:avLst>
              <a:gd name="adj" fmla="val 7000"/>
            </a:avLst>
          </a:prstGeom>
          <a:solidFill>
            <a:srgbClr val="FFFFFF"/>
          </a:solidFill>
          <a:ln w="9525">
            <a:solidFill>
              <a:srgbClr val="E3E8EF"/>
            </a:solidFill>
          </a:ln>
          <a:effectLst/>
        </p:spPr>
        <p:style>
          <a:lnRef idx="1">
            <a:schemeClr val="accent1"/>
          </a:lnRef>
          <a:fillRef idx="3">
            <a:schemeClr val="accent1"/>
          </a:fillRef>
          <a:effectRef idx="2">
            <a:schemeClr val="accent1"/>
          </a:effectRef>
          <a:fontRef idx="minor">
            <a:schemeClr val="lt1"/>
          </a:fontRef>
        </p:style>
        <p:txBody>
          <a:bodyPr rtlCol="0" anchor="t" wrap="square" lIns="182880" rIns="182880" tIns="146304" bIns="109728"/>
          <a:lstStyle/>
          <a:p>
            <a:pPr algn="l">
              <a:lnSpc>
                <a:spcPct val="100000"/>
              </a:lnSpc>
              <a:spcBef>
                <a:spcPts val="0"/>
              </a:spcBef>
              <a:defRPr sz="1000" b="0" i="0">
                <a:solidFill>
                  <a:srgbClr val="4F5BD5"/>
                </a:solidFill>
                <a:latin typeface="Segoe UI Semibold"/>
              </a:defRPr>
            </a:pPr>
            <a:r>
              <a:t>PERSPECTIVES</a:t>
            </a:r>
          </a:p>
          <a:p>
            <a:pPr algn="l">
              <a:lnSpc>
                <a:spcPct val="100000"/>
              </a:lnSpc>
              <a:spcBef>
                <a:spcPts val="900"/>
              </a:spcBef>
              <a:defRPr sz="1150" b="0" i="0">
                <a:solidFill>
                  <a:srgbClr val="101828"/>
                </a:solidFill>
                <a:latin typeface="Segoe UI"/>
              </a:defRPr>
            </a:pPr>
            <a:r>
              <a:rPr sz="1150">
                <a:solidFill>
                  <a:srgbClr val="4F5BD5"/>
                </a:solidFill>
                <a:latin typeface="Segoe UI"/>
              </a:rPr>
              <a:t>→  </a:t>
            </a:r>
            <a:r>
              <a:rPr sz="1150">
                <a:solidFill>
                  <a:srgbClr val="101828"/>
                </a:solidFill>
                <a:latin typeface="Segoe UI"/>
              </a:rPr>
              <a:t>Améliorer l'exhaustivité des informations</a:t>
            </a:r>
          </a:p>
          <a:p>
            <a:pPr algn="l">
              <a:lnSpc>
                <a:spcPct val="100000"/>
              </a:lnSpc>
              <a:spcBef>
                <a:spcPts val="900"/>
              </a:spcBef>
              <a:defRPr sz="1150" b="0" i="0">
                <a:solidFill>
                  <a:srgbClr val="101828"/>
                </a:solidFill>
                <a:latin typeface="Segoe UI"/>
              </a:defRPr>
            </a:pPr>
            <a:r>
              <a:rPr sz="1150">
                <a:solidFill>
                  <a:srgbClr val="4F5BD5"/>
                </a:solidFill>
                <a:latin typeface="Segoe UI"/>
              </a:rPr>
              <a:t>→  </a:t>
            </a:r>
            <a:r>
              <a:rPr sz="1150">
                <a:solidFill>
                  <a:srgbClr val="101828"/>
                </a:solidFill>
                <a:latin typeface="Segoe UI"/>
              </a:rPr>
              <a:t>Étendre les types de contenus supportés</a:t>
            </a:r>
          </a:p>
          <a:p>
            <a:pPr algn="l">
              <a:lnSpc>
                <a:spcPct val="100000"/>
              </a:lnSpc>
              <a:spcBef>
                <a:spcPts val="900"/>
              </a:spcBef>
              <a:defRPr sz="1150" b="0" i="0">
                <a:solidFill>
                  <a:srgbClr val="101828"/>
                </a:solidFill>
                <a:latin typeface="Segoe UI"/>
              </a:defRPr>
            </a:pPr>
            <a:r>
              <a:rPr sz="1150">
                <a:solidFill>
                  <a:srgbClr val="4F5BD5"/>
                </a:solidFill>
                <a:latin typeface="Segoe UI"/>
              </a:rPr>
              <a:t>→  </a:t>
            </a:r>
            <a:r>
              <a:rPr sz="1150">
                <a:solidFill>
                  <a:srgbClr val="101828"/>
                </a:solidFill>
                <a:latin typeface="Segoe UI"/>
              </a:rPr>
              <a:t>Enrichir les modèles de schémas</a:t>
            </a:r>
          </a:p>
          <a:p>
            <a:pPr algn="l">
              <a:lnSpc>
                <a:spcPct val="100000"/>
              </a:lnSpc>
              <a:spcBef>
                <a:spcPts val="900"/>
              </a:spcBef>
              <a:defRPr sz="1150" b="0" i="0">
                <a:solidFill>
                  <a:srgbClr val="101828"/>
                </a:solidFill>
                <a:latin typeface="Segoe UI"/>
              </a:defRPr>
            </a:pPr>
            <a:r>
              <a:rPr sz="1150">
                <a:solidFill>
                  <a:srgbClr val="4F5BD5"/>
                </a:solidFill>
                <a:latin typeface="Segoe UI"/>
              </a:rPr>
              <a:t>→  </a:t>
            </a:r>
            <a:r>
              <a:rPr sz="1150">
                <a:solidFill>
                  <a:srgbClr val="101828"/>
                </a:solidFill>
                <a:latin typeface="Segoe UI"/>
              </a:rPr>
              <a:t>Développer davantage le suivi des apprenants</a:t>
            </a:r>
          </a:p>
          <a:p>
            <a:pPr algn="l">
              <a:lnSpc>
                <a:spcPct val="100000"/>
              </a:lnSpc>
              <a:spcBef>
                <a:spcPts val="900"/>
              </a:spcBef>
              <a:defRPr sz="1150" b="0" i="0">
                <a:solidFill>
                  <a:srgbClr val="101828"/>
                </a:solidFill>
                <a:latin typeface="Segoe UI"/>
              </a:defRPr>
            </a:pPr>
            <a:r>
              <a:rPr sz="1150">
                <a:solidFill>
                  <a:srgbClr val="4F5BD5"/>
                </a:solidFill>
                <a:latin typeface="Segoe UI"/>
              </a:rPr>
              <a:t>→  </a:t>
            </a:r>
            <a:r>
              <a:rPr sz="1150">
                <a:solidFill>
                  <a:srgbClr val="101828"/>
                </a:solidFill>
                <a:latin typeface="Segoe UI"/>
              </a:rPr>
              <a:t>Passage à une utilisation de production</a:t>
            </a:r>
          </a:p>
        </p:txBody>
      </p:sp>
      <p:sp>
        <p:nvSpPr>
          <p:cNvPr id="7" name="Rounded Rectangle 6"/>
          <p:cNvSpPr/>
          <p:nvPr/>
        </p:nvSpPr>
        <p:spPr>
          <a:xfrm>
            <a:off x="868680" y="5212080"/>
            <a:ext cx="10454335" cy="868680"/>
          </a:xfrm>
          <a:prstGeom prst="roundRect">
            <a:avLst>
              <a:gd name="adj" fmla="val 6000"/>
            </a:avLst>
          </a:prstGeom>
          <a:solidFill>
            <a:srgbClr val="F7F9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146304" bIns="109728"/>
          <a:lstStyle/>
          <a:p>
            <a:pPr algn="ctr">
              <a:lnSpc>
                <a:spcPct val="100000"/>
              </a:lnSpc>
              <a:spcBef>
                <a:spcPts val="0"/>
              </a:spcBef>
              <a:defRPr sz="1700" b="0" i="0">
                <a:solidFill>
                  <a:srgbClr val="101828"/>
                </a:solidFill>
                <a:latin typeface="Segoe UI Light"/>
              </a:defRPr>
            </a:pPr>
            <a:r>
              <a:t>Du support de formation au cours e-learning : une chaîne de production automatisée par IA.</a:t>
            </a:r>
          </a:p>
        </p:txBody>
      </p:sp>
      <p:sp>
        <p:nvSpPr>
          <p:cNvPr id="8" name="TextBox 7"/>
          <p:cNvSpPr txBox="1"/>
          <p:nvPr/>
        </p:nvSpPr>
        <p:spPr>
          <a:xfrm>
            <a:off x="868680" y="6263640"/>
            <a:ext cx="10454335" cy="411480"/>
          </a:xfrm>
          <a:prstGeom prst="rect">
            <a:avLst/>
          </a:prstGeom>
          <a:noFill/>
        </p:spPr>
        <p:txBody>
          <a:bodyPr wrap="square" lIns="0" rIns="0" tIns="0" bIns="0">
            <a:spAutoFit/>
          </a:bodyPr>
          <a:lstStyle/>
          <a:p>
            <a:pPr algn="ctr">
              <a:lnSpc>
                <a:spcPct val="100000"/>
              </a:lnSpc>
              <a:spcBef>
                <a:spcPts val="0"/>
              </a:spcBef>
              <a:defRPr sz="1400" b="0" i="0">
                <a:solidFill>
                  <a:srgbClr val="00ABC8"/>
                </a:solidFill>
                <a:latin typeface="Segoe UI Semibold"/>
              </a:defRPr>
            </a:pPr>
            <a:r>
              <a:t>Merci pour votre attention.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