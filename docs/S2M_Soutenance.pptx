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p>
            <a:r>
              <a:t>Bonjour. Je m'appelle Hala Sadoumi, quatrième année intelligence artificielle et data science à l'EMSI. J'ai effectué mon stage chez S2M Casablanca, au département des ressources humaines. Le projet tient en trois mots : un support de formation en PDF, une chaîne d'intelligence artificielle, un cours e-learning complet.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a:t>
            </a:r>
          </a:p>
          <a:p/>
          <a:p>
            <a:r>
              <a:t>Voici le chemin que je vous propose. Je commence par le contexte et la problématique, puis je présente brièvement S2M et le département qui m'a accueillie. Je passe ensuite aux objectifs et à la solution retenue, à la conception — les diagrammes et le pipeline —, puis au fonctionnement étape par étape. Je termine par les technologies, les résultats obtenus et les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a:t>
            </a:r>
          </a:p>
          <a:p/>
          <a:p>
            <a:r>
              <a:t>Une entreprise produit régulièrement des supports de formation. Les transformer en cours e-learning suppose de les analyser, de les scénariser, d'enregistrer une voix, de monter, de sous-titrer, puis de publier. Chaque étape est manuelle, et l'ensemble se compte en jours par formation. Sur un catalogue entier, l'effort devient prohibitif. La question qui a guidé tout le projet est donc celle-ci : comment automatiser cette transformation de bout en bout, sans perdre la qualité pédagogique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a:t>
            </a:r>
          </a:p>
          <a:p/>
          <a:p>
            <a:r>
              <a:t>S2M est une entreprise marocaine spécialisée dans la monétique : elle édite des solutions logicielles de paiement, fournit les moyens de paiement physiques, et exploite ces systèmes pour ses clients en mode service. Mon stage s'est déroulé au département des ressources humaines, sur le volet formation — et ce rattachement compte : le commanditaire n'était pas une équipe technique, mais le service qui doit rendre ses formations accessibles et consultables.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a:t>
            </a:r>
          </a:p>
          <a:p/>
          <a:p>
            <a:r>
              <a:t>La solution tient en une transformation. En entrée, le support PDF existant. Au centre, une chaîne d'intelligence artificielle qui comprend le document, rédige le contenu et le structure. En sortie, un cours e-learning complet. Autour de ce flux, les huit objectifs du cahier des charges : des chapitres de moins de cinq minutes, une narration pédagogique et non un résumé, une voix de synthèse, des schémas animés, des sous-titres calés sur la parole, une évaluation finale, la publication web — et une chaîne automatisée, reprenable.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p>
            <a:r>
              <a:t>Le diagramme de cas d'utilisation fixe les frontières du système. Deux acteurs humains : le producteur de cours, c'est-à-dire le service formation, qui dépose le support et lance la production ; et l'apprenant, qui consulte le catalogue, lit les vidéos, active les sous-titres et passe l'évaluation. À gauche, trois acteurs externes que le système appelle sans les posséder : le modèle de rédaction, la synthèse vocale et le service d'images. Le point à retenir est qu'il y a deux usages bien séparés : produire, puis apprendre.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p>
            <a:r>
              <a:t>Le diagramme de classes décrit les données manipulées. La racine est la Production : elle porte son état et le dernier étage validé, et c'est précisément ce qui permet de reprendre une production interrompue au lieu de tout recommencer. En dessous, la hiérarchie du contenu : un cours contient des chapitres, un chapitre contient des séquences, et chaque séquence porte son schéma animé et son arrière-plan. À droite, les neuf états d'étage, un par étape, avec les artefacts écrits. Les losanges pleins sont des compositions : supprimer une production supprime tout ce qu'elle contient.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a:t>
            </a:r>
          </a:p>
          <a:p/>
          <a:p>
            <a:r>
              <a:t>Le diagramme d'activité décrit le déroulement d'une production. À gauche, le dépôt : on contrôle que le PDF a bien une couche texte et que le quiz est lisible, et on refuse tout de suite si ce n'est pas le cas — c'était un défaut du premier prototype, qui échouait après une heure et demie de traitement. À droite, la boucle : si une production antérieure a été interrompue, on relit le dernier étage validé et on repart au suivant, sinon on démarre à l'étage un. Chaque étage écrit ses artefacts et son état de validation. En cas d'échec bloquant, ce qui a été acquis est conservé.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a:t>
            </a:r>
          </a:p>
          <a:p/>
          <a:p>
            <a:r>
              <a:t>Voici l'enchaînement complet. Neuf étapes, de la lecture du support jusqu'à la publication, et sur chaque flèche ce qui circule : les unités de contenu, les narrations, les phrases et leurs repères temporels, les schémas animés, les arrière-plans. Le principe qui tient tout l'ensemble est simple : chaque étape lit des fichiers et en écrit d'autres, rien n'est gardé en mémoire. De là viennent les quatre propriétés : la chaîne est modulaire, reproductible, elle reprend après une interruption, et chaque étape se contrôle indépendamment. Les deux notes jaunes sont des contraintes du cahier des charges : le repli au fond uni si le service d'images est indisponible, et une seule production rendue à la fois. En bas à gauche, le studio : c'est de là que la production se lance, sans terminal. Je vais maintenant reprendre ces neuf étapes une par une.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Le texte seul ne suffit pas : quatre diapositives du support portaient leurs chiffres dans des graphiques. C'est pour cela que chaque page est aussi rendue en image, et que les deux sont fournis au modèle. Les pages de séparation sont reconnues par une règle qui ne présuppose rien du sujet : moins de soixante-dix caractères, plus de quatre-vingts pour cent de capitales.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C'est l'étape qui décide de la valeur pédagogique du résultat. Une diapositive porte des mots-clés ; la narration doit en faire un enseignement. Sur le support traité, mille quatre cent cinq mots de source sont devenus deux mille six cent vingt-cinq mots de narration — le système produit plus de texte qu'il n'en lit.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Une narration de trois cents mots ne peut pas être portée par une seule image fixe. Le point délicat est que le modèle découpe sans réécrire : si le texte changeait ici, la voix ne correspondrait plus à ce qui a été validé à l'étape précédente. D'où le contrôle de conservation.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Le moteur a été retenu pour une propriété rarement mise en avant : il renvoie, pour chaque phrase, l'instant où elle commence et celui où elle finit. Ces repères servent deux fois — ils donnent la durée exacte de chaque scène, et ils calent les sous-titres sur la parole réelle. Aucune des deux valeurs n'est estimée.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Les sous-titres remplissent une fonction d'accessibilité qui dépasse le confort : un collaborateur sourd, ou en environnement bruyant, ne suit le cours que par eux. Et comme ils sont calés sur la parole réelle et non estimés, il n'y a pas de dérive au fil du chapitre.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C'est le choix de conception le plus caractéristique du système. Le modèle ne dessine pas et ne décrit pas librement une image : il choisit une forme dans une liste fermée. Cette ignorance délibérée du sujet est ce qui permet de traiter n'importe quel support sans réécrire le système. Dix-sept formes distinctes ont été employées sur les soixante-huit scènes du cours.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Un modèle de diffusion ne produit pas de texte lisible : il génère des formes qui ressemblent à des lettres sans en être. Toute information portée par une image générée serait donc illisible. C'est la raison pour laquelle les schémas sont dessinés par du code, et pourquoi ces images restent cantonnées à l'ambiance.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C'est l'étape la plus longue de la chaîne : elle occupe l'essentiel du temps machine, environ une heure et demie. La vidéo n'est pas montée, elle est programmée : chaque scène est un composant React dont l'image dépend du seul numéro d'image. C'est ce qui la rend reproductible au bit près.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a:t>
            </a:r>
          </a:p>
          <a:p/>
          <a:p>
            <a:r>
              <a:t>La dernière étape écrit, dans le dossier que la plateforme relit au chargement, tout ce dont un apprenant a besoin : les vidéos, les pistes de sous-titres, le quiz, une vignette et le support d'origine téléchargeable. Le quiz officiel des formateurs est repris tel quel plutôt que généré : il reflète ce que les auteurs veulent réellement vérifier.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a:t>
            </a:r>
          </a:p>
          <a:p/>
          <a:p>
            <a:r>
              <a:t>Les outils, par rôle. PyMuPDF lit le PDF : il extrait le texte et rend la page en image avec la même bibliothèque. Gemini est le modèle de langage, multimodal, ce qui lui permet de lire un graphique. Pydantic déclare la forme attendue de chaque réponse, et cette déclaration sert deux fois : elle contraint le modèle et valide sa sortie. edge-tts produit la voix française. Remotion et FFmpeg rendent la vidéo. FastAPI porte le studio. python-docx lit le quiz officiel. Et pytest couvre les fonctions qui décident. Point important : rien de tout cela ne demande de carte graphique, ce qui était une contrainte du cahier des charges.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 s]</a:t>
            </a:r>
          </a:p>
          <a:p/>
          <a:p>
            <a:r>
              <a:t>Voici ce que le système produit réellement, sur le support de validation. Vingt-huit pages en entrée donnent huit chapitres, dix-sept minutes de cours, soixante-huit scènes animées, cent dix sous-titres et huit questions d'évaluation. Le chapitre le plus long fait trois minutes quinze, pour une exigence fixée à cinq minutes : l'objectif est tenu avec de la marge. À droite, six scènes du cours produit — aucune n'est une capture du PDF, tout est redessiné.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a:t>
            </a:r>
          </a:p>
          <a:p/>
          <a:p>
            <a:r>
              <a:t>La validation s'est faite à deux niveaux. Trente et un tests automatisés couvrent les fonctions qui décident : le pipeline, le traitement des données, la reprise après interruption, la cohérence des résultats. Mais un système qui fabrique du contenu ne se valide pas uniquement par des tests sur son code : il a fallu regarder la vidéo, écouter l'audio, vérifier les sous-titres, les visuels et les durées. Résultat : sept objectifs sur huit entièrement atteints, et sept valeurs chiffrées sur huit reprises. Une valeur manque. Je le dis clairement parce que c'est un axe d'amélioration identifié, et non un résultat que je cherche à masquer.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a:t>
            </a:r>
          </a:p>
          <a:p/>
          <a:p>
            <a:r>
              <a:t>Pour conclure. Le système génère automatiquement un cours complet à partir d'un support PDF : des chapitres courts, une narration portée par une voix de synthèse, des visuels animés, des sous-titres, un quiz final, et la publication web — le tout par une chaîne reproductible et reprenable. Les perspectives sont claires : améliorer l'exhaustivité des informations reprises, étendre les types de contenus acceptés, enrichir les modèles de schémas, développer le suivi des apprenants, et passer à une utilisation de production. Je vous remercie de votre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Oval 1"/>
          <p:cNvSpPr/>
          <p:nvPr/>
        </p:nvSpPr>
        <p:spPr>
          <a:xfrm>
            <a:off x="6903720" y="1051560"/>
            <a:ext cx="4206240" cy="4206240"/>
          </a:xfrm>
          <a:prstGeom prst="ellipse">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38360" y="1371600"/>
            <a:ext cx="1234440" cy="1234440"/>
          </a:xfrm>
          <a:prstGeom prst="ellipse">
            <a:avLst/>
          </a:prstGeom>
          <a:solidFill>
            <a:srgbClr val="7FB2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2m_transparent.png"/>
          <p:cNvPicPr>
            <a:picLocks noChangeAspect="1"/>
          </p:cNvPicPr>
          <p:nvPr/>
        </p:nvPicPr>
        <p:blipFill>
          <a:blip r:embed="rId2"/>
          <a:stretch>
            <a:fillRect/>
          </a:stretch>
        </p:blipFill>
        <p:spPr>
          <a:xfrm>
            <a:off x="8092440" y="2834640"/>
            <a:ext cx="1828800" cy="610633"/>
          </a:xfrm>
          <a:prstGeom prst="rect">
            <a:avLst/>
          </a:prstGeom>
        </p:spPr>
      </p:pic>
      <p:pic>
        <p:nvPicPr>
          <p:cNvPr id="5" name="Picture 4" descr="emsi_honoris.png"/>
          <p:cNvPicPr>
            <a:picLocks noChangeAspect="1"/>
          </p:cNvPicPr>
          <p:nvPr/>
        </p:nvPicPr>
        <p:blipFill>
          <a:blip r:embed="rId3"/>
          <a:stretch>
            <a:fillRect/>
          </a:stretch>
        </p:blipFill>
        <p:spPr>
          <a:xfrm>
            <a:off x="914400" y="566928"/>
            <a:ext cx="2468880" cy="540068"/>
          </a:xfrm>
          <a:prstGeom prst="rect">
            <a:avLst/>
          </a:prstGeom>
        </p:spPr>
      </p:pic>
      <p:sp>
        <p:nvSpPr>
          <p:cNvPr id="6" name="Rectangle 5"/>
          <p:cNvSpPr/>
          <p:nvPr/>
        </p:nvSpPr>
        <p:spPr>
          <a:xfrm>
            <a:off x="914400" y="1828800"/>
            <a:ext cx="32004" cy="16916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810512"/>
            <a:ext cx="5943600" cy="1737360"/>
          </a:xfrm>
          <a:prstGeom prst="rect">
            <a:avLst/>
          </a:prstGeom>
          <a:noFill/>
        </p:spPr>
        <p:txBody>
          <a:bodyPr wrap="square" lIns="0" rIns="0" tIns="0" bIns="0">
            <a:spAutoFit/>
          </a:bodyPr>
          <a:lstStyle/>
          <a:p>
            <a:pPr algn="l">
              <a:lnSpc>
                <a:spcPct val="112000"/>
              </a:lnSpc>
              <a:spcBef>
                <a:spcPts val="0"/>
              </a:spcBef>
              <a:defRPr sz="3400" b="0" i="1">
                <a:solidFill>
                  <a:srgbClr val="2B2B29"/>
                </a:solidFill>
                <a:latin typeface="Georgia"/>
              </a:defRPr>
            </a:pPr>
            <a:r>
              <a:t>Du support de formation</a:t>
            </a:r>
          </a:p>
          <a:p>
            <a:pPr algn="l">
              <a:lnSpc>
                <a:spcPct val="112000"/>
              </a:lnSpc>
              <a:spcBef>
                <a:spcPts val="0"/>
              </a:spcBef>
              <a:defRPr sz="3400" b="0" i="1">
                <a:solidFill>
                  <a:srgbClr val="2B2B29"/>
                </a:solidFill>
                <a:latin typeface="Georgia"/>
              </a:defRPr>
            </a:pPr>
            <a:r>
              <a:t>à l'e-learning,</a:t>
            </a:r>
          </a:p>
          <a:p>
            <a:pPr algn="l">
              <a:lnSpc>
                <a:spcPct val="120000"/>
              </a:lnSpc>
              <a:spcBef>
                <a:spcPts val="400"/>
              </a:spcBef>
              <a:defRPr sz="2600" b="0" i="0">
                <a:solidFill>
                  <a:srgbClr val="8C8C88"/>
                </a:solidFill>
                <a:latin typeface="Georgia"/>
              </a:defRPr>
            </a:pPr>
            <a:r>
              <a:t>par intelligence artificielle</a:t>
            </a:r>
          </a:p>
        </p:txBody>
      </p:sp>
      <p:sp>
        <p:nvSpPr>
          <p:cNvPr id="8" name="TextBox 7"/>
          <p:cNvSpPr txBox="1"/>
          <p:nvPr/>
        </p:nvSpPr>
        <p:spPr>
          <a:xfrm>
            <a:off x="1188720" y="3794760"/>
            <a:ext cx="5760720" cy="457200"/>
          </a:xfrm>
          <a:prstGeom prst="rect">
            <a:avLst/>
          </a:prstGeom>
          <a:noFill/>
        </p:spPr>
        <p:txBody>
          <a:bodyPr wrap="square" lIns="0" rIns="0" tIns="0" bIns="0">
            <a:spAutoFit/>
          </a:bodyPr>
          <a:lstStyle/>
          <a:p>
            <a:pPr algn="l">
              <a:lnSpc>
                <a:spcPct val="120000"/>
              </a:lnSpc>
              <a:spcBef>
                <a:spcPts val="0"/>
              </a:spcBef>
              <a:defRPr sz="1250" b="0" i="0">
                <a:solidFill>
                  <a:srgbClr val="1F6FB2"/>
                </a:solidFill>
                <a:latin typeface="Segoe UI"/>
              </a:defRPr>
            </a:pPr>
            <a:r>
              <a:t>Conception et réalisation d'un système automatisé de génération de cours vidéo</a:t>
            </a:r>
          </a:p>
        </p:txBody>
      </p:sp>
      <p:sp>
        <p:nvSpPr>
          <p:cNvPr id="9" name="Oval 8"/>
          <p:cNvSpPr/>
          <p:nvPr/>
        </p:nvSpPr>
        <p:spPr>
          <a:xfrm>
            <a:off x="914400" y="4773168"/>
            <a:ext cx="68580" cy="68580"/>
          </a:xfrm>
          <a:prstGeom prst="ellipse">
            <a:avLst/>
          </a:prstGeom>
          <a:solidFill>
            <a:srgbClr val="2B2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14984" y="4800600"/>
            <a:ext cx="137160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96312" y="4690872"/>
            <a:ext cx="4572000" cy="274320"/>
          </a:xfrm>
          <a:prstGeom prst="rect">
            <a:avLst/>
          </a:prstGeom>
          <a:noFill/>
        </p:spPr>
        <p:txBody>
          <a:bodyPr wrap="square" lIns="0" rIns="0" tIns="0" bIns="0">
            <a:spAutoFit/>
          </a:bodyPr>
          <a:lstStyle/>
          <a:p>
            <a:pPr algn="l">
              <a:lnSpc>
                <a:spcPct val="100000"/>
              </a:lnSpc>
              <a:spcBef>
                <a:spcPts val="0"/>
              </a:spcBef>
              <a:defRPr sz="1100" b="0" i="0">
                <a:solidFill>
                  <a:srgbClr val="8C8C88"/>
                </a:solidFill>
                <a:latin typeface="Segoe UI"/>
              </a:defRPr>
            </a:pPr>
            <a:r>
              <a:t>Réalisé par  ·  Hala Sadoumi</a:t>
            </a:r>
          </a:p>
        </p:txBody>
      </p:sp>
      <p:sp>
        <p:nvSpPr>
          <p:cNvPr id="12" name="Rectangle 11"/>
          <p:cNvSpPr/>
          <p:nvPr/>
        </p:nvSpPr>
        <p:spPr>
          <a:xfrm>
            <a:off x="914400" y="5120640"/>
            <a:ext cx="3931920" cy="38404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64008"/>
          <a:lstStyle/>
          <a:p>
            <a:pPr algn="ctr">
              <a:lnSpc>
                <a:spcPct val="100000"/>
              </a:lnSpc>
              <a:spcBef>
                <a:spcPts val="0"/>
              </a:spcBef>
              <a:defRPr sz="1000" b="0" i="0">
                <a:solidFill>
                  <a:srgbClr val="FFFFFF"/>
                </a:solidFill>
                <a:latin typeface="Segoe UI Semibold"/>
              </a:defRPr>
            </a:pPr>
            <a:r>
              <a:t>4ème année — Intelligence Artificielle &amp; Data Science</a:t>
            </a:r>
          </a:p>
        </p:txBody>
      </p:sp>
      <p:sp>
        <p:nvSpPr>
          <p:cNvPr id="13" name="TextBox 12"/>
          <p:cNvSpPr txBox="1"/>
          <p:nvPr/>
        </p:nvSpPr>
        <p:spPr>
          <a:xfrm>
            <a:off x="914400" y="5806440"/>
            <a:ext cx="5760720" cy="822960"/>
          </a:xfrm>
          <a:prstGeom prst="rect">
            <a:avLst/>
          </a:prstGeom>
          <a:noFill/>
        </p:spPr>
        <p:txBody>
          <a:bodyPr wrap="square" lIns="0" rIns="0" tIns="0" bIns="0">
            <a:spAutoFit/>
          </a:bodyPr>
          <a:lstStyle/>
          <a:p>
            <a:pPr algn="l">
              <a:lnSpc>
                <a:spcPct val="100000"/>
              </a:lnSpc>
              <a:spcBef>
                <a:spcPts val="0"/>
              </a:spcBef>
              <a:defRPr sz="1050" b="0" i="0">
                <a:solidFill>
                  <a:srgbClr val="8C8C88"/>
                </a:solidFill>
                <a:latin typeface="Segoe UI"/>
              </a:defRPr>
            </a:pPr>
            <a:r>
              <a:t>Encadrante professionnelle  ·  Mme Firdaous Bazhod</a:t>
            </a:r>
          </a:p>
          <a:p>
            <a:pPr algn="l">
              <a:lnSpc>
                <a:spcPct val="100000"/>
              </a:lnSpc>
              <a:spcBef>
                <a:spcPts val="300"/>
              </a:spcBef>
              <a:defRPr sz="1050" b="0" i="0">
                <a:solidFill>
                  <a:srgbClr val="8C8C88"/>
                </a:solidFill>
                <a:latin typeface="Segoe UI"/>
              </a:defRPr>
            </a:pPr>
            <a:r>
              <a:t>Encadrant pédagogique  ·  M. Hamza Abouabid</a:t>
            </a:r>
          </a:p>
          <a:p>
            <a:pPr algn="l">
              <a:lnSpc>
                <a:spcPct val="100000"/>
              </a:lnSpc>
              <a:spcBef>
                <a:spcPts val="300"/>
              </a:spcBef>
              <a:defRPr sz="1050" b="0" i="0">
                <a:solidFill>
                  <a:srgbClr val="8C8C88"/>
                </a:solidFill>
                <a:latin typeface="Segoe UI"/>
              </a:defRPr>
            </a:pPr>
            <a:r>
              <a:t>S2M Casablanca  ·  Année universitaire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L  E     C  H  E  M  I  N     Q  U  E     N  O  U  S     A  L  L  O  N  S     S  U  I  V  R  E</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Plan de la présentation</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2</a:t>
            </a:r>
          </a:p>
        </p:txBody>
      </p:sp>
      <p:sp>
        <p:nvSpPr>
          <p:cNvPr id="6" name="TextBox 5"/>
          <p:cNvSpPr txBox="1"/>
          <p:nvPr/>
        </p:nvSpPr>
        <p:spPr>
          <a:xfrm>
            <a:off x="914400" y="1965960"/>
            <a:ext cx="685800" cy="411480"/>
          </a:xfrm>
          <a:prstGeom prst="rect">
            <a:avLst/>
          </a:prstGeom>
          <a:noFill/>
        </p:spPr>
        <p:txBody>
          <a:bodyPr wrap="square" lIns="0" rIns="0" tIns="0" bIns="0">
            <a:spAutoFit/>
          </a:bodyPr>
          <a:lstStyle/>
          <a:p>
            <a:pPr algn="l">
              <a:lnSpc>
                <a:spcPct val="100000"/>
              </a:lnSpc>
              <a:spcBef>
                <a:spcPts val="0"/>
              </a:spcBef>
              <a:defRPr sz="1900" b="0" i="1">
                <a:solidFill>
                  <a:srgbClr val="7FB2D9"/>
                </a:solidFill>
                <a:latin typeface="Georgia"/>
              </a:defRPr>
            </a:pPr>
            <a:r>
              <a:t>01</a:t>
            </a:r>
          </a:p>
        </p:txBody>
      </p:sp>
      <p:sp>
        <p:nvSpPr>
          <p:cNvPr id="7" name="TextBox 6"/>
          <p:cNvSpPr txBox="1"/>
          <p:nvPr/>
        </p:nvSpPr>
        <p:spPr>
          <a:xfrm>
            <a:off x="1645920" y="1929384"/>
            <a:ext cx="4206240" cy="777240"/>
          </a:xfrm>
          <a:prstGeom prst="rect">
            <a:avLst/>
          </a:prstGeom>
          <a:noFill/>
        </p:spPr>
        <p:txBody>
          <a:bodyPr wrap="square" lIns="0" rIns="0" tIns="0" bIns="0">
            <a:spAutoFit/>
          </a:bodyPr>
          <a:lstStyle/>
          <a:p>
            <a:pPr algn="l">
              <a:lnSpc>
                <a:spcPct val="100000"/>
              </a:lnSpc>
              <a:spcBef>
                <a:spcPts val="0"/>
              </a:spcBef>
              <a:defRPr sz="1500" b="0" i="1">
                <a:solidFill>
                  <a:srgbClr val="2B2B29"/>
                </a:solidFill>
                <a:latin typeface="Georgia"/>
              </a:defRPr>
            </a:pPr>
            <a:r>
              <a:t>Contexte &amp; problématique</a:t>
            </a:r>
          </a:p>
          <a:p>
            <a:pPr algn="l">
              <a:lnSpc>
                <a:spcPct val="115000"/>
              </a:lnSpc>
              <a:spcBef>
                <a:spcPts val="400"/>
              </a:spcBef>
              <a:defRPr sz="1050" b="0" i="0">
                <a:solidFill>
                  <a:srgbClr val="8C8C88"/>
                </a:solidFill>
                <a:latin typeface="Segoe UI"/>
              </a:defRPr>
            </a:pPr>
            <a:r>
              <a:t>Pourquoi ce projet</a:t>
            </a:r>
          </a:p>
        </p:txBody>
      </p:sp>
      <p:sp>
        <p:nvSpPr>
          <p:cNvPr id="8" name="Rectangle 7"/>
          <p:cNvSpPr/>
          <p:nvPr/>
        </p:nvSpPr>
        <p:spPr>
          <a:xfrm>
            <a:off x="914400" y="2715768"/>
            <a:ext cx="484632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90088"/>
            <a:ext cx="685800" cy="411480"/>
          </a:xfrm>
          <a:prstGeom prst="rect">
            <a:avLst/>
          </a:prstGeom>
          <a:noFill/>
        </p:spPr>
        <p:txBody>
          <a:bodyPr wrap="square" lIns="0" rIns="0" tIns="0" bIns="0">
            <a:spAutoFit/>
          </a:bodyPr>
          <a:lstStyle/>
          <a:p>
            <a:pPr algn="l">
              <a:lnSpc>
                <a:spcPct val="100000"/>
              </a:lnSpc>
              <a:spcBef>
                <a:spcPts val="0"/>
              </a:spcBef>
              <a:defRPr sz="1900" b="0" i="1">
                <a:solidFill>
                  <a:srgbClr val="7FB2D9"/>
                </a:solidFill>
                <a:latin typeface="Georgia"/>
              </a:defRPr>
            </a:pPr>
            <a:r>
              <a:t>02</a:t>
            </a:r>
          </a:p>
        </p:txBody>
      </p:sp>
      <p:sp>
        <p:nvSpPr>
          <p:cNvPr id="10" name="TextBox 9"/>
          <p:cNvSpPr txBox="1"/>
          <p:nvPr/>
        </p:nvSpPr>
        <p:spPr>
          <a:xfrm>
            <a:off x="1645920" y="2953512"/>
            <a:ext cx="4206240" cy="777240"/>
          </a:xfrm>
          <a:prstGeom prst="rect">
            <a:avLst/>
          </a:prstGeom>
          <a:noFill/>
        </p:spPr>
        <p:txBody>
          <a:bodyPr wrap="square" lIns="0" rIns="0" tIns="0" bIns="0">
            <a:spAutoFit/>
          </a:bodyPr>
          <a:lstStyle/>
          <a:p>
            <a:pPr algn="l">
              <a:lnSpc>
                <a:spcPct val="100000"/>
              </a:lnSpc>
              <a:spcBef>
                <a:spcPts val="0"/>
              </a:spcBef>
              <a:defRPr sz="1500" b="0" i="1">
                <a:solidFill>
                  <a:srgbClr val="2B2B29"/>
                </a:solidFill>
                <a:latin typeface="Georgia"/>
              </a:defRPr>
            </a:pPr>
            <a:r>
              <a:t>S2M Casablanca</a:t>
            </a:r>
          </a:p>
          <a:p>
            <a:pPr algn="l">
              <a:lnSpc>
                <a:spcPct val="115000"/>
              </a:lnSpc>
              <a:spcBef>
                <a:spcPts val="400"/>
              </a:spcBef>
              <a:defRPr sz="1050" b="0" i="0">
                <a:solidFill>
                  <a:srgbClr val="8C8C88"/>
                </a:solidFill>
                <a:latin typeface="Segoe UI"/>
              </a:defRPr>
            </a:pPr>
            <a:r>
              <a:t>L'organisme d'accueil</a:t>
            </a:r>
          </a:p>
        </p:txBody>
      </p:sp>
      <p:sp>
        <p:nvSpPr>
          <p:cNvPr id="11" name="Rectangle 10"/>
          <p:cNvSpPr/>
          <p:nvPr/>
        </p:nvSpPr>
        <p:spPr>
          <a:xfrm>
            <a:off x="914400" y="3739896"/>
            <a:ext cx="484632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14216"/>
            <a:ext cx="685800" cy="411480"/>
          </a:xfrm>
          <a:prstGeom prst="rect">
            <a:avLst/>
          </a:prstGeom>
          <a:noFill/>
        </p:spPr>
        <p:txBody>
          <a:bodyPr wrap="square" lIns="0" rIns="0" tIns="0" bIns="0">
            <a:spAutoFit/>
          </a:bodyPr>
          <a:lstStyle/>
          <a:p>
            <a:pPr algn="l">
              <a:lnSpc>
                <a:spcPct val="100000"/>
              </a:lnSpc>
              <a:spcBef>
                <a:spcPts val="0"/>
              </a:spcBef>
              <a:defRPr sz="1900" b="0" i="1">
                <a:solidFill>
                  <a:srgbClr val="7FB2D9"/>
                </a:solidFill>
                <a:latin typeface="Georgia"/>
              </a:defRPr>
            </a:pPr>
            <a:r>
              <a:t>03</a:t>
            </a:r>
          </a:p>
        </p:txBody>
      </p:sp>
      <p:sp>
        <p:nvSpPr>
          <p:cNvPr id="13" name="TextBox 12"/>
          <p:cNvSpPr txBox="1"/>
          <p:nvPr/>
        </p:nvSpPr>
        <p:spPr>
          <a:xfrm>
            <a:off x="1645920" y="3977640"/>
            <a:ext cx="4206240" cy="777240"/>
          </a:xfrm>
          <a:prstGeom prst="rect">
            <a:avLst/>
          </a:prstGeom>
          <a:noFill/>
        </p:spPr>
        <p:txBody>
          <a:bodyPr wrap="square" lIns="0" rIns="0" tIns="0" bIns="0">
            <a:spAutoFit/>
          </a:bodyPr>
          <a:lstStyle/>
          <a:p>
            <a:pPr algn="l">
              <a:lnSpc>
                <a:spcPct val="100000"/>
              </a:lnSpc>
              <a:spcBef>
                <a:spcPts val="0"/>
              </a:spcBef>
              <a:defRPr sz="1500" b="0" i="1">
                <a:solidFill>
                  <a:srgbClr val="2B2B29"/>
                </a:solidFill>
                <a:latin typeface="Georgia"/>
              </a:defRPr>
            </a:pPr>
            <a:r>
              <a:t>Objectifs &amp; solution</a:t>
            </a:r>
          </a:p>
          <a:p>
            <a:pPr algn="l">
              <a:lnSpc>
                <a:spcPct val="115000"/>
              </a:lnSpc>
              <a:spcBef>
                <a:spcPts val="400"/>
              </a:spcBef>
              <a:defRPr sz="1050" b="0" i="0">
                <a:solidFill>
                  <a:srgbClr val="8C8C88"/>
                </a:solidFill>
                <a:latin typeface="Segoe UI"/>
              </a:defRPr>
            </a:pPr>
            <a:r>
              <a:t>Ce que le système doit faire</a:t>
            </a:r>
          </a:p>
        </p:txBody>
      </p:sp>
      <p:sp>
        <p:nvSpPr>
          <p:cNvPr id="14" name="Rectangle 13"/>
          <p:cNvSpPr/>
          <p:nvPr/>
        </p:nvSpPr>
        <p:spPr>
          <a:xfrm>
            <a:off x="914400" y="4764024"/>
            <a:ext cx="484632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038344"/>
            <a:ext cx="685800" cy="411480"/>
          </a:xfrm>
          <a:prstGeom prst="rect">
            <a:avLst/>
          </a:prstGeom>
          <a:noFill/>
        </p:spPr>
        <p:txBody>
          <a:bodyPr wrap="square" lIns="0" rIns="0" tIns="0" bIns="0">
            <a:spAutoFit/>
          </a:bodyPr>
          <a:lstStyle/>
          <a:p>
            <a:pPr algn="l">
              <a:lnSpc>
                <a:spcPct val="100000"/>
              </a:lnSpc>
              <a:spcBef>
                <a:spcPts val="0"/>
              </a:spcBef>
              <a:defRPr sz="1900" b="0" i="1">
                <a:solidFill>
                  <a:srgbClr val="7FB2D9"/>
                </a:solidFill>
                <a:latin typeface="Georgia"/>
              </a:defRPr>
            </a:pPr>
            <a:r>
              <a:t>04</a:t>
            </a:r>
          </a:p>
        </p:txBody>
      </p:sp>
      <p:sp>
        <p:nvSpPr>
          <p:cNvPr id="16" name="TextBox 15"/>
          <p:cNvSpPr txBox="1"/>
          <p:nvPr/>
        </p:nvSpPr>
        <p:spPr>
          <a:xfrm>
            <a:off x="1645920" y="5001768"/>
            <a:ext cx="4206240" cy="777240"/>
          </a:xfrm>
          <a:prstGeom prst="rect">
            <a:avLst/>
          </a:prstGeom>
          <a:noFill/>
        </p:spPr>
        <p:txBody>
          <a:bodyPr wrap="square" lIns="0" rIns="0" tIns="0" bIns="0">
            <a:spAutoFit/>
          </a:bodyPr>
          <a:lstStyle/>
          <a:p>
            <a:pPr algn="l">
              <a:lnSpc>
                <a:spcPct val="100000"/>
              </a:lnSpc>
              <a:spcBef>
                <a:spcPts val="0"/>
              </a:spcBef>
              <a:defRPr sz="1500" b="0" i="1">
                <a:solidFill>
                  <a:srgbClr val="2B2B29"/>
                </a:solidFill>
                <a:latin typeface="Georgia"/>
              </a:defRPr>
            </a:pPr>
            <a:r>
              <a:t>Conception</a:t>
            </a:r>
          </a:p>
          <a:p>
            <a:pPr algn="l">
              <a:lnSpc>
                <a:spcPct val="115000"/>
              </a:lnSpc>
              <a:spcBef>
                <a:spcPts val="400"/>
              </a:spcBef>
              <a:defRPr sz="1050" b="0" i="0">
                <a:solidFill>
                  <a:srgbClr val="8C8C88"/>
                </a:solidFill>
                <a:latin typeface="Segoe UI"/>
              </a:defRPr>
            </a:pPr>
            <a:r>
              <a:t>Cas d'utilisation, classes, activité, pipeline</a:t>
            </a:r>
          </a:p>
        </p:txBody>
      </p:sp>
      <p:sp>
        <p:nvSpPr>
          <p:cNvPr id="17" name="Rectangle 16"/>
          <p:cNvSpPr/>
          <p:nvPr/>
        </p:nvSpPr>
        <p:spPr>
          <a:xfrm>
            <a:off x="914400" y="5788152"/>
            <a:ext cx="484632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965960"/>
            <a:ext cx="685800" cy="411480"/>
          </a:xfrm>
          <a:prstGeom prst="rect">
            <a:avLst/>
          </a:prstGeom>
          <a:noFill/>
        </p:spPr>
        <p:txBody>
          <a:bodyPr wrap="square" lIns="0" rIns="0" tIns="0" bIns="0">
            <a:spAutoFit/>
          </a:bodyPr>
          <a:lstStyle/>
          <a:p>
            <a:pPr algn="l">
              <a:lnSpc>
                <a:spcPct val="100000"/>
              </a:lnSpc>
              <a:spcBef>
                <a:spcPts val="0"/>
              </a:spcBef>
              <a:defRPr sz="1900" b="0" i="1">
                <a:solidFill>
                  <a:srgbClr val="7FB2D9"/>
                </a:solidFill>
                <a:latin typeface="Georgia"/>
              </a:defRPr>
            </a:pPr>
            <a:r>
              <a:t>05</a:t>
            </a:r>
          </a:p>
        </p:txBody>
      </p:sp>
      <p:sp>
        <p:nvSpPr>
          <p:cNvPr id="19" name="TextBox 18"/>
          <p:cNvSpPr txBox="1"/>
          <p:nvPr/>
        </p:nvSpPr>
        <p:spPr>
          <a:xfrm>
            <a:off x="6995159" y="1929384"/>
            <a:ext cx="4206240" cy="777240"/>
          </a:xfrm>
          <a:prstGeom prst="rect">
            <a:avLst/>
          </a:prstGeom>
          <a:noFill/>
        </p:spPr>
        <p:txBody>
          <a:bodyPr wrap="square" lIns="0" rIns="0" tIns="0" bIns="0">
            <a:spAutoFit/>
          </a:bodyPr>
          <a:lstStyle/>
          <a:p>
            <a:pPr algn="l">
              <a:lnSpc>
                <a:spcPct val="100000"/>
              </a:lnSpc>
              <a:spcBef>
                <a:spcPts val="0"/>
              </a:spcBef>
              <a:defRPr sz="1500" b="0" i="1">
                <a:solidFill>
                  <a:srgbClr val="2B2B29"/>
                </a:solidFill>
                <a:latin typeface="Georgia"/>
              </a:defRPr>
            </a:pPr>
            <a:r>
              <a:t>Les neuf étapes</a:t>
            </a:r>
          </a:p>
          <a:p>
            <a:pPr algn="l">
              <a:lnSpc>
                <a:spcPct val="115000"/>
              </a:lnSpc>
              <a:spcBef>
                <a:spcPts val="400"/>
              </a:spcBef>
              <a:defRPr sz="1050" b="0" i="0">
                <a:solidFill>
                  <a:srgbClr val="8C8C88"/>
                </a:solidFill>
                <a:latin typeface="Segoe UI"/>
              </a:defRPr>
            </a:pPr>
            <a:r>
              <a:t>Le fonctionnement, étape par étape</a:t>
            </a:r>
          </a:p>
        </p:txBody>
      </p:sp>
      <p:sp>
        <p:nvSpPr>
          <p:cNvPr id="20" name="Rectangle 19"/>
          <p:cNvSpPr/>
          <p:nvPr/>
        </p:nvSpPr>
        <p:spPr>
          <a:xfrm>
            <a:off x="6263640" y="2715768"/>
            <a:ext cx="484632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2990088"/>
            <a:ext cx="685800" cy="411480"/>
          </a:xfrm>
          <a:prstGeom prst="rect">
            <a:avLst/>
          </a:prstGeom>
          <a:noFill/>
        </p:spPr>
        <p:txBody>
          <a:bodyPr wrap="square" lIns="0" rIns="0" tIns="0" bIns="0">
            <a:spAutoFit/>
          </a:bodyPr>
          <a:lstStyle/>
          <a:p>
            <a:pPr algn="l">
              <a:lnSpc>
                <a:spcPct val="100000"/>
              </a:lnSpc>
              <a:spcBef>
                <a:spcPts val="0"/>
              </a:spcBef>
              <a:defRPr sz="1900" b="0" i="1">
                <a:solidFill>
                  <a:srgbClr val="7FB2D9"/>
                </a:solidFill>
                <a:latin typeface="Georgia"/>
              </a:defRPr>
            </a:pPr>
            <a:r>
              <a:t>06</a:t>
            </a:r>
          </a:p>
        </p:txBody>
      </p:sp>
      <p:sp>
        <p:nvSpPr>
          <p:cNvPr id="22" name="TextBox 21"/>
          <p:cNvSpPr txBox="1"/>
          <p:nvPr/>
        </p:nvSpPr>
        <p:spPr>
          <a:xfrm>
            <a:off x="6995159" y="2953512"/>
            <a:ext cx="4206240" cy="777240"/>
          </a:xfrm>
          <a:prstGeom prst="rect">
            <a:avLst/>
          </a:prstGeom>
          <a:noFill/>
        </p:spPr>
        <p:txBody>
          <a:bodyPr wrap="square" lIns="0" rIns="0" tIns="0" bIns="0">
            <a:spAutoFit/>
          </a:bodyPr>
          <a:lstStyle/>
          <a:p>
            <a:pPr algn="l">
              <a:lnSpc>
                <a:spcPct val="100000"/>
              </a:lnSpc>
              <a:spcBef>
                <a:spcPts val="0"/>
              </a:spcBef>
              <a:defRPr sz="1500" b="0" i="1">
                <a:solidFill>
                  <a:srgbClr val="2B2B29"/>
                </a:solidFill>
                <a:latin typeface="Georgia"/>
              </a:defRPr>
            </a:pPr>
            <a:r>
              <a:t>Technologies</a:t>
            </a:r>
          </a:p>
          <a:p>
            <a:pPr algn="l">
              <a:lnSpc>
                <a:spcPct val="115000"/>
              </a:lnSpc>
              <a:spcBef>
                <a:spcPts val="400"/>
              </a:spcBef>
              <a:defRPr sz="1050" b="0" i="0">
                <a:solidFill>
                  <a:srgbClr val="8C8C88"/>
                </a:solidFill>
                <a:latin typeface="Segoe UI"/>
              </a:defRPr>
            </a:pPr>
            <a:r>
              <a:t>Les outils retenus et pourquoi</a:t>
            </a:r>
          </a:p>
        </p:txBody>
      </p:sp>
      <p:sp>
        <p:nvSpPr>
          <p:cNvPr id="23" name="Rectangle 22"/>
          <p:cNvSpPr/>
          <p:nvPr/>
        </p:nvSpPr>
        <p:spPr>
          <a:xfrm>
            <a:off x="6263640" y="3739896"/>
            <a:ext cx="484632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4014216"/>
            <a:ext cx="685800" cy="411480"/>
          </a:xfrm>
          <a:prstGeom prst="rect">
            <a:avLst/>
          </a:prstGeom>
          <a:noFill/>
        </p:spPr>
        <p:txBody>
          <a:bodyPr wrap="square" lIns="0" rIns="0" tIns="0" bIns="0">
            <a:spAutoFit/>
          </a:bodyPr>
          <a:lstStyle/>
          <a:p>
            <a:pPr algn="l">
              <a:lnSpc>
                <a:spcPct val="100000"/>
              </a:lnSpc>
              <a:spcBef>
                <a:spcPts val="0"/>
              </a:spcBef>
              <a:defRPr sz="1900" b="0" i="1">
                <a:solidFill>
                  <a:srgbClr val="7FB2D9"/>
                </a:solidFill>
                <a:latin typeface="Georgia"/>
              </a:defRPr>
            </a:pPr>
            <a:r>
              <a:t>07</a:t>
            </a:r>
          </a:p>
        </p:txBody>
      </p:sp>
      <p:sp>
        <p:nvSpPr>
          <p:cNvPr id="25" name="TextBox 24"/>
          <p:cNvSpPr txBox="1"/>
          <p:nvPr/>
        </p:nvSpPr>
        <p:spPr>
          <a:xfrm>
            <a:off x="6995159" y="3977640"/>
            <a:ext cx="4206240" cy="777240"/>
          </a:xfrm>
          <a:prstGeom prst="rect">
            <a:avLst/>
          </a:prstGeom>
          <a:noFill/>
        </p:spPr>
        <p:txBody>
          <a:bodyPr wrap="square" lIns="0" rIns="0" tIns="0" bIns="0">
            <a:spAutoFit/>
          </a:bodyPr>
          <a:lstStyle/>
          <a:p>
            <a:pPr algn="l">
              <a:lnSpc>
                <a:spcPct val="100000"/>
              </a:lnSpc>
              <a:spcBef>
                <a:spcPts val="0"/>
              </a:spcBef>
              <a:defRPr sz="1500" b="0" i="1">
                <a:solidFill>
                  <a:srgbClr val="2B2B29"/>
                </a:solidFill>
                <a:latin typeface="Georgia"/>
              </a:defRPr>
            </a:pPr>
            <a:r>
              <a:t>Résultats &amp; validation</a:t>
            </a:r>
          </a:p>
          <a:p>
            <a:pPr algn="l">
              <a:lnSpc>
                <a:spcPct val="115000"/>
              </a:lnSpc>
              <a:spcBef>
                <a:spcPts val="400"/>
              </a:spcBef>
              <a:defRPr sz="1050" b="0" i="0">
                <a:solidFill>
                  <a:srgbClr val="8C8C88"/>
                </a:solidFill>
                <a:latin typeface="Segoe UI"/>
              </a:defRPr>
            </a:pPr>
            <a:r>
              <a:t>Ce que le système produit réellement</a:t>
            </a:r>
          </a:p>
        </p:txBody>
      </p:sp>
      <p:sp>
        <p:nvSpPr>
          <p:cNvPr id="26" name="Rectangle 25"/>
          <p:cNvSpPr/>
          <p:nvPr/>
        </p:nvSpPr>
        <p:spPr>
          <a:xfrm>
            <a:off x="6263640" y="4764024"/>
            <a:ext cx="484632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5038344"/>
            <a:ext cx="685800" cy="411480"/>
          </a:xfrm>
          <a:prstGeom prst="rect">
            <a:avLst/>
          </a:prstGeom>
          <a:noFill/>
        </p:spPr>
        <p:txBody>
          <a:bodyPr wrap="square" lIns="0" rIns="0" tIns="0" bIns="0">
            <a:spAutoFit/>
          </a:bodyPr>
          <a:lstStyle/>
          <a:p>
            <a:pPr algn="l">
              <a:lnSpc>
                <a:spcPct val="100000"/>
              </a:lnSpc>
              <a:spcBef>
                <a:spcPts val="0"/>
              </a:spcBef>
              <a:defRPr sz="1900" b="0" i="1">
                <a:solidFill>
                  <a:srgbClr val="7FB2D9"/>
                </a:solidFill>
                <a:latin typeface="Georgia"/>
              </a:defRPr>
            </a:pPr>
            <a:r>
              <a:t>08</a:t>
            </a:r>
          </a:p>
        </p:txBody>
      </p:sp>
      <p:sp>
        <p:nvSpPr>
          <p:cNvPr id="28" name="TextBox 27"/>
          <p:cNvSpPr txBox="1"/>
          <p:nvPr/>
        </p:nvSpPr>
        <p:spPr>
          <a:xfrm>
            <a:off x="6995159" y="5001768"/>
            <a:ext cx="4206240" cy="777240"/>
          </a:xfrm>
          <a:prstGeom prst="rect">
            <a:avLst/>
          </a:prstGeom>
          <a:noFill/>
        </p:spPr>
        <p:txBody>
          <a:bodyPr wrap="square" lIns="0" rIns="0" tIns="0" bIns="0">
            <a:spAutoFit/>
          </a:bodyPr>
          <a:lstStyle/>
          <a:p>
            <a:pPr algn="l">
              <a:lnSpc>
                <a:spcPct val="100000"/>
              </a:lnSpc>
              <a:spcBef>
                <a:spcPts val="0"/>
              </a:spcBef>
              <a:defRPr sz="1500" b="0" i="1">
                <a:solidFill>
                  <a:srgbClr val="2B2B29"/>
                </a:solidFill>
                <a:latin typeface="Georgia"/>
              </a:defRPr>
            </a:pPr>
            <a:r>
              <a:t>Conclusion &amp; perspectives</a:t>
            </a:r>
          </a:p>
          <a:p>
            <a:pPr algn="l">
              <a:lnSpc>
                <a:spcPct val="115000"/>
              </a:lnSpc>
              <a:spcBef>
                <a:spcPts val="400"/>
              </a:spcBef>
              <a:defRPr sz="1050" b="0" i="0">
                <a:solidFill>
                  <a:srgbClr val="8C8C88"/>
                </a:solidFill>
                <a:latin typeface="Segoe UI"/>
              </a:defRPr>
            </a:pPr>
            <a:r>
              <a:t>Le bilan et la suite</a:t>
            </a:r>
          </a:p>
        </p:txBody>
      </p:sp>
      <p:sp>
        <p:nvSpPr>
          <p:cNvPr id="29" name="Rectangle 28"/>
          <p:cNvSpPr/>
          <p:nvPr/>
        </p:nvSpPr>
        <p:spPr>
          <a:xfrm>
            <a:off x="6263640" y="5788152"/>
            <a:ext cx="484632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4400" y="6144768"/>
            <a:ext cx="32004" cy="38404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88720" y="6163056"/>
            <a:ext cx="9692640" cy="384048"/>
          </a:xfrm>
          <a:prstGeom prst="rect">
            <a:avLst/>
          </a:prstGeom>
          <a:noFill/>
        </p:spPr>
        <p:txBody>
          <a:bodyPr wrap="square" lIns="0" rIns="0" tIns="0" bIns="0">
            <a:spAutoFit/>
          </a:bodyPr>
          <a:lstStyle/>
          <a:p>
            <a:pPr algn="l">
              <a:lnSpc>
                <a:spcPct val="100000"/>
              </a:lnSpc>
              <a:spcBef>
                <a:spcPts val="0"/>
              </a:spcBef>
              <a:defRPr sz="1200" b="0" i="0">
                <a:solidFill>
                  <a:srgbClr val="1F6FB2"/>
                </a:solidFill>
                <a:latin typeface="Segoe UI"/>
              </a:defRPr>
            </a:pPr>
            <a:r>
              <a:t>Quatre parties : le besoin, la conception, le fonctionnement, les résultats.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L  E     P  O  I  N  T     D  E     D  É  P  A  R  T</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Contexte &amp; problématique</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3</a:t>
            </a:r>
          </a:p>
        </p:txBody>
      </p:sp>
      <p:sp>
        <p:nvSpPr>
          <p:cNvPr id="6" name="Rectangle 5"/>
          <p:cNvSpPr/>
          <p:nvPr/>
        </p:nvSpPr>
        <p:spPr>
          <a:xfrm>
            <a:off x="914400" y="1920240"/>
            <a:ext cx="1298448" cy="658368"/>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a:lstStyle/>
          <a:p>
            <a:pPr algn="ctr">
              <a:lnSpc>
                <a:spcPct val="105000"/>
              </a:lnSpc>
              <a:spcBef>
                <a:spcPts val="0"/>
              </a:spcBef>
              <a:defRPr sz="1000" b="0" i="0">
                <a:solidFill>
                  <a:srgbClr val="2B2B29"/>
                </a:solidFill>
                <a:latin typeface="Segoe UI"/>
              </a:defRPr>
            </a:pPr>
            <a:r>
              <a:t>Support</a:t>
            </a:r>
          </a:p>
        </p:txBody>
      </p:sp>
      <p:sp>
        <p:nvSpPr>
          <p:cNvPr id="7" name="TextBox 6"/>
          <p:cNvSpPr txBox="1"/>
          <p:nvPr/>
        </p:nvSpPr>
        <p:spPr>
          <a:xfrm>
            <a:off x="2221991" y="2103120"/>
            <a:ext cx="411480" cy="320040"/>
          </a:xfrm>
          <a:prstGeom prst="rect">
            <a:avLst/>
          </a:prstGeom>
          <a:noFill/>
        </p:spPr>
        <p:txBody>
          <a:bodyPr wrap="square" lIns="0" rIns="0" tIns="0" bIns="0">
            <a:spAutoFit/>
          </a:bodyPr>
          <a:lstStyle/>
          <a:p>
            <a:pPr algn="ctr">
              <a:lnSpc>
                <a:spcPct val="100000"/>
              </a:lnSpc>
              <a:spcBef>
                <a:spcPts val="0"/>
              </a:spcBef>
              <a:defRPr sz="1300" b="0" i="0">
                <a:solidFill>
                  <a:srgbClr val="8C8C88"/>
                </a:solidFill>
                <a:latin typeface="Segoe UI"/>
              </a:defRPr>
            </a:pPr>
            <a:r>
              <a:t>→</a:t>
            </a:r>
          </a:p>
        </p:txBody>
      </p:sp>
      <p:sp>
        <p:nvSpPr>
          <p:cNvPr id="8" name="Rectangle 7"/>
          <p:cNvSpPr/>
          <p:nvPr/>
        </p:nvSpPr>
        <p:spPr>
          <a:xfrm>
            <a:off x="2423160" y="1920240"/>
            <a:ext cx="1298448" cy="658368"/>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a:lstStyle/>
          <a:p>
            <a:pPr algn="ctr">
              <a:lnSpc>
                <a:spcPct val="105000"/>
              </a:lnSpc>
              <a:spcBef>
                <a:spcPts val="0"/>
              </a:spcBef>
              <a:defRPr sz="1000" b="0" i="0">
                <a:solidFill>
                  <a:srgbClr val="2B2B29"/>
                </a:solidFill>
                <a:latin typeface="Segoe UI"/>
              </a:defRPr>
            </a:pPr>
            <a:r>
              <a:t>Analyse</a:t>
            </a:r>
          </a:p>
        </p:txBody>
      </p:sp>
      <p:sp>
        <p:nvSpPr>
          <p:cNvPr id="9" name="TextBox 8"/>
          <p:cNvSpPr txBox="1"/>
          <p:nvPr/>
        </p:nvSpPr>
        <p:spPr>
          <a:xfrm>
            <a:off x="3730752" y="2103120"/>
            <a:ext cx="411480" cy="320040"/>
          </a:xfrm>
          <a:prstGeom prst="rect">
            <a:avLst/>
          </a:prstGeom>
          <a:noFill/>
        </p:spPr>
        <p:txBody>
          <a:bodyPr wrap="square" lIns="0" rIns="0" tIns="0" bIns="0">
            <a:spAutoFit/>
          </a:bodyPr>
          <a:lstStyle/>
          <a:p>
            <a:pPr algn="ctr">
              <a:lnSpc>
                <a:spcPct val="100000"/>
              </a:lnSpc>
              <a:spcBef>
                <a:spcPts val="0"/>
              </a:spcBef>
              <a:defRPr sz="1300" b="0" i="0">
                <a:solidFill>
                  <a:srgbClr val="8C8C88"/>
                </a:solidFill>
                <a:latin typeface="Segoe UI"/>
              </a:defRPr>
            </a:pPr>
            <a:r>
              <a:t>→</a:t>
            </a:r>
          </a:p>
        </p:txBody>
      </p:sp>
      <p:sp>
        <p:nvSpPr>
          <p:cNvPr id="10" name="Rectangle 9"/>
          <p:cNvSpPr/>
          <p:nvPr/>
        </p:nvSpPr>
        <p:spPr>
          <a:xfrm>
            <a:off x="3931920" y="1920240"/>
            <a:ext cx="1298448" cy="658368"/>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a:lstStyle/>
          <a:p>
            <a:pPr algn="ctr">
              <a:lnSpc>
                <a:spcPct val="105000"/>
              </a:lnSpc>
              <a:spcBef>
                <a:spcPts val="0"/>
              </a:spcBef>
              <a:defRPr sz="1000" b="0" i="0">
                <a:solidFill>
                  <a:srgbClr val="2B2B29"/>
                </a:solidFill>
                <a:latin typeface="Segoe UI"/>
              </a:defRPr>
            </a:pPr>
            <a:r>
              <a:t>Scénarisation</a:t>
            </a:r>
          </a:p>
        </p:txBody>
      </p:sp>
      <p:sp>
        <p:nvSpPr>
          <p:cNvPr id="11" name="TextBox 10"/>
          <p:cNvSpPr txBox="1"/>
          <p:nvPr/>
        </p:nvSpPr>
        <p:spPr>
          <a:xfrm>
            <a:off x="5239512" y="2103120"/>
            <a:ext cx="411480" cy="320040"/>
          </a:xfrm>
          <a:prstGeom prst="rect">
            <a:avLst/>
          </a:prstGeom>
          <a:noFill/>
        </p:spPr>
        <p:txBody>
          <a:bodyPr wrap="square" lIns="0" rIns="0" tIns="0" bIns="0">
            <a:spAutoFit/>
          </a:bodyPr>
          <a:lstStyle/>
          <a:p>
            <a:pPr algn="ctr">
              <a:lnSpc>
                <a:spcPct val="100000"/>
              </a:lnSpc>
              <a:spcBef>
                <a:spcPts val="0"/>
              </a:spcBef>
              <a:defRPr sz="1300" b="0" i="0">
                <a:solidFill>
                  <a:srgbClr val="8C8C88"/>
                </a:solidFill>
                <a:latin typeface="Segoe UI"/>
              </a:defRPr>
            </a:pPr>
            <a:r>
              <a:t>→</a:t>
            </a:r>
          </a:p>
        </p:txBody>
      </p:sp>
      <p:sp>
        <p:nvSpPr>
          <p:cNvPr id="12" name="Rectangle 11"/>
          <p:cNvSpPr/>
          <p:nvPr/>
        </p:nvSpPr>
        <p:spPr>
          <a:xfrm>
            <a:off x="5440679" y="1920240"/>
            <a:ext cx="1298448" cy="658368"/>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a:lstStyle/>
          <a:p>
            <a:pPr algn="ctr">
              <a:lnSpc>
                <a:spcPct val="105000"/>
              </a:lnSpc>
              <a:spcBef>
                <a:spcPts val="0"/>
              </a:spcBef>
              <a:defRPr sz="1000" b="0" i="0">
                <a:solidFill>
                  <a:srgbClr val="2B2B29"/>
                </a:solidFill>
                <a:latin typeface="Segoe UI"/>
              </a:defRPr>
            </a:pPr>
            <a:r>
              <a:t>Voix</a:t>
            </a:r>
          </a:p>
        </p:txBody>
      </p:sp>
      <p:sp>
        <p:nvSpPr>
          <p:cNvPr id="13" name="TextBox 12"/>
          <p:cNvSpPr txBox="1"/>
          <p:nvPr/>
        </p:nvSpPr>
        <p:spPr>
          <a:xfrm>
            <a:off x="6748271" y="2103120"/>
            <a:ext cx="411480" cy="320040"/>
          </a:xfrm>
          <a:prstGeom prst="rect">
            <a:avLst/>
          </a:prstGeom>
          <a:noFill/>
        </p:spPr>
        <p:txBody>
          <a:bodyPr wrap="square" lIns="0" rIns="0" tIns="0" bIns="0">
            <a:spAutoFit/>
          </a:bodyPr>
          <a:lstStyle/>
          <a:p>
            <a:pPr algn="ctr">
              <a:lnSpc>
                <a:spcPct val="100000"/>
              </a:lnSpc>
              <a:spcBef>
                <a:spcPts val="0"/>
              </a:spcBef>
              <a:defRPr sz="1300" b="0" i="0">
                <a:solidFill>
                  <a:srgbClr val="8C8C88"/>
                </a:solidFill>
                <a:latin typeface="Segoe UI"/>
              </a:defRPr>
            </a:pPr>
            <a:r>
              <a:t>→</a:t>
            </a:r>
          </a:p>
        </p:txBody>
      </p:sp>
      <p:sp>
        <p:nvSpPr>
          <p:cNvPr id="14" name="Rectangle 13"/>
          <p:cNvSpPr/>
          <p:nvPr/>
        </p:nvSpPr>
        <p:spPr>
          <a:xfrm>
            <a:off x="6949440" y="1920240"/>
            <a:ext cx="1298448" cy="658368"/>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a:lstStyle/>
          <a:p>
            <a:pPr algn="ctr">
              <a:lnSpc>
                <a:spcPct val="105000"/>
              </a:lnSpc>
              <a:spcBef>
                <a:spcPts val="0"/>
              </a:spcBef>
              <a:defRPr sz="1000" b="0" i="0">
                <a:solidFill>
                  <a:srgbClr val="2B2B29"/>
                </a:solidFill>
                <a:latin typeface="Segoe UI"/>
              </a:defRPr>
            </a:pPr>
            <a:r>
              <a:t>Montage</a:t>
            </a:r>
          </a:p>
        </p:txBody>
      </p:sp>
      <p:sp>
        <p:nvSpPr>
          <p:cNvPr id="15" name="TextBox 14"/>
          <p:cNvSpPr txBox="1"/>
          <p:nvPr/>
        </p:nvSpPr>
        <p:spPr>
          <a:xfrm>
            <a:off x="8257031" y="2103120"/>
            <a:ext cx="411480" cy="320040"/>
          </a:xfrm>
          <a:prstGeom prst="rect">
            <a:avLst/>
          </a:prstGeom>
          <a:noFill/>
        </p:spPr>
        <p:txBody>
          <a:bodyPr wrap="square" lIns="0" rIns="0" tIns="0" bIns="0">
            <a:spAutoFit/>
          </a:bodyPr>
          <a:lstStyle/>
          <a:p>
            <a:pPr algn="ctr">
              <a:lnSpc>
                <a:spcPct val="100000"/>
              </a:lnSpc>
              <a:spcBef>
                <a:spcPts val="0"/>
              </a:spcBef>
              <a:defRPr sz="1300" b="0" i="0">
                <a:solidFill>
                  <a:srgbClr val="8C8C88"/>
                </a:solidFill>
                <a:latin typeface="Segoe UI"/>
              </a:defRPr>
            </a:pPr>
            <a:r>
              <a:t>→</a:t>
            </a:r>
          </a:p>
        </p:txBody>
      </p:sp>
      <p:sp>
        <p:nvSpPr>
          <p:cNvPr id="16" name="Rectangle 15"/>
          <p:cNvSpPr/>
          <p:nvPr/>
        </p:nvSpPr>
        <p:spPr>
          <a:xfrm>
            <a:off x="8458200" y="1920240"/>
            <a:ext cx="1298448" cy="658368"/>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a:lstStyle/>
          <a:p>
            <a:pPr algn="ctr">
              <a:lnSpc>
                <a:spcPct val="105000"/>
              </a:lnSpc>
              <a:spcBef>
                <a:spcPts val="0"/>
              </a:spcBef>
              <a:defRPr sz="1000" b="0" i="0">
                <a:solidFill>
                  <a:srgbClr val="2B2B29"/>
                </a:solidFill>
                <a:latin typeface="Segoe UI"/>
              </a:defRPr>
            </a:pPr>
            <a:r>
              <a:t>Sous-titres</a:t>
            </a:r>
          </a:p>
        </p:txBody>
      </p:sp>
      <p:sp>
        <p:nvSpPr>
          <p:cNvPr id="17" name="TextBox 16"/>
          <p:cNvSpPr txBox="1"/>
          <p:nvPr/>
        </p:nvSpPr>
        <p:spPr>
          <a:xfrm>
            <a:off x="9765792" y="2103120"/>
            <a:ext cx="411480" cy="320040"/>
          </a:xfrm>
          <a:prstGeom prst="rect">
            <a:avLst/>
          </a:prstGeom>
          <a:noFill/>
        </p:spPr>
        <p:txBody>
          <a:bodyPr wrap="square" lIns="0" rIns="0" tIns="0" bIns="0">
            <a:spAutoFit/>
          </a:bodyPr>
          <a:lstStyle/>
          <a:p>
            <a:pPr algn="ctr">
              <a:lnSpc>
                <a:spcPct val="100000"/>
              </a:lnSpc>
              <a:spcBef>
                <a:spcPts val="0"/>
              </a:spcBef>
              <a:defRPr sz="1300" b="0" i="0">
                <a:solidFill>
                  <a:srgbClr val="8C8C88"/>
                </a:solidFill>
                <a:latin typeface="Segoe UI"/>
              </a:defRPr>
            </a:pPr>
            <a:r>
              <a:t>→</a:t>
            </a:r>
          </a:p>
        </p:txBody>
      </p:sp>
      <p:sp>
        <p:nvSpPr>
          <p:cNvPr id="18" name="Rectangle 17"/>
          <p:cNvSpPr/>
          <p:nvPr/>
        </p:nvSpPr>
        <p:spPr>
          <a:xfrm>
            <a:off x="9966959" y="1920240"/>
            <a:ext cx="1298448" cy="658368"/>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a:lstStyle/>
          <a:p>
            <a:pPr algn="ctr">
              <a:lnSpc>
                <a:spcPct val="105000"/>
              </a:lnSpc>
              <a:spcBef>
                <a:spcPts val="0"/>
              </a:spcBef>
              <a:defRPr sz="1000" b="0" i="0">
                <a:solidFill>
                  <a:srgbClr val="2B2B29"/>
                </a:solidFill>
                <a:latin typeface="Segoe UI"/>
              </a:defRPr>
            </a:pPr>
            <a:r>
              <a:t>Publication</a:t>
            </a:r>
          </a:p>
        </p:txBody>
      </p:sp>
      <p:sp>
        <p:nvSpPr>
          <p:cNvPr id="19" name="TextBox 18"/>
          <p:cNvSpPr txBox="1"/>
          <p:nvPr/>
        </p:nvSpPr>
        <p:spPr>
          <a:xfrm>
            <a:off x="914400" y="2788920"/>
            <a:ext cx="10362895" cy="365760"/>
          </a:xfrm>
          <a:prstGeom prst="rect">
            <a:avLst/>
          </a:prstGeom>
          <a:noFill/>
        </p:spPr>
        <p:txBody>
          <a:bodyPr wrap="square" lIns="0" rIns="0" tIns="0" bIns="0">
            <a:spAutoFit/>
          </a:bodyPr>
          <a:lstStyle/>
          <a:p>
            <a:pPr algn="l">
              <a:lnSpc>
                <a:spcPct val="100000"/>
              </a:lnSpc>
              <a:spcBef>
                <a:spcPts val="0"/>
              </a:spcBef>
              <a:defRPr sz="1250" b="0" i="0">
                <a:solidFill>
                  <a:srgbClr val="A87A1F"/>
                </a:solidFill>
                <a:latin typeface="Segoe UI"/>
              </a:defRPr>
            </a:pPr>
            <a:r>
              <a:t>Une production manuelle longue, répétitive et difficile à reproduire à grande échelle.</a:t>
            </a:r>
          </a:p>
        </p:txBody>
      </p:sp>
      <p:sp>
        <p:nvSpPr>
          <p:cNvPr id="20" name="Rectangle 19"/>
          <p:cNvSpPr/>
          <p:nvPr/>
        </p:nvSpPr>
        <p:spPr>
          <a:xfrm>
            <a:off x="914400" y="333756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3749039"/>
            <a:ext cx="32004" cy="13716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07008" y="3794760"/>
            <a:ext cx="9601200" cy="1371600"/>
          </a:xfrm>
          <a:prstGeom prst="rect">
            <a:avLst/>
          </a:prstGeom>
          <a:noFill/>
        </p:spPr>
        <p:txBody>
          <a:bodyPr wrap="square" lIns="0" rIns="0" tIns="0" bIns="0">
            <a:spAutoFit/>
          </a:bodyPr>
          <a:lstStyle/>
          <a:p>
            <a:pPr algn="l">
              <a:lnSpc>
                <a:spcPct val="125000"/>
              </a:lnSpc>
              <a:spcBef>
                <a:spcPts val="0"/>
              </a:spcBef>
              <a:defRPr sz="2300" b="0" i="1">
                <a:solidFill>
                  <a:srgbClr val="2B2B29"/>
                </a:solidFill>
                <a:latin typeface="Georgia"/>
              </a:defRPr>
            </a:pPr>
            <a:r>
              <a:t>Comment automatiser la transformation d'un support de formation</a:t>
            </a:r>
          </a:p>
          <a:p>
            <a:pPr algn="l">
              <a:lnSpc>
                <a:spcPct val="125000"/>
              </a:lnSpc>
              <a:spcBef>
                <a:spcPts val="0"/>
              </a:spcBef>
              <a:defRPr sz="2300" b="0" i="1">
                <a:solidFill>
                  <a:srgbClr val="2B2B29"/>
                </a:solidFill>
                <a:latin typeface="Georgia"/>
              </a:defRPr>
            </a:pPr>
            <a:r>
              <a:t>en un cours e-learning complet, structuré et pédagogique ?</a:t>
            </a:r>
          </a:p>
        </p:txBody>
      </p:sp>
      <p:sp>
        <p:nvSpPr>
          <p:cNvPr id="23" name="Oval 22"/>
          <p:cNvSpPr/>
          <p:nvPr/>
        </p:nvSpPr>
        <p:spPr>
          <a:xfrm>
            <a:off x="914400" y="5779008"/>
            <a:ext cx="68580" cy="68580"/>
          </a:xfrm>
          <a:prstGeom prst="ellipse">
            <a:avLst/>
          </a:prstGeom>
          <a:solidFill>
            <a:srgbClr val="2B2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14984" y="5806440"/>
            <a:ext cx="109728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21992" y="5696712"/>
            <a:ext cx="4572000" cy="274320"/>
          </a:xfrm>
          <a:prstGeom prst="rect">
            <a:avLst/>
          </a:prstGeom>
          <a:noFill/>
        </p:spPr>
        <p:txBody>
          <a:bodyPr wrap="square" lIns="0" rIns="0" tIns="0" bIns="0">
            <a:spAutoFit/>
          </a:bodyPr>
          <a:lstStyle/>
          <a:p>
            <a:pPr algn="l">
              <a:lnSpc>
                <a:spcPct val="100000"/>
              </a:lnSpc>
              <a:spcBef>
                <a:spcPts val="0"/>
              </a:spcBef>
              <a:defRPr sz="1100" b="0" i="0">
                <a:solidFill>
                  <a:srgbClr val="8C8C88"/>
                </a:solidFill>
                <a:latin typeface="Segoe UI"/>
              </a:defRPr>
            </a:pPr>
            <a:r>
              <a:t>Le problème n'est pas de diffuser un cours — c'est de le produire.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L  E     C  O  N  T  E  X  T  E     D  U     S  T  A  G  E</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S2M Casablanca</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4</a:t>
            </a:r>
          </a:p>
        </p:txBody>
      </p:sp>
      <p:sp>
        <p:nvSpPr>
          <p:cNvPr id="6" name="Rectangle 5"/>
          <p:cNvSpPr/>
          <p:nvPr/>
        </p:nvSpPr>
        <p:spPr>
          <a:xfrm>
            <a:off x="914400" y="1965960"/>
            <a:ext cx="24231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0817" bIns="100584"/>
          <a:lstStyle/>
          <a:p>
            <a:pPr algn="l">
              <a:lnSpc>
                <a:spcPct val="110000"/>
              </a:lnSpc>
              <a:spcBef>
                <a:spcPts val="0"/>
              </a:spcBef>
              <a:defRPr sz="1300" b="0" i="1">
                <a:solidFill>
                  <a:srgbClr val="2B2B29"/>
                </a:solidFill>
                <a:latin typeface="Georgia"/>
              </a:defRPr>
            </a:pPr>
            <a:r>
              <a:t>Monétique</a:t>
            </a:r>
          </a:p>
          <a:p>
            <a:pPr algn="l">
              <a:lnSpc>
                <a:spcPct val="115000"/>
              </a:lnSpc>
              <a:spcBef>
                <a:spcPts val="600"/>
              </a:spcBef>
              <a:defRPr sz="1000" b="0" i="0">
                <a:solidFill>
                  <a:srgbClr val="8C8C88"/>
                </a:solidFill>
                <a:latin typeface="Segoe UI"/>
              </a:defRPr>
            </a:pPr>
            <a:r>
              <a:t>Systèmes de paiement électronique</a:t>
            </a:r>
          </a:p>
        </p:txBody>
      </p:sp>
      <p:sp>
        <p:nvSpPr>
          <p:cNvPr id="7" name="Rectangle 6"/>
          <p:cNvSpPr/>
          <p:nvPr/>
        </p:nvSpPr>
        <p:spPr>
          <a:xfrm>
            <a:off x="3566160" y="1965960"/>
            <a:ext cx="24231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0817" bIns="100584"/>
          <a:lstStyle/>
          <a:p>
            <a:pPr algn="l">
              <a:lnSpc>
                <a:spcPct val="110000"/>
              </a:lnSpc>
              <a:spcBef>
                <a:spcPts val="0"/>
              </a:spcBef>
              <a:defRPr sz="1300" b="0" i="1">
                <a:solidFill>
                  <a:srgbClr val="2B2B29"/>
                </a:solidFill>
                <a:latin typeface="Georgia"/>
              </a:defRPr>
            </a:pPr>
            <a:r>
              <a:t>Édition logicielle</a:t>
            </a:r>
          </a:p>
          <a:p>
            <a:pPr algn="l">
              <a:lnSpc>
                <a:spcPct val="115000"/>
              </a:lnSpc>
              <a:spcBef>
                <a:spcPts val="600"/>
              </a:spcBef>
              <a:defRPr sz="1000" b="0" i="0">
                <a:solidFill>
                  <a:srgbClr val="8C8C88"/>
                </a:solidFill>
                <a:latin typeface="Segoe UI"/>
              </a:defRPr>
            </a:pPr>
            <a:r>
              <a:t>Solutions conçues et déployées</a:t>
            </a:r>
          </a:p>
        </p:txBody>
      </p:sp>
      <p:sp>
        <p:nvSpPr>
          <p:cNvPr id="8" name="Rectangle 7"/>
          <p:cNvSpPr/>
          <p:nvPr/>
        </p:nvSpPr>
        <p:spPr>
          <a:xfrm>
            <a:off x="6217920" y="1965960"/>
            <a:ext cx="24231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0817" bIns="100584"/>
          <a:lstStyle/>
          <a:p>
            <a:pPr algn="l">
              <a:lnSpc>
                <a:spcPct val="110000"/>
              </a:lnSpc>
              <a:spcBef>
                <a:spcPts val="0"/>
              </a:spcBef>
              <a:defRPr sz="1300" b="0" i="1">
                <a:solidFill>
                  <a:srgbClr val="2B2B29"/>
                </a:solidFill>
                <a:latin typeface="Georgia"/>
              </a:defRPr>
            </a:pPr>
            <a:r>
              <a:t>Moyens de paiement</a:t>
            </a:r>
          </a:p>
          <a:p>
            <a:pPr algn="l">
              <a:lnSpc>
                <a:spcPct val="115000"/>
              </a:lnSpc>
              <a:spcBef>
                <a:spcPts val="600"/>
              </a:spcBef>
              <a:defRPr sz="1000" b="0" i="0">
                <a:solidFill>
                  <a:srgbClr val="8C8C88"/>
                </a:solidFill>
                <a:latin typeface="Segoe UI"/>
              </a:defRPr>
            </a:pPr>
            <a:r>
              <a:t>Cartes et terminaux</a:t>
            </a:r>
          </a:p>
        </p:txBody>
      </p:sp>
      <p:sp>
        <p:nvSpPr>
          <p:cNvPr id="9" name="Rectangle 8"/>
          <p:cNvSpPr/>
          <p:nvPr/>
        </p:nvSpPr>
        <p:spPr>
          <a:xfrm>
            <a:off x="8869680" y="1965960"/>
            <a:ext cx="24231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0817" bIns="100584"/>
          <a:lstStyle/>
          <a:p>
            <a:pPr algn="l">
              <a:lnSpc>
                <a:spcPct val="110000"/>
              </a:lnSpc>
              <a:spcBef>
                <a:spcPts val="0"/>
              </a:spcBef>
              <a:defRPr sz="1300" b="0" i="1">
                <a:solidFill>
                  <a:srgbClr val="2B2B29"/>
                </a:solidFill>
                <a:latin typeface="Georgia"/>
              </a:defRPr>
            </a:pPr>
            <a:r>
              <a:t>Payment as a Service</a:t>
            </a:r>
          </a:p>
          <a:p>
            <a:pPr algn="l">
              <a:lnSpc>
                <a:spcPct val="115000"/>
              </a:lnSpc>
              <a:spcBef>
                <a:spcPts val="600"/>
              </a:spcBef>
              <a:defRPr sz="1000" b="0" i="0">
                <a:solidFill>
                  <a:srgbClr val="8C8C88"/>
                </a:solidFill>
                <a:latin typeface="Segoe UI"/>
              </a:defRPr>
            </a:pPr>
            <a:r>
              <a:t>Exploitation pour le client</a:t>
            </a:r>
          </a:p>
        </p:txBody>
      </p:sp>
      <p:sp>
        <p:nvSpPr>
          <p:cNvPr id="10" name="Oval 9"/>
          <p:cNvSpPr/>
          <p:nvPr/>
        </p:nvSpPr>
        <p:spPr>
          <a:xfrm>
            <a:off x="914400" y="3493008"/>
            <a:ext cx="68580" cy="68580"/>
          </a:xfrm>
          <a:prstGeom prst="ellipse">
            <a:avLst/>
          </a:prstGeom>
          <a:solidFill>
            <a:srgbClr val="2B2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4" y="3520440"/>
            <a:ext cx="1097280"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21992" y="3410712"/>
            <a:ext cx="4572000" cy="274320"/>
          </a:xfrm>
          <a:prstGeom prst="rect">
            <a:avLst/>
          </a:prstGeom>
          <a:noFill/>
        </p:spPr>
        <p:txBody>
          <a:bodyPr wrap="square" lIns="0" rIns="0" tIns="0" bIns="0">
            <a:spAutoFit/>
          </a:bodyPr>
          <a:lstStyle/>
          <a:p>
            <a:pPr algn="l">
              <a:lnSpc>
                <a:spcPct val="100000"/>
              </a:lnSpc>
              <a:spcBef>
                <a:spcPts val="0"/>
              </a:spcBef>
              <a:defRPr sz="1100" b="0" i="0">
                <a:solidFill>
                  <a:srgbClr val="8C8C88"/>
                </a:solidFill>
                <a:latin typeface="Segoe UI"/>
              </a:defRPr>
            </a:pPr>
            <a:r>
              <a:t>Présence internationale — Maroc, Afrique, Moyen-Orient, Asie, Océanie</a:t>
            </a:r>
          </a:p>
        </p:txBody>
      </p:sp>
      <p:sp>
        <p:nvSpPr>
          <p:cNvPr id="13" name="Rectangle 12"/>
          <p:cNvSpPr/>
          <p:nvPr/>
        </p:nvSpPr>
        <p:spPr>
          <a:xfrm>
            <a:off x="914400" y="3977639"/>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4343400"/>
            <a:ext cx="32004" cy="12801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8" y="4389120"/>
            <a:ext cx="5943600" cy="1280160"/>
          </a:xfrm>
          <a:prstGeom prst="rect">
            <a:avLst/>
          </a:prstGeom>
          <a:noFill/>
        </p:spPr>
        <p:txBody>
          <a:bodyPr wrap="square" lIns="0" rIns="0" tIns="0" bIns="0">
            <a:spAutoFit/>
          </a:bodyPr>
          <a:lstStyle/>
          <a:p/>
        </p:txBody>
      </p:sp>
      <p:sp>
        <p:nvSpPr>
          <p:cNvPr id="16" name="TextBox 15"/>
          <p:cNvSpPr txBox="1"/>
          <p:nvPr/>
        </p:nvSpPr>
        <p:spPr>
          <a:xfrm>
            <a:off x="1207008" y="4389120"/>
            <a:ext cx="5943600" cy="27432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D  É  P  A  R  T  E  M  E  N  T     D  '  A  C  C  U  E  I  L</a:t>
            </a:r>
          </a:p>
        </p:txBody>
      </p:sp>
      <p:sp>
        <p:nvSpPr>
          <p:cNvPr id="17" name="TextBox 16"/>
          <p:cNvSpPr txBox="1"/>
          <p:nvPr/>
        </p:nvSpPr>
        <p:spPr>
          <a:xfrm>
            <a:off x="1207008" y="4681728"/>
            <a:ext cx="6400800" cy="914400"/>
          </a:xfrm>
          <a:prstGeom prst="rect">
            <a:avLst/>
          </a:prstGeom>
          <a:noFill/>
        </p:spPr>
        <p:txBody>
          <a:bodyPr wrap="square" lIns="0" rIns="0" tIns="0" bIns="0">
            <a:spAutoFit/>
          </a:bodyPr>
          <a:lstStyle/>
          <a:p>
            <a:pPr algn="l">
              <a:lnSpc>
                <a:spcPct val="100000"/>
              </a:lnSpc>
              <a:spcBef>
                <a:spcPts val="0"/>
              </a:spcBef>
              <a:defRPr sz="2400" b="0" i="1">
                <a:solidFill>
                  <a:srgbClr val="2B2B29"/>
                </a:solidFill>
                <a:latin typeface="Georgia"/>
              </a:defRPr>
            </a:pPr>
            <a:r>
              <a:t>Ressources Humaines — Formation</a:t>
            </a:r>
          </a:p>
          <a:p>
            <a:pPr algn="l">
              <a:lnSpc>
                <a:spcPct val="100000"/>
              </a:lnSpc>
              <a:spcBef>
                <a:spcPts val="800"/>
              </a:spcBef>
              <a:defRPr sz="1200" b="0" i="0">
                <a:solidFill>
                  <a:srgbClr val="8C8C88"/>
                </a:solidFill>
                <a:latin typeface="Segoe UI"/>
              </a:defRPr>
            </a:pPr>
            <a:r>
              <a:t>Rendre les formations plus accessibles, structurées et facilement consultables.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C  E     Q  U  E     L  E     S  Y  S  T  È  M  E     D  O  I  T     F  A  I  R  E</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Objectifs &amp; solution</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5</a:t>
            </a:r>
          </a:p>
        </p:txBody>
      </p:sp>
      <p:sp>
        <p:nvSpPr>
          <p:cNvPr id="6" name="Rectangle 5"/>
          <p:cNvSpPr/>
          <p:nvPr/>
        </p:nvSpPr>
        <p:spPr>
          <a:xfrm>
            <a:off x="914400" y="1920240"/>
            <a:ext cx="3200400" cy="137160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3619" bIns="109728"/>
          <a:lstStyle/>
          <a:p>
            <a:pPr algn="l">
              <a:lnSpc>
                <a:spcPct val="100000"/>
              </a:lnSpc>
              <a:spcBef>
                <a:spcPts val="0"/>
              </a:spcBef>
              <a:defRPr sz="850" b="0" i="0">
                <a:solidFill>
                  <a:srgbClr val="8C8C88"/>
                </a:solidFill>
                <a:latin typeface="Segoe UI Semibold"/>
              </a:defRPr>
            </a:pPr>
            <a:r>
              <a:t>E  N  T  R  É  E</a:t>
            </a:r>
          </a:p>
          <a:p>
            <a:pPr algn="l">
              <a:lnSpc>
                <a:spcPct val="115000"/>
              </a:lnSpc>
              <a:spcBef>
                <a:spcPts val="600"/>
              </a:spcBef>
              <a:defRPr sz="1400" b="0" i="1">
                <a:solidFill>
                  <a:srgbClr val="2B2B29"/>
                </a:solidFill>
                <a:latin typeface="Georgia"/>
              </a:defRPr>
            </a:pPr>
            <a:r>
              <a:t>Support PDF</a:t>
            </a:r>
          </a:p>
        </p:txBody>
      </p:sp>
      <p:sp>
        <p:nvSpPr>
          <p:cNvPr id="7" name="TextBox 6"/>
          <p:cNvSpPr txBox="1"/>
          <p:nvPr/>
        </p:nvSpPr>
        <p:spPr>
          <a:xfrm>
            <a:off x="4160520" y="2450592"/>
            <a:ext cx="411480" cy="320040"/>
          </a:xfrm>
          <a:prstGeom prst="rect">
            <a:avLst/>
          </a:prstGeom>
          <a:noFill/>
        </p:spPr>
        <p:txBody>
          <a:bodyPr wrap="square" lIns="0" rIns="0" tIns="0" bIns="0">
            <a:spAutoFit/>
          </a:bodyPr>
          <a:lstStyle/>
          <a:p>
            <a:pPr algn="ctr">
              <a:lnSpc>
                <a:spcPct val="100000"/>
              </a:lnSpc>
              <a:spcBef>
                <a:spcPts val="0"/>
              </a:spcBef>
              <a:defRPr sz="1700" b="0" i="0">
                <a:solidFill>
                  <a:srgbClr val="7FB2D9"/>
                </a:solidFill>
                <a:latin typeface="Segoe UI"/>
              </a:defRPr>
            </a:pPr>
            <a:r>
              <a:t>→</a:t>
            </a:r>
          </a:p>
        </p:txBody>
      </p:sp>
      <p:sp>
        <p:nvSpPr>
          <p:cNvPr id="8" name="Rectangle 7"/>
          <p:cNvSpPr/>
          <p:nvPr/>
        </p:nvSpPr>
        <p:spPr>
          <a:xfrm>
            <a:off x="4480560" y="1920240"/>
            <a:ext cx="3200400" cy="137160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3619" bIns="109728"/>
          <a:lstStyle/>
          <a:p>
            <a:pPr algn="l">
              <a:lnSpc>
                <a:spcPct val="100000"/>
              </a:lnSpc>
              <a:spcBef>
                <a:spcPts val="0"/>
              </a:spcBef>
              <a:defRPr sz="850" b="0" i="0">
                <a:solidFill>
                  <a:srgbClr val="1F6FB2"/>
                </a:solidFill>
                <a:latin typeface="Segoe UI Semibold"/>
              </a:defRPr>
            </a:pPr>
            <a:r>
              <a:t>I  N  T  E  L  L  I  G  E  N  C  E     A  R  T  I  F  I  C  I  E  L  L  E</a:t>
            </a:r>
          </a:p>
          <a:p>
            <a:pPr algn="l">
              <a:lnSpc>
                <a:spcPct val="115000"/>
              </a:lnSpc>
              <a:spcBef>
                <a:spcPts val="600"/>
              </a:spcBef>
              <a:defRPr sz="1400" b="0" i="1">
                <a:solidFill>
                  <a:srgbClr val="1F6FB2"/>
                </a:solidFill>
                <a:latin typeface="Georgia"/>
              </a:defRPr>
            </a:pPr>
            <a:r>
              <a:t>Compréhension · génération · structuration</a:t>
            </a:r>
          </a:p>
        </p:txBody>
      </p:sp>
      <p:sp>
        <p:nvSpPr>
          <p:cNvPr id="9" name="TextBox 8"/>
          <p:cNvSpPr txBox="1"/>
          <p:nvPr/>
        </p:nvSpPr>
        <p:spPr>
          <a:xfrm>
            <a:off x="7726679" y="2450592"/>
            <a:ext cx="411480" cy="320040"/>
          </a:xfrm>
          <a:prstGeom prst="rect">
            <a:avLst/>
          </a:prstGeom>
          <a:noFill/>
        </p:spPr>
        <p:txBody>
          <a:bodyPr wrap="square" lIns="0" rIns="0" tIns="0" bIns="0">
            <a:spAutoFit/>
          </a:bodyPr>
          <a:lstStyle/>
          <a:p>
            <a:pPr algn="ctr">
              <a:lnSpc>
                <a:spcPct val="100000"/>
              </a:lnSpc>
              <a:spcBef>
                <a:spcPts val="0"/>
              </a:spcBef>
              <a:defRPr sz="1700" b="0" i="0">
                <a:solidFill>
                  <a:srgbClr val="7FB2D9"/>
                </a:solidFill>
                <a:latin typeface="Segoe UI"/>
              </a:defRPr>
            </a:pPr>
            <a:r>
              <a:t>→</a:t>
            </a:r>
          </a:p>
        </p:txBody>
      </p:sp>
      <p:sp>
        <p:nvSpPr>
          <p:cNvPr id="10" name="Rectangle 9"/>
          <p:cNvSpPr/>
          <p:nvPr/>
        </p:nvSpPr>
        <p:spPr>
          <a:xfrm>
            <a:off x="8046720" y="1920240"/>
            <a:ext cx="3200400" cy="137160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3619" bIns="109728"/>
          <a:lstStyle/>
          <a:p>
            <a:pPr algn="l">
              <a:lnSpc>
                <a:spcPct val="100000"/>
              </a:lnSpc>
              <a:spcBef>
                <a:spcPts val="0"/>
              </a:spcBef>
              <a:defRPr sz="850" b="0" i="0">
                <a:solidFill>
                  <a:srgbClr val="8C8C88"/>
                </a:solidFill>
                <a:latin typeface="Segoe UI Semibold"/>
              </a:defRPr>
            </a:pPr>
            <a:r>
              <a:t>S  O  R  T  I  E</a:t>
            </a:r>
          </a:p>
          <a:p>
            <a:pPr algn="l">
              <a:lnSpc>
                <a:spcPct val="115000"/>
              </a:lnSpc>
              <a:spcBef>
                <a:spcPts val="600"/>
              </a:spcBef>
              <a:defRPr sz="1400" b="0" i="1">
                <a:solidFill>
                  <a:srgbClr val="2B2B29"/>
                </a:solidFill>
                <a:latin typeface="Georgia"/>
              </a:defRPr>
            </a:pPr>
            <a:r>
              <a:t>Cours e-learning complet</a:t>
            </a:r>
          </a:p>
        </p:txBody>
      </p:sp>
      <p:sp>
        <p:nvSpPr>
          <p:cNvPr id="11" name="Rectangle 10"/>
          <p:cNvSpPr/>
          <p:nvPr/>
        </p:nvSpPr>
        <p:spPr>
          <a:xfrm>
            <a:off x="914400" y="365760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2423160" cy="640080"/>
          </a:xfrm>
          <a:prstGeom prst="rect">
            <a:avLst/>
          </a:prstGeom>
          <a:noFill/>
        </p:spPr>
        <p:txBody>
          <a:bodyPr wrap="square" lIns="0" rIns="0" tIns="0" bIns="0">
            <a:spAutoFit/>
          </a:bodyPr>
          <a:lstStyle/>
          <a:p>
            <a:pPr algn="l">
              <a:lnSpc>
                <a:spcPct val="115000"/>
              </a:lnSpc>
              <a:spcBef>
                <a:spcPts val="0"/>
              </a:spcBef>
              <a:defRPr sz="1200" b="0" i="0">
                <a:solidFill>
                  <a:srgbClr val="2B2B29"/>
                </a:solidFill>
                <a:latin typeface="Segoe UI"/>
              </a:defRPr>
            </a:pPr>
            <a:r>
              <a:t>—  Chapitres &lt; 5 min</a:t>
            </a:r>
          </a:p>
        </p:txBody>
      </p:sp>
      <p:sp>
        <p:nvSpPr>
          <p:cNvPr id="13" name="TextBox 12"/>
          <p:cNvSpPr txBox="1"/>
          <p:nvPr/>
        </p:nvSpPr>
        <p:spPr>
          <a:xfrm>
            <a:off x="3566160" y="4023360"/>
            <a:ext cx="2423160" cy="640080"/>
          </a:xfrm>
          <a:prstGeom prst="rect">
            <a:avLst/>
          </a:prstGeom>
          <a:noFill/>
        </p:spPr>
        <p:txBody>
          <a:bodyPr wrap="square" lIns="0" rIns="0" tIns="0" bIns="0">
            <a:spAutoFit/>
          </a:bodyPr>
          <a:lstStyle/>
          <a:p>
            <a:pPr algn="l">
              <a:lnSpc>
                <a:spcPct val="115000"/>
              </a:lnSpc>
              <a:spcBef>
                <a:spcPts val="0"/>
              </a:spcBef>
              <a:defRPr sz="1200" b="0" i="0">
                <a:solidFill>
                  <a:srgbClr val="2B2B29"/>
                </a:solidFill>
                <a:latin typeface="Segoe UI"/>
              </a:defRPr>
            </a:pPr>
            <a:r>
              <a:t>—  Narration pédagogique</a:t>
            </a:r>
          </a:p>
        </p:txBody>
      </p:sp>
      <p:sp>
        <p:nvSpPr>
          <p:cNvPr id="14" name="TextBox 13"/>
          <p:cNvSpPr txBox="1"/>
          <p:nvPr/>
        </p:nvSpPr>
        <p:spPr>
          <a:xfrm>
            <a:off x="6217920" y="4023360"/>
            <a:ext cx="2423160" cy="640080"/>
          </a:xfrm>
          <a:prstGeom prst="rect">
            <a:avLst/>
          </a:prstGeom>
          <a:noFill/>
        </p:spPr>
        <p:txBody>
          <a:bodyPr wrap="square" lIns="0" rIns="0" tIns="0" bIns="0">
            <a:spAutoFit/>
          </a:bodyPr>
          <a:lstStyle/>
          <a:p>
            <a:pPr algn="l">
              <a:lnSpc>
                <a:spcPct val="115000"/>
              </a:lnSpc>
              <a:spcBef>
                <a:spcPts val="0"/>
              </a:spcBef>
              <a:defRPr sz="1200" b="0" i="0">
                <a:solidFill>
                  <a:srgbClr val="2B2B29"/>
                </a:solidFill>
                <a:latin typeface="Segoe UI"/>
              </a:defRPr>
            </a:pPr>
            <a:r>
              <a:t>—  Voix synthétique</a:t>
            </a:r>
          </a:p>
        </p:txBody>
      </p:sp>
      <p:sp>
        <p:nvSpPr>
          <p:cNvPr id="15" name="TextBox 14"/>
          <p:cNvSpPr txBox="1"/>
          <p:nvPr/>
        </p:nvSpPr>
        <p:spPr>
          <a:xfrm>
            <a:off x="8869680" y="4023360"/>
            <a:ext cx="2423160" cy="640080"/>
          </a:xfrm>
          <a:prstGeom prst="rect">
            <a:avLst/>
          </a:prstGeom>
          <a:noFill/>
        </p:spPr>
        <p:txBody>
          <a:bodyPr wrap="square" lIns="0" rIns="0" tIns="0" bIns="0">
            <a:spAutoFit/>
          </a:bodyPr>
          <a:lstStyle/>
          <a:p>
            <a:pPr algn="l">
              <a:lnSpc>
                <a:spcPct val="115000"/>
              </a:lnSpc>
              <a:spcBef>
                <a:spcPts val="0"/>
              </a:spcBef>
              <a:defRPr sz="1200" b="0" i="0">
                <a:solidFill>
                  <a:srgbClr val="2B2B29"/>
                </a:solidFill>
                <a:latin typeface="Segoe UI"/>
              </a:defRPr>
            </a:pPr>
            <a:r>
              <a:t>—  Scènes et schémas animés</a:t>
            </a:r>
          </a:p>
        </p:txBody>
      </p:sp>
      <p:sp>
        <p:nvSpPr>
          <p:cNvPr id="16" name="TextBox 15"/>
          <p:cNvSpPr txBox="1"/>
          <p:nvPr/>
        </p:nvSpPr>
        <p:spPr>
          <a:xfrm>
            <a:off x="914400" y="4892040"/>
            <a:ext cx="2423160" cy="640080"/>
          </a:xfrm>
          <a:prstGeom prst="rect">
            <a:avLst/>
          </a:prstGeom>
          <a:noFill/>
        </p:spPr>
        <p:txBody>
          <a:bodyPr wrap="square" lIns="0" rIns="0" tIns="0" bIns="0">
            <a:spAutoFit/>
          </a:bodyPr>
          <a:lstStyle/>
          <a:p>
            <a:pPr algn="l">
              <a:lnSpc>
                <a:spcPct val="115000"/>
              </a:lnSpc>
              <a:spcBef>
                <a:spcPts val="0"/>
              </a:spcBef>
              <a:defRPr sz="1200" b="0" i="0">
                <a:solidFill>
                  <a:srgbClr val="2B2B29"/>
                </a:solidFill>
                <a:latin typeface="Segoe UI"/>
              </a:defRPr>
            </a:pPr>
            <a:r>
              <a:t>—  Sous-titres synchronisés</a:t>
            </a:r>
          </a:p>
        </p:txBody>
      </p:sp>
      <p:sp>
        <p:nvSpPr>
          <p:cNvPr id="17" name="TextBox 16"/>
          <p:cNvSpPr txBox="1"/>
          <p:nvPr/>
        </p:nvSpPr>
        <p:spPr>
          <a:xfrm>
            <a:off x="3566160" y="4892040"/>
            <a:ext cx="2423160" cy="640080"/>
          </a:xfrm>
          <a:prstGeom prst="rect">
            <a:avLst/>
          </a:prstGeom>
          <a:noFill/>
        </p:spPr>
        <p:txBody>
          <a:bodyPr wrap="square" lIns="0" rIns="0" tIns="0" bIns="0">
            <a:spAutoFit/>
          </a:bodyPr>
          <a:lstStyle/>
          <a:p>
            <a:pPr algn="l">
              <a:lnSpc>
                <a:spcPct val="115000"/>
              </a:lnSpc>
              <a:spcBef>
                <a:spcPts val="0"/>
              </a:spcBef>
              <a:defRPr sz="1200" b="0" i="0">
                <a:solidFill>
                  <a:srgbClr val="2B2B29"/>
                </a:solidFill>
                <a:latin typeface="Segoe UI"/>
              </a:defRPr>
            </a:pPr>
            <a:r>
              <a:t>—  Évaluation finale</a:t>
            </a:r>
          </a:p>
        </p:txBody>
      </p:sp>
      <p:sp>
        <p:nvSpPr>
          <p:cNvPr id="18" name="TextBox 17"/>
          <p:cNvSpPr txBox="1"/>
          <p:nvPr/>
        </p:nvSpPr>
        <p:spPr>
          <a:xfrm>
            <a:off x="6217920" y="4892040"/>
            <a:ext cx="2423160" cy="640080"/>
          </a:xfrm>
          <a:prstGeom prst="rect">
            <a:avLst/>
          </a:prstGeom>
          <a:noFill/>
        </p:spPr>
        <p:txBody>
          <a:bodyPr wrap="square" lIns="0" rIns="0" tIns="0" bIns="0">
            <a:spAutoFit/>
          </a:bodyPr>
          <a:lstStyle/>
          <a:p>
            <a:pPr algn="l">
              <a:lnSpc>
                <a:spcPct val="115000"/>
              </a:lnSpc>
              <a:spcBef>
                <a:spcPts val="0"/>
              </a:spcBef>
              <a:defRPr sz="1200" b="0" i="0">
                <a:solidFill>
                  <a:srgbClr val="2B2B29"/>
                </a:solidFill>
                <a:latin typeface="Segoe UI"/>
              </a:defRPr>
            </a:pPr>
            <a:r>
              <a:t>—  Publication web</a:t>
            </a:r>
          </a:p>
        </p:txBody>
      </p:sp>
      <p:sp>
        <p:nvSpPr>
          <p:cNvPr id="19" name="TextBox 18"/>
          <p:cNvSpPr txBox="1"/>
          <p:nvPr/>
        </p:nvSpPr>
        <p:spPr>
          <a:xfrm>
            <a:off x="8869680" y="4892040"/>
            <a:ext cx="2423160" cy="640080"/>
          </a:xfrm>
          <a:prstGeom prst="rect">
            <a:avLst/>
          </a:prstGeom>
          <a:noFill/>
        </p:spPr>
        <p:txBody>
          <a:bodyPr wrap="square" lIns="0" rIns="0" tIns="0" bIns="0">
            <a:spAutoFit/>
          </a:bodyPr>
          <a:lstStyle/>
          <a:p>
            <a:pPr algn="l">
              <a:lnSpc>
                <a:spcPct val="115000"/>
              </a:lnSpc>
              <a:spcBef>
                <a:spcPts val="0"/>
              </a:spcBef>
              <a:defRPr sz="1200" b="0" i="0">
                <a:solidFill>
                  <a:srgbClr val="2B2B29"/>
                </a:solidFill>
                <a:latin typeface="Segoe UI"/>
              </a:defRPr>
            </a:pPr>
            <a:r>
              <a:t>—  Pipeline automatisé et reprenable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C  O  N  C  E  P  T  I  O  N        ·        1     S  U  R     4</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Diagramme de cas d'utilisation</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6</a:t>
            </a:r>
          </a:p>
        </p:txBody>
      </p:sp>
      <p:pic>
        <p:nvPicPr>
          <p:cNvPr id="6" name="Picture 5" descr="uml_cas_utilisation_paysage.png"/>
          <p:cNvPicPr>
            <a:picLocks noChangeAspect="1"/>
          </p:cNvPicPr>
          <p:nvPr/>
        </p:nvPicPr>
        <p:blipFill>
          <a:blip r:embed="rId2"/>
          <a:stretch>
            <a:fillRect/>
          </a:stretch>
        </p:blipFill>
        <p:spPr>
          <a:xfrm>
            <a:off x="4681728" y="1847088"/>
            <a:ext cx="6592660" cy="4343400"/>
          </a:xfrm>
          <a:prstGeom prst="rect">
            <a:avLst/>
          </a:prstGeom>
        </p:spPr>
      </p:pic>
      <p:sp>
        <p:nvSpPr>
          <p:cNvPr id="7" name="TextBox 6"/>
          <p:cNvSpPr txBox="1"/>
          <p:nvPr/>
        </p:nvSpPr>
        <p:spPr>
          <a:xfrm>
            <a:off x="1188720" y="1874519"/>
            <a:ext cx="3154680" cy="41148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Q  U  I     F  A  I  T     Q  U  O  I</a:t>
            </a:r>
          </a:p>
          <a:p>
            <a:pPr algn="l">
              <a:lnSpc>
                <a:spcPct val="100000"/>
              </a:lnSpc>
              <a:spcBef>
                <a:spcPts val="1300"/>
              </a:spcBef>
              <a:defRPr sz="1250" b="0" i="1">
                <a:solidFill>
                  <a:srgbClr val="2B2B29"/>
                </a:solidFill>
                <a:latin typeface="Georgia"/>
              </a:defRPr>
            </a:pPr>
            <a:r>
              <a:t>Producteur de cours</a:t>
            </a:r>
          </a:p>
          <a:p>
            <a:pPr algn="l">
              <a:lnSpc>
                <a:spcPct val="118000"/>
              </a:lnSpc>
              <a:spcBef>
                <a:spcPts val="300"/>
              </a:spcBef>
              <a:defRPr sz="1000" b="0" i="0">
                <a:solidFill>
                  <a:srgbClr val="8C8C88"/>
                </a:solidFill>
                <a:latin typeface="Segoe UI"/>
              </a:defRPr>
            </a:pPr>
            <a:r>
              <a:t>Le service formation : il dépose le PDF, lance la production et suit les neuf étages.</a:t>
            </a:r>
          </a:p>
          <a:p>
            <a:pPr algn="l">
              <a:lnSpc>
                <a:spcPct val="100000"/>
              </a:lnSpc>
              <a:spcBef>
                <a:spcPts val="1300"/>
              </a:spcBef>
              <a:defRPr sz="1250" b="0" i="1">
                <a:solidFill>
                  <a:srgbClr val="2B2B29"/>
                </a:solidFill>
                <a:latin typeface="Georgia"/>
              </a:defRPr>
            </a:pPr>
            <a:r>
              <a:t>Apprenant</a:t>
            </a:r>
          </a:p>
          <a:p>
            <a:pPr algn="l">
              <a:lnSpc>
                <a:spcPct val="118000"/>
              </a:lnSpc>
              <a:spcBef>
                <a:spcPts val="300"/>
              </a:spcBef>
              <a:defRPr sz="1000" b="0" i="0">
                <a:solidFill>
                  <a:srgbClr val="8C8C88"/>
                </a:solidFill>
                <a:latin typeface="Segoe UI"/>
              </a:defRPr>
            </a:pPr>
            <a:r>
              <a:t>Il consulte le catalogue, lit les vidéos, active les sous-titres, annote et passe l'évaluation.</a:t>
            </a:r>
          </a:p>
          <a:p>
            <a:pPr algn="l">
              <a:lnSpc>
                <a:spcPct val="100000"/>
              </a:lnSpc>
              <a:spcBef>
                <a:spcPts val="1300"/>
              </a:spcBef>
              <a:defRPr sz="1250" b="0" i="1">
                <a:solidFill>
                  <a:srgbClr val="2B2B29"/>
                </a:solidFill>
                <a:latin typeface="Georgia"/>
              </a:defRPr>
            </a:pPr>
            <a:r>
              <a:t>Trois acteurs externes</a:t>
            </a:r>
          </a:p>
          <a:p>
            <a:pPr algn="l">
              <a:lnSpc>
                <a:spcPct val="118000"/>
              </a:lnSpc>
              <a:spcBef>
                <a:spcPts val="300"/>
              </a:spcBef>
              <a:defRPr sz="1000" b="0" i="0">
                <a:solidFill>
                  <a:srgbClr val="8C8C88"/>
                </a:solidFill>
                <a:latin typeface="Segoe UI"/>
              </a:defRPr>
            </a:pPr>
            <a:r>
              <a:t>Le modèle de rédaction, la synthèse vocale et le service d'images d'ambiance.</a:t>
            </a:r>
          </a:p>
        </p:txBody>
      </p:sp>
      <p:sp>
        <p:nvSpPr>
          <p:cNvPr id="8" name="Rectangle 7"/>
          <p:cNvSpPr/>
          <p:nvPr/>
        </p:nvSpPr>
        <p:spPr>
          <a:xfrm>
            <a:off x="914400" y="5486400"/>
            <a:ext cx="32004" cy="6858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5486400"/>
            <a:ext cx="3383280" cy="731520"/>
          </a:xfrm>
          <a:prstGeom prst="rect">
            <a:avLst/>
          </a:prstGeom>
          <a:noFill/>
        </p:spPr>
        <p:txBody>
          <a:bodyPr wrap="square" lIns="0" rIns="0" tIns="0" bIns="0">
            <a:spAutoFit/>
          </a:bodyPr>
          <a:lstStyle/>
          <a:p>
            <a:pPr algn="l">
              <a:lnSpc>
                <a:spcPct val="118000"/>
              </a:lnSpc>
              <a:spcBef>
                <a:spcPts val="0"/>
              </a:spcBef>
              <a:defRPr sz="1300" b="0" i="1">
                <a:solidFill>
                  <a:srgbClr val="2B2B29"/>
                </a:solidFill>
                <a:latin typeface="Georgia"/>
              </a:defRPr>
            </a:pPr>
            <a:r>
              <a:t>Deux usages distincts : produire le cours, puis l'apprendre.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C  O  N  C  E  P  T  I  O  N        ·        2     S  U  R     4</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Diagramme de classes</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7</a:t>
            </a:r>
          </a:p>
        </p:txBody>
      </p:sp>
      <p:pic>
        <p:nvPicPr>
          <p:cNvPr id="6" name="Picture 5" descr="uml_classes.png"/>
          <p:cNvPicPr>
            <a:picLocks noChangeAspect="1"/>
          </p:cNvPicPr>
          <p:nvPr/>
        </p:nvPicPr>
        <p:blipFill>
          <a:blip r:embed="rId2"/>
          <a:stretch>
            <a:fillRect/>
          </a:stretch>
        </p:blipFill>
        <p:spPr>
          <a:xfrm>
            <a:off x="6574536" y="1847088"/>
            <a:ext cx="4694093" cy="4343400"/>
          </a:xfrm>
          <a:prstGeom prst="rect">
            <a:avLst/>
          </a:prstGeom>
        </p:spPr>
      </p:pic>
      <p:sp>
        <p:nvSpPr>
          <p:cNvPr id="7" name="TextBox 6"/>
          <p:cNvSpPr txBox="1"/>
          <p:nvPr/>
        </p:nvSpPr>
        <p:spPr>
          <a:xfrm>
            <a:off x="1188720" y="1874519"/>
            <a:ext cx="5120640" cy="402336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L  E     M  O  D  È  L  E     D  E     D  O  N  N  É  E  S</a:t>
            </a:r>
          </a:p>
          <a:p>
            <a:pPr algn="l">
              <a:lnSpc>
                <a:spcPct val="100000"/>
              </a:lnSpc>
              <a:spcBef>
                <a:spcPts val="1400"/>
              </a:spcBef>
              <a:defRPr sz="1300" b="0" i="1">
                <a:solidFill>
                  <a:srgbClr val="2B2B29"/>
                </a:solidFill>
                <a:latin typeface="Georgia"/>
              </a:defRPr>
            </a:pPr>
            <a:r>
              <a:t>Production</a:t>
            </a:r>
          </a:p>
          <a:p>
            <a:pPr algn="l">
              <a:lnSpc>
                <a:spcPct val="118000"/>
              </a:lnSpc>
              <a:spcBef>
                <a:spcPts val="300"/>
              </a:spcBef>
              <a:defRPr sz="1050" b="0" i="0">
                <a:solidFill>
                  <a:srgbClr val="8C8C88"/>
                </a:solidFill>
                <a:latin typeface="Segoe UI"/>
              </a:defRPr>
            </a:pPr>
            <a:r>
              <a:t>La racine : un identifiant, un état, le dernier étage validé et un dossier. C'est elle qui rend la reprise possible.</a:t>
            </a:r>
          </a:p>
          <a:p>
            <a:pPr algn="l">
              <a:lnSpc>
                <a:spcPct val="100000"/>
              </a:lnSpc>
              <a:spcBef>
                <a:spcPts val="1400"/>
              </a:spcBef>
              <a:defRPr sz="1300" b="0" i="1">
                <a:solidFill>
                  <a:srgbClr val="2B2B29"/>
                </a:solidFill>
                <a:latin typeface="Georgia"/>
              </a:defRPr>
            </a:pPr>
            <a:r>
              <a:t>Cours → Chapitre → Séquence</a:t>
            </a:r>
          </a:p>
          <a:p>
            <a:pPr algn="l">
              <a:lnSpc>
                <a:spcPct val="118000"/>
              </a:lnSpc>
              <a:spcBef>
                <a:spcPts val="300"/>
              </a:spcBef>
              <a:defRPr sz="1050" b="0" i="0">
                <a:solidFill>
                  <a:srgbClr val="8C8C88"/>
                </a:solidFill>
                <a:latin typeface="Segoe UI"/>
              </a:defRPr>
            </a:pPr>
            <a:r>
              <a:t>La hiérarchie du contenu. Un chapitre porte son résumé, ses points clés, sa narration, son audio et ses sous-titres.</a:t>
            </a:r>
          </a:p>
          <a:p>
            <a:pPr algn="l">
              <a:lnSpc>
                <a:spcPct val="100000"/>
              </a:lnSpc>
              <a:spcBef>
                <a:spcPts val="1400"/>
              </a:spcBef>
              <a:defRPr sz="1300" b="0" i="1">
                <a:solidFill>
                  <a:srgbClr val="2B2B29"/>
                </a:solidFill>
                <a:latin typeface="Georgia"/>
              </a:defRPr>
            </a:pPr>
            <a:r>
              <a:t>EtatEtage</a:t>
            </a:r>
          </a:p>
          <a:p>
            <a:pPr algn="l">
              <a:lnSpc>
                <a:spcPct val="118000"/>
              </a:lnSpc>
              <a:spcBef>
                <a:spcPts val="300"/>
              </a:spcBef>
              <a:defRPr sz="1050" b="0" i="0">
                <a:solidFill>
                  <a:srgbClr val="8C8C88"/>
                </a:solidFill>
                <a:latin typeface="Segoe UI"/>
              </a:defRPr>
            </a:pPr>
            <a:r>
              <a:t>Neuf instances, une par étage : son statut et les artefacts qu'il a écrits.</a:t>
            </a:r>
          </a:p>
        </p:txBody>
      </p:sp>
      <p:sp>
        <p:nvSpPr>
          <p:cNvPr id="8" name="Rectangle 7"/>
          <p:cNvSpPr/>
          <p:nvPr/>
        </p:nvSpPr>
        <p:spPr>
          <a:xfrm>
            <a:off x="914400" y="5532120"/>
            <a:ext cx="32004" cy="6858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5532120"/>
            <a:ext cx="5120640" cy="731520"/>
          </a:xfrm>
          <a:prstGeom prst="rect">
            <a:avLst/>
          </a:prstGeom>
          <a:noFill/>
        </p:spPr>
        <p:txBody>
          <a:bodyPr wrap="square" lIns="0" rIns="0" tIns="0" bIns="0">
            <a:spAutoFit/>
          </a:bodyPr>
          <a:lstStyle/>
          <a:p>
            <a:pPr algn="l">
              <a:lnSpc>
                <a:spcPct val="118000"/>
              </a:lnSpc>
              <a:spcBef>
                <a:spcPts val="0"/>
              </a:spcBef>
              <a:defRPr sz="1250" b="0" i="1">
                <a:solidFill>
                  <a:srgbClr val="2B2B29"/>
                </a:solidFill>
                <a:latin typeface="Georgia"/>
              </a:defRPr>
            </a:pPr>
            <a:r>
              <a:t>Les compositions traduisent la règle : effacer une production efface tout ce qu'elle contient.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C  O  N  C  E  P  T  I  O  N        ·        3     S  U  R     4</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Diagramme d'activité</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8</a:t>
            </a:r>
          </a:p>
        </p:txBody>
      </p:sp>
      <p:pic>
        <p:nvPicPr>
          <p:cNvPr id="6" name="Picture 5" descr="uml_activite_paysage.png"/>
          <p:cNvPicPr>
            <a:picLocks noChangeAspect="1"/>
          </p:cNvPicPr>
          <p:nvPr/>
        </p:nvPicPr>
        <p:blipFill>
          <a:blip r:embed="rId2"/>
          <a:stretch>
            <a:fillRect/>
          </a:stretch>
        </p:blipFill>
        <p:spPr>
          <a:xfrm>
            <a:off x="5916168" y="1847088"/>
            <a:ext cx="5365199" cy="4343400"/>
          </a:xfrm>
          <a:prstGeom prst="rect">
            <a:avLst/>
          </a:prstGeom>
        </p:spPr>
      </p:pic>
      <p:sp>
        <p:nvSpPr>
          <p:cNvPr id="7" name="TextBox 6"/>
          <p:cNvSpPr txBox="1"/>
          <p:nvPr/>
        </p:nvSpPr>
        <p:spPr>
          <a:xfrm>
            <a:off x="1188720" y="1874519"/>
            <a:ext cx="4480560" cy="402336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L  E     D  É  R  O  U  L  E  M  E  N  T     D  '  U  N  E     P  R  O  D  U  C  T  I  O  N</a:t>
            </a:r>
          </a:p>
          <a:p>
            <a:pPr algn="l">
              <a:lnSpc>
                <a:spcPct val="100000"/>
              </a:lnSpc>
              <a:spcBef>
                <a:spcPts val="1400"/>
              </a:spcBef>
              <a:defRPr sz="1300" b="0" i="1">
                <a:solidFill>
                  <a:srgbClr val="2B2B29"/>
                </a:solidFill>
                <a:latin typeface="Georgia"/>
              </a:defRPr>
            </a:pPr>
            <a:r>
              <a:t>Contrôle au dépôt</a:t>
            </a:r>
          </a:p>
          <a:p>
            <a:pPr algn="l">
              <a:lnSpc>
                <a:spcPct val="118000"/>
              </a:lnSpc>
              <a:spcBef>
                <a:spcPts val="300"/>
              </a:spcBef>
              <a:defRPr sz="1050" b="0" i="0">
                <a:solidFill>
                  <a:srgbClr val="8C8C88"/>
                </a:solidFill>
                <a:latin typeface="Segoe UI"/>
              </a:defRPr>
            </a:pPr>
            <a:r>
              <a:t>Un PDF sans couche texte ou un quiz mal formé est refusé immédiatement, pas au bout d'une heure.</a:t>
            </a:r>
          </a:p>
          <a:p>
            <a:pPr algn="l">
              <a:lnSpc>
                <a:spcPct val="100000"/>
              </a:lnSpc>
              <a:spcBef>
                <a:spcPts val="1400"/>
              </a:spcBef>
              <a:defRPr sz="1300" b="0" i="1">
                <a:solidFill>
                  <a:srgbClr val="2B2B29"/>
                </a:solidFill>
                <a:latin typeface="Georgia"/>
              </a:defRPr>
            </a:pPr>
            <a:r>
              <a:t>Reprise</a:t>
            </a:r>
          </a:p>
          <a:p>
            <a:pPr algn="l">
              <a:lnSpc>
                <a:spcPct val="118000"/>
              </a:lnSpc>
              <a:spcBef>
                <a:spcPts val="300"/>
              </a:spcBef>
              <a:defRPr sz="1050" b="0" i="0">
                <a:solidFill>
                  <a:srgbClr val="8C8C88"/>
                </a:solidFill>
                <a:latin typeface="Segoe UI"/>
              </a:defRPr>
            </a:pPr>
            <a:r>
              <a:t>Si une production a été interrompue, la chaîne relit le dernier étage validé et repart au suivant.</a:t>
            </a:r>
          </a:p>
          <a:p>
            <a:pPr algn="l">
              <a:lnSpc>
                <a:spcPct val="100000"/>
              </a:lnSpc>
              <a:spcBef>
                <a:spcPts val="1400"/>
              </a:spcBef>
              <a:defRPr sz="1300" b="0" i="1">
                <a:solidFill>
                  <a:srgbClr val="2B2B29"/>
                </a:solidFill>
                <a:latin typeface="Georgia"/>
              </a:defRPr>
            </a:pPr>
            <a:r>
              <a:t>Échec bloquant</a:t>
            </a:r>
          </a:p>
          <a:p>
            <a:pPr algn="l">
              <a:lnSpc>
                <a:spcPct val="118000"/>
              </a:lnSpc>
              <a:spcBef>
                <a:spcPts val="300"/>
              </a:spcBef>
              <a:defRPr sz="1050" b="0" i="0">
                <a:solidFill>
                  <a:srgbClr val="8C8C88"/>
                </a:solidFill>
                <a:latin typeface="Segoe UI"/>
              </a:defRPr>
            </a:pPr>
            <a:r>
              <a:t>Les artefacts déjà acquis sont conservés et l'arrêt est signalé — rien n'est perdu.</a:t>
            </a:r>
          </a:p>
        </p:txBody>
      </p:sp>
      <p:sp>
        <p:nvSpPr>
          <p:cNvPr id="8" name="Rectangle 7"/>
          <p:cNvSpPr/>
          <p:nvPr/>
        </p:nvSpPr>
        <p:spPr>
          <a:xfrm>
            <a:off x="914400" y="5532120"/>
            <a:ext cx="32004" cy="6858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5532120"/>
            <a:ext cx="4480560" cy="731520"/>
          </a:xfrm>
          <a:prstGeom prst="rect">
            <a:avLst/>
          </a:prstGeom>
          <a:noFill/>
        </p:spPr>
        <p:txBody>
          <a:bodyPr wrap="square" lIns="0" rIns="0" tIns="0" bIns="0">
            <a:spAutoFit/>
          </a:bodyPr>
          <a:lstStyle/>
          <a:p>
            <a:pPr algn="l">
              <a:lnSpc>
                <a:spcPct val="118000"/>
              </a:lnSpc>
              <a:spcBef>
                <a:spcPts val="0"/>
              </a:spcBef>
              <a:defRPr sz="1300" b="0" i="1">
                <a:solidFill>
                  <a:srgbClr val="2B2B29"/>
                </a:solidFill>
                <a:latin typeface="Georgia"/>
              </a:defRPr>
            </a:pPr>
            <a:r>
              <a:t>La boucle centrale exécute les neuf étages, un par 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C  O  N  C  E  P  T  I  O  N        ·        4     S  U  R     4</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Conception du pipeline</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9</a:t>
            </a:r>
          </a:p>
        </p:txBody>
      </p:sp>
      <p:pic>
        <p:nvPicPr>
          <p:cNvPr id="6" name="Picture 5" descr="pipeline_etapes.png"/>
          <p:cNvPicPr>
            <a:picLocks noChangeAspect="1"/>
          </p:cNvPicPr>
          <p:nvPr/>
        </p:nvPicPr>
        <p:blipFill>
          <a:blip r:embed="rId2"/>
          <a:stretch>
            <a:fillRect/>
          </a:stretch>
        </p:blipFill>
        <p:spPr>
          <a:xfrm>
            <a:off x="6739128" y="1828800"/>
            <a:ext cx="4529198" cy="4434840"/>
          </a:xfrm>
          <a:prstGeom prst="rect">
            <a:avLst/>
          </a:prstGeom>
        </p:spPr>
      </p:pic>
      <p:sp>
        <p:nvSpPr>
          <p:cNvPr id="7" name="Rectangle 6"/>
          <p:cNvSpPr/>
          <p:nvPr/>
        </p:nvSpPr>
        <p:spPr>
          <a:xfrm>
            <a:off x="914400" y="1874519"/>
            <a:ext cx="32004" cy="7772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856231"/>
            <a:ext cx="5212080" cy="822960"/>
          </a:xfrm>
          <a:prstGeom prst="rect">
            <a:avLst/>
          </a:prstGeom>
          <a:noFill/>
        </p:spPr>
        <p:txBody>
          <a:bodyPr wrap="square" lIns="0" rIns="0" tIns="0" bIns="0">
            <a:spAutoFit/>
          </a:bodyPr>
          <a:lstStyle/>
          <a:p>
            <a:pPr algn="l">
              <a:lnSpc>
                <a:spcPct val="115000"/>
              </a:lnSpc>
              <a:spcBef>
                <a:spcPts val="0"/>
              </a:spcBef>
              <a:defRPr sz="1900" b="0" i="1">
                <a:solidFill>
                  <a:srgbClr val="2B2B29"/>
                </a:solidFill>
                <a:latin typeface="Georgia"/>
              </a:defRPr>
            </a:pPr>
            <a:r>
              <a:t>Chaque étape lit et écrit</a:t>
            </a:r>
          </a:p>
          <a:p>
            <a:pPr algn="l">
              <a:lnSpc>
                <a:spcPct val="115000"/>
              </a:lnSpc>
              <a:spcBef>
                <a:spcPts val="0"/>
              </a:spcBef>
              <a:defRPr sz="1900" b="0" i="1">
                <a:solidFill>
                  <a:srgbClr val="2B2B29"/>
                </a:solidFill>
                <a:latin typeface="Georgia"/>
              </a:defRPr>
            </a:pPr>
            <a:r>
              <a:t>des fichiers intermédiaires.</a:t>
            </a:r>
          </a:p>
        </p:txBody>
      </p:sp>
      <p:sp>
        <p:nvSpPr>
          <p:cNvPr id="9" name="TextBox 8"/>
          <p:cNvSpPr txBox="1"/>
          <p:nvPr/>
        </p:nvSpPr>
        <p:spPr>
          <a:xfrm>
            <a:off x="1188720" y="2880360"/>
            <a:ext cx="2560320" cy="365760"/>
          </a:xfrm>
          <a:prstGeom prst="rect">
            <a:avLst/>
          </a:prstGeom>
          <a:noFill/>
        </p:spPr>
        <p:txBody>
          <a:bodyPr wrap="square" lIns="0" rIns="0" tIns="0" bIns="0">
            <a:spAutoFit/>
          </a:bodyPr>
          <a:lstStyle/>
          <a:p>
            <a:pPr algn="l">
              <a:lnSpc>
                <a:spcPct val="100000"/>
              </a:lnSpc>
              <a:spcBef>
                <a:spcPts val="0"/>
              </a:spcBef>
              <a:defRPr sz="1100" b="0" i="0">
                <a:solidFill>
                  <a:srgbClr val="1F6FB2"/>
                </a:solidFill>
                <a:latin typeface="Segoe UI"/>
              </a:defRPr>
            </a:pPr>
            <a:r>
              <a:t>—  Pipeline modulaire</a:t>
            </a:r>
          </a:p>
        </p:txBody>
      </p:sp>
      <p:sp>
        <p:nvSpPr>
          <p:cNvPr id="10" name="TextBox 9"/>
          <p:cNvSpPr txBox="1"/>
          <p:nvPr/>
        </p:nvSpPr>
        <p:spPr>
          <a:xfrm>
            <a:off x="3794760" y="2880360"/>
            <a:ext cx="2560320" cy="365760"/>
          </a:xfrm>
          <a:prstGeom prst="rect">
            <a:avLst/>
          </a:prstGeom>
          <a:noFill/>
        </p:spPr>
        <p:txBody>
          <a:bodyPr wrap="square" lIns="0" rIns="0" tIns="0" bIns="0">
            <a:spAutoFit/>
          </a:bodyPr>
          <a:lstStyle/>
          <a:p>
            <a:pPr algn="l">
              <a:lnSpc>
                <a:spcPct val="100000"/>
              </a:lnSpc>
              <a:spcBef>
                <a:spcPts val="0"/>
              </a:spcBef>
              <a:defRPr sz="1100" b="0" i="0">
                <a:solidFill>
                  <a:srgbClr val="1F6FB2"/>
                </a:solidFill>
                <a:latin typeface="Segoe UI"/>
              </a:defRPr>
            </a:pPr>
            <a:r>
              <a:t>—  Reproductible</a:t>
            </a:r>
          </a:p>
        </p:txBody>
      </p:sp>
      <p:sp>
        <p:nvSpPr>
          <p:cNvPr id="11" name="TextBox 10"/>
          <p:cNvSpPr txBox="1"/>
          <p:nvPr/>
        </p:nvSpPr>
        <p:spPr>
          <a:xfrm>
            <a:off x="1188720" y="3282696"/>
            <a:ext cx="2560320" cy="365760"/>
          </a:xfrm>
          <a:prstGeom prst="rect">
            <a:avLst/>
          </a:prstGeom>
          <a:noFill/>
        </p:spPr>
        <p:txBody>
          <a:bodyPr wrap="square" lIns="0" rIns="0" tIns="0" bIns="0">
            <a:spAutoFit/>
          </a:bodyPr>
          <a:lstStyle/>
          <a:p>
            <a:pPr algn="l">
              <a:lnSpc>
                <a:spcPct val="100000"/>
              </a:lnSpc>
              <a:spcBef>
                <a:spcPts val="0"/>
              </a:spcBef>
              <a:defRPr sz="1100" b="0" i="0">
                <a:solidFill>
                  <a:srgbClr val="1F6FB2"/>
                </a:solidFill>
                <a:latin typeface="Segoe UI"/>
              </a:defRPr>
            </a:pPr>
            <a:r>
              <a:t>—  Reprenable après interruption</a:t>
            </a:r>
          </a:p>
        </p:txBody>
      </p:sp>
      <p:sp>
        <p:nvSpPr>
          <p:cNvPr id="12" name="TextBox 11"/>
          <p:cNvSpPr txBox="1"/>
          <p:nvPr/>
        </p:nvSpPr>
        <p:spPr>
          <a:xfrm>
            <a:off x="3794760" y="3282696"/>
            <a:ext cx="2560320" cy="365760"/>
          </a:xfrm>
          <a:prstGeom prst="rect">
            <a:avLst/>
          </a:prstGeom>
          <a:noFill/>
        </p:spPr>
        <p:txBody>
          <a:bodyPr wrap="square" lIns="0" rIns="0" tIns="0" bIns="0">
            <a:spAutoFit/>
          </a:bodyPr>
          <a:lstStyle/>
          <a:p>
            <a:pPr algn="l">
              <a:lnSpc>
                <a:spcPct val="100000"/>
              </a:lnSpc>
              <a:spcBef>
                <a:spcPts val="0"/>
              </a:spcBef>
              <a:defRPr sz="1100" b="0" i="0">
                <a:solidFill>
                  <a:srgbClr val="1F6FB2"/>
                </a:solidFill>
                <a:latin typeface="Segoe UI"/>
              </a:defRPr>
            </a:pPr>
            <a:r>
              <a:t>—  Chaque étape contrôlable</a:t>
            </a:r>
          </a:p>
        </p:txBody>
      </p:sp>
      <p:sp>
        <p:nvSpPr>
          <p:cNvPr id="13" name="TextBox 12"/>
          <p:cNvSpPr txBox="1"/>
          <p:nvPr/>
        </p:nvSpPr>
        <p:spPr>
          <a:xfrm>
            <a:off x="1188720" y="3721608"/>
            <a:ext cx="5120640"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a:defRPr>
            </a:pPr>
            <a:r>
              <a:t>Le studio — la chaîne se lance depuis le navigateur, sans terminal.</a:t>
            </a:r>
          </a:p>
        </p:txBody>
      </p:sp>
      <p:pic>
        <p:nvPicPr>
          <p:cNvPr id="14" name="Picture 13" descr="slide10_studio.png"/>
          <p:cNvPicPr>
            <a:picLocks noChangeAspect="1"/>
          </p:cNvPicPr>
          <p:nvPr/>
        </p:nvPicPr>
        <p:blipFill>
          <a:blip r:embed="rId3"/>
          <a:stretch>
            <a:fillRect/>
          </a:stretch>
        </p:blipFill>
        <p:spPr>
          <a:xfrm>
            <a:off x="1188720" y="4005072"/>
            <a:ext cx="3017520" cy="221284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1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Lecture du PDF</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10</a:t>
            </a:r>
          </a:p>
        </p:txBody>
      </p:sp>
      <p:sp>
        <p:nvSpPr>
          <p:cNvPr id="6" name="Rectangle 5"/>
          <p:cNvSpPr/>
          <p:nvPr/>
        </p:nvSpPr>
        <p:spPr>
          <a:xfrm>
            <a:off x="7034479"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Extraire le texte de chaque page</a:t>
            </a:r>
          </a:p>
          <a:p>
            <a:pPr algn="l">
              <a:lnSpc>
                <a:spcPct val="115000"/>
              </a:lnSpc>
              <a:spcBef>
                <a:spcPts val="1100"/>
              </a:spcBef>
              <a:defRPr sz="1250" b="0" i="0">
                <a:solidFill>
                  <a:srgbClr val="2B2B29"/>
                </a:solidFill>
                <a:latin typeface="Segoe UI"/>
              </a:defRPr>
            </a:pPr>
            <a:r>
              <a:t>—  Rendre chaque page en image, à 110 points par pouce</a:t>
            </a:r>
          </a:p>
          <a:p>
            <a:pPr algn="l">
              <a:lnSpc>
                <a:spcPct val="115000"/>
              </a:lnSpc>
              <a:spcBef>
                <a:spcPts val="1100"/>
              </a:spcBef>
              <a:defRPr sz="1250" b="0" i="0">
                <a:solidFill>
                  <a:srgbClr val="2B2B29"/>
                </a:solidFill>
                <a:latin typeface="Segoe UI"/>
              </a:defRPr>
            </a:pPr>
            <a:r>
              <a:t>—  Repérer les pages qui n'annoncent qu'un titre de partie</a:t>
            </a:r>
          </a:p>
          <a:p>
            <a:pPr algn="l">
              <a:lnSpc>
                <a:spcPct val="115000"/>
              </a:lnSpc>
              <a:spcBef>
                <a:spcPts val="1100"/>
              </a:spcBef>
              <a:defRPr sz="1250" b="0" i="0">
                <a:solidFill>
                  <a:srgbClr val="2B2B29"/>
                </a:solidFill>
                <a:latin typeface="Segoe UI"/>
              </a:defRPr>
            </a:pPr>
            <a:r>
              <a:t>—  Grouper les pages en chapitres de tailles comparables</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Une description par page :</a:t>
            </a:r>
            <a:br/>
            <a:r>
              <a:t>texte, image, position</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PyMuPDF</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Le nombre de chapitres découle du volume du support — ce n'est pas un paramètre que l'on saisit.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2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Génération de la narration</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11</a:t>
            </a:r>
          </a:p>
        </p:txBody>
      </p:sp>
      <p:sp>
        <p:nvSpPr>
          <p:cNvPr id="6" name="Rectangle 5"/>
          <p:cNvSpPr/>
          <p:nvPr/>
        </p:nvSpPr>
        <p:spPr>
          <a:xfrm>
            <a:off x="703447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Le modèle reçoit le texte et les images des pages</a:t>
            </a:r>
          </a:p>
          <a:p>
            <a:pPr algn="l">
              <a:lnSpc>
                <a:spcPct val="115000"/>
              </a:lnSpc>
              <a:spcBef>
                <a:spcPts val="1100"/>
              </a:spcBef>
              <a:defRPr sz="1250" b="0" i="0">
                <a:solidFill>
                  <a:srgbClr val="2B2B29"/>
                </a:solidFill>
                <a:latin typeface="Segoe UI"/>
              </a:defRPr>
            </a:pPr>
            <a:r>
              <a:t>—  Il produit titre, résumé, points clés et texte à prononcer</a:t>
            </a:r>
          </a:p>
          <a:p>
            <a:pPr algn="l">
              <a:lnSpc>
                <a:spcPct val="115000"/>
              </a:lnSpc>
              <a:spcBef>
                <a:spcPts val="1100"/>
              </a:spcBef>
              <a:defRPr sz="1250" b="0" i="0">
                <a:solidFill>
                  <a:srgbClr val="2B2B29"/>
                </a:solidFill>
                <a:latin typeface="Segoe UI"/>
              </a:defRPr>
            </a:pPr>
            <a:r>
              <a:t>—  Il développe le support sans y ajouter aucun fait</a:t>
            </a:r>
          </a:p>
          <a:p>
            <a:pPr algn="l">
              <a:lnSpc>
                <a:spcPct val="115000"/>
              </a:lnSpc>
              <a:spcBef>
                <a:spcPts val="1100"/>
              </a:spcBef>
              <a:defRPr sz="1250" b="0" i="0">
                <a:solidFill>
                  <a:srgbClr val="2B2B29"/>
                </a:solidFill>
                <a:latin typeface="Segoe UI"/>
              </a:defRPr>
            </a:pPr>
            <a:r>
              <a:t>—  Aucune donnée chiffrée ne doit disparaître</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Les chapitres rédigés :</a:t>
            </a:r>
            <a:br/>
            <a:r>
              <a:t>titre, résumé, points clés, narration</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Gemini + Pydantic</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La réponse est contrainte par un schéma déclaré, et la température est fixée à zéro : deux exécutions donnent le même texte.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3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Découpage en scènes</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12</a:t>
            </a:r>
          </a:p>
        </p:txBody>
      </p:sp>
      <p:sp>
        <p:nvSpPr>
          <p:cNvPr id="6" name="Rectangle 5"/>
          <p:cNvSpPr/>
          <p:nvPr/>
        </p:nvSpPr>
        <p:spPr>
          <a:xfrm>
            <a:off x="703447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La narration est coupée en scènes d'une dizaine de secondes</a:t>
            </a:r>
          </a:p>
          <a:p>
            <a:pPr algn="l">
              <a:lnSpc>
                <a:spcPct val="115000"/>
              </a:lnSpc>
              <a:spcBef>
                <a:spcPts val="1100"/>
              </a:spcBef>
              <a:defRPr sz="1250" b="0" i="0">
                <a:solidFill>
                  <a:srgbClr val="2B2B29"/>
                </a:solidFill>
                <a:latin typeface="Segoe UI"/>
              </a:defRPr>
            </a:pPr>
            <a:r>
              <a:t>—  Chaque scène reçoit un extrait contigu du texte</a:t>
            </a:r>
          </a:p>
          <a:p>
            <a:pPr algn="l">
              <a:lnSpc>
                <a:spcPct val="115000"/>
              </a:lnSpc>
              <a:spcBef>
                <a:spcPts val="1100"/>
              </a:spcBef>
              <a:defRPr sz="1250" b="0" i="0">
                <a:solidFill>
                  <a:srgbClr val="2B2B29"/>
                </a:solidFill>
                <a:latin typeface="Segoe UI"/>
              </a:defRPr>
            </a:pPr>
            <a:r>
              <a:t>—  Le texte n'est jamais réécrit en découpant</a:t>
            </a:r>
          </a:p>
          <a:p>
            <a:pPr algn="l">
              <a:lnSpc>
                <a:spcPct val="115000"/>
              </a:lnSpc>
              <a:spcBef>
                <a:spcPts val="1100"/>
              </a:spcBef>
              <a:defRPr sz="1250" b="0" i="0">
                <a:solidFill>
                  <a:srgbClr val="2B2B29"/>
                </a:solidFill>
                <a:latin typeface="Segoe UI"/>
              </a:defRPr>
            </a:pPr>
            <a:r>
              <a:t>—  Les scènes trop courtes sont fusionnées avec leur voisine</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Le storyboard :</a:t>
            </a:r>
            <a:br/>
            <a:r>
              <a:t>une liste de scènes et leur extrait</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Gemini</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Un contrôle vérifie que la concaténation des extraits redonne exactement la narration d'origine.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4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Synthèse vocale</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13</a:t>
            </a:r>
          </a:p>
        </p:txBody>
      </p:sp>
      <p:sp>
        <p:nvSpPr>
          <p:cNvPr id="6" name="Rectangle 5"/>
          <p:cNvSpPr/>
          <p:nvPr/>
        </p:nvSpPr>
        <p:spPr>
          <a:xfrm>
            <a:off x="703447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Chaque scène reçoit sa voix, en français</a:t>
            </a:r>
          </a:p>
          <a:p>
            <a:pPr algn="l">
              <a:lnSpc>
                <a:spcPct val="115000"/>
              </a:lnSpc>
              <a:spcBef>
                <a:spcPts val="1100"/>
              </a:spcBef>
              <a:defRPr sz="1250" b="0" i="0">
                <a:solidFill>
                  <a:srgbClr val="2B2B29"/>
                </a:solidFill>
                <a:latin typeface="Segoe UI"/>
              </a:defRPr>
            </a:pPr>
            <a:r>
              <a:t>—  Le moteur renvoie la position de chaque phrase prononcée</a:t>
            </a:r>
          </a:p>
          <a:p>
            <a:pPr algn="l">
              <a:lnSpc>
                <a:spcPct val="115000"/>
              </a:lnSpc>
              <a:spcBef>
                <a:spcPts val="1100"/>
              </a:spcBef>
              <a:defRPr sz="1250" b="0" i="0">
                <a:solidFill>
                  <a:srgbClr val="2B2B29"/>
                </a:solidFill>
                <a:latin typeface="Segoe UI"/>
              </a:defRPr>
            </a:pPr>
            <a:r>
              <a:t>—  La durée de la scène est mesurée sur l'audio produit</a:t>
            </a:r>
          </a:p>
          <a:p>
            <a:pPr algn="l">
              <a:lnSpc>
                <a:spcPct val="115000"/>
              </a:lnSpc>
              <a:spcBef>
                <a:spcPts val="1100"/>
              </a:spcBef>
              <a:defRPr sz="1250" b="0" i="0">
                <a:solidFill>
                  <a:srgbClr val="2B2B29"/>
                </a:solidFill>
                <a:latin typeface="Segoe UI"/>
              </a:defRPr>
            </a:pPr>
            <a:r>
              <a:t>—  Jamais estimée à partir d'un nombre de mots</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L'audio de chaque scène,</a:t>
            </a:r>
            <a:br/>
            <a:r>
              <a:t>et les repères de phrase</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edge-tts</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C'est cette mesure qui fixe la durée des scènes vidéo et le calage des sous-titres.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5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Génération des sous-titres</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14</a:t>
            </a:r>
          </a:p>
        </p:txBody>
      </p:sp>
      <p:sp>
        <p:nvSpPr>
          <p:cNvPr id="6" name="Rectangle 5"/>
          <p:cNvSpPr/>
          <p:nvPr/>
        </p:nvSpPr>
        <p:spPr>
          <a:xfrm>
            <a:off x="703447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Les repères de phrase deviennent des sous-titres horodatés</a:t>
            </a:r>
          </a:p>
          <a:p>
            <a:pPr algn="l">
              <a:lnSpc>
                <a:spcPct val="115000"/>
              </a:lnSpc>
              <a:spcBef>
                <a:spcPts val="1100"/>
              </a:spcBef>
              <a:defRPr sz="1250" b="0" i="0">
                <a:solidFill>
                  <a:srgbClr val="2B2B29"/>
                </a:solidFill>
                <a:latin typeface="Segoe UI"/>
              </a:defRPr>
            </a:pPr>
            <a:r>
              <a:t>—  Chacun est calé sur le moment où la voix le prononce</a:t>
            </a:r>
          </a:p>
          <a:p>
            <a:pPr algn="l">
              <a:lnSpc>
                <a:spcPct val="115000"/>
              </a:lnSpc>
              <a:spcBef>
                <a:spcPts val="1100"/>
              </a:spcBef>
              <a:defRPr sz="1250" b="0" i="0">
                <a:solidFill>
                  <a:srgbClr val="2B2B29"/>
                </a:solidFill>
                <a:latin typeface="Segoe UI"/>
              </a:defRPr>
            </a:pPr>
            <a:r>
              <a:t>—  Une piste par chapitre</a:t>
            </a:r>
          </a:p>
          <a:p>
            <a:pPr algn="l">
              <a:lnSpc>
                <a:spcPct val="115000"/>
              </a:lnSpc>
              <a:spcBef>
                <a:spcPts val="1100"/>
              </a:spcBef>
              <a:defRPr sz="1250" b="0" i="0">
                <a:solidFill>
                  <a:srgbClr val="2B2B29"/>
                </a:solidFill>
                <a:latin typeface="Segoe UI"/>
              </a:defRPr>
            </a:pPr>
            <a:r>
              <a:t>—  Activable à la lecture, et réutilisable autrement</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Une piste de sous-titres</a:t>
            </a:r>
            <a:br/>
            <a:r>
              <a:t>par chapitre</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Format WebVTT</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La même piste sert de transcription cliquable dans la plateforme : un seul fichier, deux usages.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6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Plan visuel</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15</a:t>
            </a:r>
          </a:p>
        </p:txBody>
      </p:sp>
      <p:sp>
        <p:nvSpPr>
          <p:cNvPr id="6" name="Rectangle 5"/>
          <p:cNvSpPr/>
          <p:nvPr/>
        </p:nvSpPr>
        <p:spPr>
          <a:xfrm>
            <a:off x="703447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Pour chaque scène, le modèle choisit une forme de schéma</a:t>
            </a:r>
          </a:p>
          <a:p>
            <a:pPr algn="l">
              <a:lnSpc>
                <a:spcPct val="115000"/>
              </a:lnSpc>
              <a:spcBef>
                <a:spcPts val="1100"/>
              </a:spcBef>
              <a:defRPr sz="1250" b="0" i="0">
                <a:solidFill>
                  <a:srgbClr val="2B2B29"/>
                </a:solidFill>
                <a:latin typeface="Segoe UI"/>
              </a:defRPr>
            </a:pPr>
            <a:r>
              <a:t>—  Dans un répertoire fermé de vingt-quatre archétypes</a:t>
            </a:r>
          </a:p>
          <a:p>
            <a:pPr algn="l">
              <a:lnSpc>
                <a:spcPct val="115000"/>
              </a:lnSpc>
              <a:spcBef>
                <a:spcPts val="1100"/>
              </a:spcBef>
              <a:defRPr sz="1250" b="0" i="0">
                <a:solidFill>
                  <a:srgbClr val="2B2B29"/>
                </a:solidFill>
                <a:latin typeface="Segoe UI"/>
              </a:defRPr>
            </a:pPr>
            <a:r>
              <a:t>—  Il en rédige les libellés et la phrase à retenir</a:t>
            </a:r>
          </a:p>
          <a:p>
            <a:pPr algn="l">
              <a:lnSpc>
                <a:spcPct val="115000"/>
              </a:lnSpc>
              <a:spcBef>
                <a:spcPts val="1100"/>
              </a:spcBef>
              <a:defRPr sz="1250" b="0" i="0">
                <a:solidFill>
                  <a:srgbClr val="2B2B29"/>
                </a:solidFill>
                <a:latin typeface="Segoe UI"/>
              </a:defRPr>
            </a:pPr>
            <a:r>
              <a:t>—  Deux scènes voisines ne portent pas la même forme</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Le plan visuel :</a:t>
            </a:r>
            <a:br/>
            <a:r>
              <a:t>archétype, libellés, phrase clé</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Gemini</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Les archétypes décrivent une structure de raisonnement — une inclusion, une progression, une comparaison — jamais un domaine.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7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Création des visuels</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16</a:t>
            </a:r>
          </a:p>
        </p:txBody>
      </p:sp>
      <p:sp>
        <p:nvSpPr>
          <p:cNvPr id="6" name="Rectangle 5"/>
          <p:cNvSpPr/>
          <p:nvPr/>
        </p:nvSpPr>
        <p:spPr>
          <a:xfrm>
            <a:off x="703447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Un arrière-plan d'ambiance est produit pour chaque scène</a:t>
            </a:r>
          </a:p>
          <a:p>
            <a:pPr algn="l">
              <a:lnSpc>
                <a:spcPct val="115000"/>
              </a:lnSpc>
              <a:spcBef>
                <a:spcPts val="1100"/>
              </a:spcBef>
              <a:defRPr sz="1250" b="0" i="0">
                <a:solidFill>
                  <a:srgbClr val="2B2B29"/>
                </a:solidFill>
                <a:latin typeface="Segoe UI"/>
              </a:defRPr>
            </a:pPr>
            <a:r>
              <a:t>—  Il est assombri et flouté derrière le schéma</a:t>
            </a:r>
          </a:p>
          <a:p>
            <a:pPr algn="l">
              <a:lnSpc>
                <a:spcPct val="115000"/>
              </a:lnSpc>
              <a:spcBef>
                <a:spcPts val="1100"/>
              </a:spcBef>
              <a:defRPr sz="1250" b="0" i="0">
                <a:solidFill>
                  <a:srgbClr val="2B2B29"/>
                </a:solidFill>
                <a:latin typeface="Segoe UI"/>
              </a:defRPr>
            </a:pPr>
            <a:r>
              <a:t>—  Il ne porte aucune information</a:t>
            </a:r>
          </a:p>
          <a:p>
            <a:pPr algn="l">
              <a:lnSpc>
                <a:spcPct val="115000"/>
              </a:lnSpc>
              <a:spcBef>
                <a:spcPts val="1100"/>
              </a:spcBef>
              <a:defRPr sz="1250" b="0" i="0">
                <a:solidFill>
                  <a:srgbClr val="2B2B29"/>
                </a:solidFill>
                <a:latin typeface="Segoe UI"/>
              </a:defRPr>
            </a:pPr>
            <a:r>
              <a:t>—  Si le service échoue, la scène s'affiche sur un dégradé</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Un arrière-plan</a:t>
            </a:r>
            <a:br/>
            <a:r>
              <a:t>par scène</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Modèle de diffusion</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Le rôle est délibérément décoratif : son absence dégrade le résultat proprement, elle ne l'interrompt pas.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8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Rendu vidéo</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17</a:t>
            </a:r>
          </a:p>
        </p:txBody>
      </p:sp>
      <p:sp>
        <p:nvSpPr>
          <p:cNvPr id="6" name="Rectangle 5"/>
          <p:cNvSpPr/>
          <p:nvPr/>
        </p:nvSpPr>
        <p:spPr>
          <a:xfrm>
            <a:off x="703447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Chaque scène est un composant rendu image par image</a:t>
            </a:r>
          </a:p>
          <a:p>
            <a:pPr algn="l">
              <a:lnSpc>
                <a:spcPct val="115000"/>
              </a:lnSpc>
              <a:spcBef>
                <a:spcPts val="1100"/>
              </a:spcBef>
              <a:defRPr sz="1250" b="0" i="0">
                <a:solidFill>
                  <a:srgbClr val="2B2B29"/>
                </a:solidFill>
                <a:latin typeface="Segoe UI"/>
              </a:defRPr>
            </a:pPr>
            <a:r>
              <a:t>—  Un navigateur sans interface dessine chaque image</a:t>
            </a:r>
          </a:p>
          <a:p>
            <a:pPr algn="l">
              <a:lnSpc>
                <a:spcPct val="115000"/>
              </a:lnSpc>
              <a:spcBef>
                <a:spcPts val="1100"/>
              </a:spcBef>
              <a:defRPr sz="1250" b="0" i="0">
                <a:solidFill>
                  <a:srgbClr val="2B2B29"/>
                </a:solidFill>
                <a:latin typeface="Segoe UI"/>
              </a:defRPr>
            </a:pPr>
            <a:r>
              <a:t>—  La durée vient de l'audio mesuré à l'étape 4</a:t>
            </a:r>
          </a:p>
          <a:p>
            <a:pPr algn="l">
              <a:lnSpc>
                <a:spcPct val="115000"/>
              </a:lnSpc>
              <a:spcBef>
                <a:spcPts val="1100"/>
              </a:spcBef>
              <a:defRPr sz="1250" b="0" i="0">
                <a:solidFill>
                  <a:srgbClr val="2B2B29"/>
                </a:solidFill>
                <a:latin typeface="Segoe UI"/>
              </a:defRPr>
            </a:pPr>
            <a:r>
              <a:t>—  L'image et le son ne peuvent pas dériver</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Une vidéo</a:t>
            </a:r>
            <a:br/>
            <a:r>
              <a:t>par chapitre</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Remotion + FFmpeg</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Le rendu est déterministe, et ne demande aucune carte graphique — c'était une contrainte du cahier des charges.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É  T  A  P  E     9     S  U  R     9</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Publication</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18</a:t>
            </a:r>
          </a:p>
        </p:txBody>
      </p:sp>
      <p:sp>
        <p:nvSpPr>
          <p:cNvPr id="6" name="Rectangle 5"/>
          <p:cNvSpPr/>
          <p:nvPr/>
        </p:nvSpPr>
        <p:spPr>
          <a:xfrm>
            <a:off x="703447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1911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374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88375"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973007"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57639"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942271"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426903" y="1024128"/>
            <a:ext cx="365760" cy="45720"/>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911535" y="1024128"/>
            <a:ext cx="365760" cy="45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057400"/>
            <a:ext cx="6035040" cy="237744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C  E     Q  U  '  E  L  L  E     F  A  I  T</a:t>
            </a:r>
          </a:p>
          <a:p>
            <a:pPr algn="l">
              <a:lnSpc>
                <a:spcPct val="115000"/>
              </a:lnSpc>
              <a:spcBef>
                <a:spcPts val="1100"/>
              </a:spcBef>
              <a:defRPr sz="1250" b="0" i="0">
                <a:solidFill>
                  <a:srgbClr val="2B2B29"/>
                </a:solidFill>
                <a:latin typeface="Segoe UI"/>
              </a:defRPr>
            </a:pPr>
            <a:r>
              <a:t>—  L'évaluation est établie à partir du quiz officiel</a:t>
            </a:r>
          </a:p>
          <a:p>
            <a:pPr algn="l">
              <a:lnSpc>
                <a:spcPct val="115000"/>
              </a:lnSpc>
              <a:spcBef>
                <a:spcPts val="1100"/>
              </a:spcBef>
              <a:defRPr sz="1250" b="0" i="0">
                <a:solidFill>
                  <a:srgbClr val="2B2B29"/>
                </a:solidFill>
                <a:latin typeface="Segoe UI"/>
              </a:defRPr>
            </a:pPr>
            <a:r>
              <a:t>—  Reprise mot pour mot, parce qu'elle fait autorité</a:t>
            </a:r>
          </a:p>
          <a:p>
            <a:pPr algn="l">
              <a:lnSpc>
                <a:spcPct val="115000"/>
              </a:lnSpc>
              <a:spcBef>
                <a:spcPts val="1100"/>
              </a:spcBef>
              <a:defRPr sz="1250" b="0" i="0">
                <a:solidFill>
                  <a:srgbClr val="2B2B29"/>
                </a:solidFill>
                <a:latin typeface="Segoe UI"/>
              </a:defRPr>
            </a:pPr>
            <a:r>
              <a:t>—  Vidéos, sous-titres, quiz et métadonnées sont écrits</a:t>
            </a:r>
          </a:p>
          <a:p>
            <a:pPr algn="l">
              <a:lnSpc>
                <a:spcPct val="115000"/>
              </a:lnSpc>
              <a:spcBef>
                <a:spcPts val="1100"/>
              </a:spcBef>
              <a:defRPr sz="1250" b="0" i="0">
                <a:solidFill>
                  <a:srgbClr val="2B2B29"/>
                </a:solidFill>
                <a:latin typeface="Segoe UI"/>
              </a:defRPr>
            </a:pPr>
            <a:r>
              <a:t>—  Le catalogue de la plateforme est mis à jour</a:t>
            </a:r>
          </a:p>
        </p:txBody>
      </p:sp>
      <p:sp>
        <p:nvSpPr>
          <p:cNvPr id="16" name="Rectangle 15"/>
          <p:cNvSpPr/>
          <p:nvPr/>
        </p:nvSpPr>
        <p:spPr>
          <a:xfrm>
            <a:off x="7498079" y="1965960"/>
            <a:ext cx="3794760" cy="11887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8C8C88"/>
                </a:solidFill>
                <a:latin typeface="Segoe UI Semibold"/>
              </a:defRPr>
            </a:pPr>
            <a:r>
              <a:t>C  E     Q  U  '  E  L  L  E     P  R  O  D  U  I  T</a:t>
            </a:r>
          </a:p>
          <a:p>
            <a:pPr algn="l">
              <a:lnSpc>
                <a:spcPct val="120000"/>
              </a:lnSpc>
              <a:spcBef>
                <a:spcPts val="700"/>
              </a:spcBef>
              <a:defRPr sz="1200" b="0" i="0">
                <a:solidFill>
                  <a:srgbClr val="2B2B29"/>
                </a:solidFill>
                <a:latin typeface="Segoe UI"/>
              </a:defRPr>
            </a:pPr>
            <a:r>
              <a:t>Un cours consultable</a:t>
            </a:r>
            <a:br/>
            <a:r>
              <a:t>dans la plateforme</a:t>
            </a:r>
          </a:p>
        </p:txBody>
      </p:sp>
      <p:sp>
        <p:nvSpPr>
          <p:cNvPr id="17" name="Rectangle 16"/>
          <p:cNvSpPr/>
          <p:nvPr/>
        </p:nvSpPr>
        <p:spPr>
          <a:xfrm>
            <a:off x="7498079" y="3337560"/>
            <a:ext cx="379476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53619" bIns="109728"/>
          <a:lstStyle/>
          <a:p>
            <a:pPr algn="l">
              <a:lnSpc>
                <a:spcPct val="100000"/>
              </a:lnSpc>
              <a:spcBef>
                <a:spcPts val="0"/>
              </a:spcBef>
              <a:defRPr sz="850" b="0" i="0">
                <a:solidFill>
                  <a:srgbClr val="1F6FB2"/>
                </a:solidFill>
                <a:latin typeface="Segoe UI Semibold"/>
              </a:defRPr>
            </a:pPr>
            <a:r>
              <a:t>T  E  C  H  N  O  L  O  G  I  E</a:t>
            </a:r>
          </a:p>
          <a:p>
            <a:pPr algn="l">
              <a:lnSpc>
                <a:spcPct val="100000"/>
              </a:lnSpc>
              <a:spcBef>
                <a:spcPts val="700"/>
              </a:spcBef>
              <a:defRPr sz="1500" b="0" i="1">
                <a:solidFill>
                  <a:srgbClr val="1F6FB2"/>
                </a:solidFill>
                <a:latin typeface="Georgia"/>
              </a:defRPr>
            </a:pPr>
            <a:r>
              <a:t>Export web</a:t>
            </a:r>
          </a:p>
        </p:txBody>
      </p:sp>
      <p:sp>
        <p:nvSpPr>
          <p:cNvPr id="18" name="Rectangle 17"/>
          <p:cNvSpPr/>
          <p:nvPr/>
        </p:nvSpPr>
        <p:spPr>
          <a:xfrm>
            <a:off x="914400" y="484632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166360"/>
            <a:ext cx="32004"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138928"/>
            <a:ext cx="9692640" cy="9144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À     R  E  T  E  N  I  R</a:t>
            </a:r>
          </a:p>
          <a:p>
            <a:pPr algn="l">
              <a:lnSpc>
                <a:spcPct val="120000"/>
              </a:lnSpc>
              <a:spcBef>
                <a:spcPts val="700"/>
              </a:spcBef>
              <a:defRPr sz="1350" b="0" i="0">
                <a:solidFill>
                  <a:srgbClr val="2B2B29"/>
                </a:solidFill>
                <a:latin typeface="Segoe UI"/>
              </a:defRPr>
            </a:pPr>
            <a:r>
              <a:t>Aucune intervention manuelle entre la fin du rendu et la mise en ligne du cours.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L  E  S     O  U  T  I  L  S  ,     G  R  O  U  P  É  S     P  A  R     R  Ô  L  E</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Technologies utilisées</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19</a:t>
            </a:r>
          </a:p>
        </p:txBody>
      </p:sp>
      <p:sp>
        <p:nvSpPr>
          <p:cNvPr id="6" name="Rectangle 5"/>
          <p:cNvSpPr/>
          <p:nvPr/>
        </p:nvSpPr>
        <p:spPr>
          <a:xfrm>
            <a:off x="914400" y="1874519"/>
            <a:ext cx="2395728" cy="320040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5" bIns="91440"/>
          <a:lstStyle/>
          <a:p>
            <a:pPr algn="ctr"/>
          </a:p>
        </p:txBody>
      </p:sp>
      <p:sp>
        <p:nvSpPr>
          <p:cNvPr id="7" name="TextBox 6"/>
          <p:cNvSpPr txBox="1"/>
          <p:nvPr/>
        </p:nvSpPr>
        <p:spPr>
          <a:xfrm>
            <a:off x="1133856" y="2048256"/>
            <a:ext cx="2066544" cy="457200"/>
          </a:xfrm>
          <a:prstGeom prst="rect">
            <a:avLst/>
          </a:prstGeom>
          <a:noFill/>
        </p:spPr>
        <p:txBody>
          <a:bodyPr wrap="square" lIns="0" rIns="0" tIns="0" bIns="0">
            <a:spAutoFit/>
          </a:bodyPr>
          <a:lstStyle/>
          <a:p>
            <a:pPr algn="l">
              <a:lnSpc>
                <a:spcPct val="100000"/>
              </a:lnSpc>
              <a:spcBef>
                <a:spcPts val="0"/>
              </a:spcBef>
              <a:defRPr sz="750" b="0" i="0">
                <a:solidFill>
                  <a:srgbClr val="1F6FB2"/>
                </a:solidFill>
                <a:latin typeface="Segoe UI Semibold"/>
              </a:defRPr>
            </a:pPr>
            <a:r>
              <a:t>D  O  C  U  M  E  N  T  S     &amp;     D  O  N  N  É  E  S</a:t>
            </a:r>
          </a:p>
        </p:txBody>
      </p:sp>
      <p:sp>
        <p:nvSpPr>
          <p:cNvPr id="8" name="Rectangle 7"/>
          <p:cNvSpPr/>
          <p:nvPr/>
        </p:nvSpPr>
        <p:spPr>
          <a:xfrm>
            <a:off x="1133856" y="2702052"/>
            <a:ext cx="384048" cy="384048"/>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9144"/>
          <a:lstStyle/>
          <a:p>
            <a:pPr algn="ctr">
              <a:lnSpc>
                <a:spcPct val="100000"/>
              </a:lnSpc>
              <a:spcBef>
                <a:spcPts val="0"/>
              </a:spcBef>
              <a:defRPr sz="1100" b="0" i="1">
                <a:solidFill>
                  <a:srgbClr val="1F6FB2"/>
                </a:solidFill>
                <a:latin typeface="Georgia"/>
              </a:defRPr>
            </a:pPr>
            <a:r>
              <a:t>Py</a:t>
            </a:r>
          </a:p>
        </p:txBody>
      </p:sp>
      <p:sp>
        <p:nvSpPr>
          <p:cNvPr id="9" name="TextBox 8"/>
          <p:cNvSpPr txBox="1"/>
          <p:nvPr/>
        </p:nvSpPr>
        <p:spPr>
          <a:xfrm>
            <a:off x="1645920" y="2674620"/>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PyMuPDF</a:t>
            </a:r>
          </a:p>
          <a:p>
            <a:pPr algn="l">
              <a:lnSpc>
                <a:spcPct val="112000"/>
              </a:lnSpc>
              <a:spcBef>
                <a:spcPts val="200"/>
              </a:spcBef>
              <a:defRPr sz="950" b="0" i="0">
                <a:solidFill>
                  <a:srgbClr val="8C8C88"/>
                </a:solidFill>
                <a:latin typeface="Segoe UI"/>
              </a:defRPr>
            </a:pPr>
            <a:r>
              <a:t>Lecture du PDF</a:t>
            </a:r>
          </a:p>
        </p:txBody>
      </p:sp>
      <p:sp>
        <p:nvSpPr>
          <p:cNvPr id="10" name="Rectangle 9"/>
          <p:cNvSpPr/>
          <p:nvPr/>
        </p:nvSpPr>
        <p:spPr>
          <a:xfrm>
            <a:off x="1133856" y="3479291"/>
            <a:ext cx="384048" cy="384048"/>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9144"/>
          <a:lstStyle/>
          <a:p>
            <a:pPr algn="ctr">
              <a:lnSpc>
                <a:spcPct val="100000"/>
              </a:lnSpc>
              <a:spcBef>
                <a:spcPts val="0"/>
              </a:spcBef>
              <a:defRPr sz="1100" b="0" i="1">
                <a:solidFill>
                  <a:srgbClr val="1F6FB2"/>
                </a:solidFill>
                <a:latin typeface="Georgia"/>
              </a:defRPr>
            </a:pPr>
            <a:r>
              <a:t>dx</a:t>
            </a:r>
          </a:p>
        </p:txBody>
      </p:sp>
      <p:sp>
        <p:nvSpPr>
          <p:cNvPr id="11" name="TextBox 10"/>
          <p:cNvSpPr txBox="1"/>
          <p:nvPr/>
        </p:nvSpPr>
        <p:spPr>
          <a:xfrm>
            <a:off x="1645920" y="3451860"/>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python-docx</a:t>
            </a:r>
          </a:p>
          <a:p>
            <a:pPr algn="l">
              <a:lnSpc>
                <a:spcPct val="112000"/>
              </a:lnSpc>
              <a:spcBef>
                <a:spcPts val="200"/>
              </a:spcBef>
              <a:defRPr sz="950" b="0" i="0">
                <a:solidFill>
                  <a:srgbClr val="8C8C88"/>
                </a:solidFill>
                <a:latin typeface="Segoe UI"/>
              </a:defRPr>
            </a:pPr>
            <a:r>
              <a:t>Quiz Word officiel</a:t>
            </a:r>
          </a:p>
        </p:txBody>
      </p:sp>
      <p:pic>
        <p:nvPicPr>
          <p:cNvPr id="12" name="Picture 11" descr="pydantic.png"/>
          <p:cNvPicPr>
            <a:picLocks noChangeAspect="1"/>
          </p:cNvPicPr>
          <p:nvPr/>
        </p:nvPicPr>
        <p:blipFill>
          <a:blip r:embed="rId2"/>
          <a:stretch>
            <a:fillRect/>
          </a:stretch>
        </p:blipFill>
        <p:spPr>
          <a:xfrm>
            <a:off x="1133856" y="4282035"/>
            <a:ext cx="384048" cy="333041"/>
          </a:xfrm>
          <a:prstGeom prst="rect">
            <a:avLst/>
          </a:prstGeom>
        </p:spPr>
      </p:pic>
      <p:sp>
        <p:nvSpPr>
          <p:cNvPr id="13" name="TextBox 12"/>
          <p:cNvSpPr txBox="1"/>
          <p:nvPr/>
        </p:nvSpPr>
        <p:spPr>
          <a:xfrm>
            <a:off x="1645920" y="4229100"/>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Pydantic</a:t>
            </a:r>
          </a:p>
          <a:p>
            <a:pPr algn="l">
              <a:lnSpc>
                <a:spcPct val="112000"/>
              </a:lnSpc>
              <a:spcBef>
                <a:spcPts val="200"/>
              </a:spcBef>
              <a:defRPr sz="950" b="0" i="0">
                <a:solidFill>
                  <a:srgbClr val="8C8C88"/>
                </a:solidFill>
                <a:latin typeface="Segoe UI"/>
              </a:defRPr>
            </a:pPr>
            <a:r>
              <a:t>Formes validées</a:t>
            </a:r>
          </a:p>
        </p:txBody>
      </p:sp>
      <p:sp>
        <p:nvSpPr>
          <p:cNvPr id="14" name="Rectangle 13"/>
          <p:cNvSpPr/>
          <p:nvPr/>
        </p:nvSpPr>
        <p:spPr>
          <a:xfrm>
            <a:off x="3566160" y="1874519"/>
            <a:ext cx="2395728" cy="320040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5" bIns="91440"/>
          <a:lstStyle/>
          <a:p>
            <a:pPr algn="ctr"/>
          </a:p>
        </p:txBody>
      </p:sp>
      <p:sp>
        <p:nvSpPr>
          <p:cNvPr id="15" name="TextBox 14"/>
          <p:cNvSpPr txBox="1"/>
          <p:nvPr/>
        </p:nvSpPr>
        <p:spPr>
          <a:xfrm>
            <a:off x="3785615" y="2048256"/>
            <a:ext cx="2066544" cy="457200"/>
          </a:xfrm>
          <a:prstGeom prst="rect">
            <a:avLst/>
          </a:prstGeom>
          <a:noFill/>
        </p:spPr>
        <p:txBody>
          <a:bodyPr wrap="square" lIns="0" rIns="0" tIns="0" bIns="0">
            <a:spAutoFit/>
          </a:bodyPr>
          <a:lstStyle/>
          <a:p>
            <a:pPr algn="l">
              <a:lnSpc>
                <a:spcPct val="100000"/>
              </a:lnSpc>
              <a:spcBef>
                <a:spcPts val="0"/>
              </a:spcBef>
              <a:defRPr sz="750" b="0" i="0">
                <a:solidFill>
                  <a:srgbClr val="1F6FB2"/>
                </a:solidFill>
                <a:latin typeface="Segoe UI Semibold"/>
              </a:defRPr>
            </a:pPr>
            <a:r>
              <a:t>I  A     &amp;     S  Y  N  T  H  È  S  E     V  O  C  A  L  E</a:t>
            </a:r>
          </a:p>
        </p:txBody>
      </p:sp>
      <p:pic>
        <p:nvPicPr>
          <p:cNvPr id="16" name="Picture 15" descr="gemini.png"/>
          <p:cNvPicPr>
            <a:picLocks noChangeAspect="1"/>
          </p:cNvPicPr>
          <p:nvPr/>
        </p:nvPicPr>
        <p:blipFill>
          <a:blip r:embed="rId3"/>
          <a:stretch>
            <a:fillRect/>
          </a:stretch>
        </p:blipFill>
        <p:spPr>
          <a:xfrm>
            <a:off x="3785615" y="2896362"/>
            <a:ext cx="384048" cy="384048"/>
          </a:xfrm>
          <a:prstGeom prst="rect">
            <a:avLst/>
          </a:prstGeom>
        </p:spPr>
      </p:pic>
      <p:sp>
        <p:nvSpPr>
          <p:cNvPr id="17" name="TextBox 16"/>
          <p:cNvSpPr txBox="1"/>
          <p:nvPr/>
        </p:nvSpPr>
        <p:spPr>
          <a:xfrm>
            <a:off x="4297680" y="2868930"/>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Gemini</a:t>
            </a:r>
          </a:p>
          <a:p>
            <a:pPr algn="l">
              <a:lnSpc>
                <a:spcPct val="112000"/>
              </a:lnSpc>
              <a:spcBef>
                <a:spcPts val="200"/>
              </a:spcBef>
              <a:defRPr sz="950" b="0" i="0">
                <a:solidFill>
                  <a:srgbClr val="8C8C88"/>
                </a:solidFill>
                <a:latin typeface="Segoe UI"/>
              </a:defRPr>
            </a:pPr>
            <a:r>
              <a:t>Rédaction, multimodal</a:t>
            </a:r>
          </a:p>
        </p:txBody>
      </p:sp>
      <p:sp>
        <p:nvSpPr>
          <p:cNvPr id="18" name="Rectangle 17"/>
          <p:cNvSpPr/>
          <p:nvPr/>
        </p:nvSpPr>
        <p:spPr>
          <a:xfrm>
            <a:off x="3785615" y="4062222"/>
            <a:ext cx="384048" cy="384048"/>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9144"/>
          <a:lstStyle/>
          <a:p>
            <a:pPr algn="ctr">
              <a:lnSpc>
                <a:spcPct val="100000"/>
              </a:lnSpc>
              <a:spcBef>
                <a:spcPts val="0"/>
              </a:spcBef>
              <a:defRPr sz="1100" b="0" i="1">
                <a:solidFill>
                  <a:srgbClr val="1F6FB2"/>
                </a:solidFill>
                <a:latin typeface="Georgia"/>
              </a:defRPr>
            </a:pPr>
            <a:r>
              <a:t>tts</a:t>
            </a:r>
          </a:p>
        </p:txBody>
      </p:sp>
      <p:sp>
        <p:nvSpPr>
          <p:cNvPr id="19" name="TextBox 18"/>
          <p:cNvSpPr txBox="1"/>
          <p:nvPr/>
        </p:nvSpPr>
        <p:spPr>
          <a:xfrm>
            <a:off x="4297680" y="4034789"/>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edge-tts</a:t>
            </a:r>
          </a:p>
          <a:p>
            <a:pPr algn="l">
              <a:lnSpc>
                <a:spcPct val="112000"/>
              </a:lnSpc>
              <a:spcBef>
                <a:spcPts val="200"/>
              </a:spcBef>
              <a:defRPr sz="950" b="0" i="0">
                <a:solidFill>
                  <a:srgbClr val="8C8C88"/>
                </a:solidFill>
                <a:latin typeface="Segoe UI"/>
              </a:defRPr>
            </a:pPr>
            <a:r>
              <a:t>Voix française</a:t>
            </a:r>
          </a:p>
        </p:txBody>
      </p:sp>
      <p:sp>
        <p:nvSpPr>
          <p:cNvPr id="20" name="Rectangle 19"/>
          <p:cNvSpPr/>
          <p:nvPr/>
        </p:nvSpPr>
        <p:spPr>
          <a:xfrm>
            <a:off x="6217920" y="1874519"/>
            <a:ext cx="2395728" cy="320040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5" bIns="91440"/>
          <a:lstStyle/>
          <a:p>
            <a:pPr algn="ctr"/>
          </a:p>
        </p:txBody>
      </p:sp>
      <p:sp>
        <p:nvSpPr>
          <p:cNvPr id="21" name="TextBox 20"/>
          <p:cNvSpPr txBox="1"/>
          <p:nvPr/>
        </p:nvSpPr>
        <p:spPr>
          <a:xfrm>
            <a:off x="6437376" y="2048256"/>
            <a:ext cx="2066544" cy="457200"/>
          </a:xfrm>
          <a:prstGeom prst="rect">
            <a:avLst/>
          </a:prstGeom>
          <a:noFill/>
        </p:spPr>
        <p:txBody>
          <a:bodyPr wrap="square" lIns="0" rIns="0" tIns="0" bIns="0">
            <a:spAutoFit/>
          </a:bodyPr>
          <a:lstStyle/>
          <a:p>
            <a:pPr algn="l">
              <a:lnSpc>
                <a:spcPct val="100000"/>
              </a:lnSpc>
              <a:spcBef>
                <a:spcPts val="0"/>
              </a:spcBef>
              <a:defRPr sz="750" b="0" i="0">
                <a:solidFill>
                  <a:srgbClr val="1F6FB2"/>
                </a:solidFill>
                <a:latin typeface="Segoe UI Semibold"/>
              </a:defRPr>
            </a:pPr>
            <a:r>
              <a:t>B  A  C  K  -  E  N  D     &amp;     S  T  U  D  I  O</a:t>
            </a:r>
          </a:p>
        </p:txBody>
      </p:sp>
      <p:pic>
        <p:nvPicPr>
          <p:cNvPr id="22" name="Picture 21" descr="python.png"/>
          <p:cNvPicPr>
            <a:picLocks noChangeAspect="1"/>
          </p:cNvPicPr>
          <p:nvPr/>
        </p:nvPicPr>
        <p:blipFill>
          <a:blip r:embed="rId4"/>
          <a:stretch>
            <a:fillRect/>
          </a:stretch>
        </p:blipFill>
        <p:spPr>
          <a:xfrm>
            <a:off x="6437376" y="2896362"/>
            <a:ext cx="384048" cy="384048"/>
          </a:xfrm>
          <a:prstGeom prst="rect">
            <a:avLst/>
          </a:prstGeom>
        </p:spPr>
      </p:pic>
      <p:sp>
        <p:nvSpPr>
          <p:cNvPr id="23" name="TextBox 22"/>
          <p:cNvSpPr txBox="1"/>
          <p:nvPr/>
        </p:nvSpPr>
        <p:spPr>
          <a:xfrm>
            <a:off x="6949440" y="2868930"/>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Python</a:t>
            </a:r>
          </a:p>
          <a:p>
            <a:pPr algn="l">
              <a:lnSpc>
                <a:spcPct val="112000"/>
              </a:lnSpc>
              <a:spcBef>
                <a:spcPts val="200"/>
              </a:spcBef>
              <a:defRPr sz="950" b="0" i="0">
                <a:solidFill>
                  <a:srgbClr val="8C8C88"/>
                </a:solidFill>
                <a:latin typeface="Segoe UI"/>
              </a:defRPr>
            </a:pPr>
            <a:r>
              <a:t>Le pipeline entier</a:t>
            </a:r>
          </a:p>
        </p:txBody>
      </p:sp>
      <p:pic>
        <p:nvPicPr>
          <p:cNvPr id="24" name="Picture 23" descr="fastapi.png"/>
          <p:cNvPicPr>
            <a:picLocks noChangeAspect="1"/>
          </p:cNvPicPr>
          <p:nvPr/>
        </p:nvPicPr>
        <p:blipFill>
          <a:blip r:embed="rId5"/>
          <a:stretch>
            <a:fillRect/>
          </a:stretch>
        </p:blipFill>
        <p:spPr>
          <a:xfrm>
            <a:off x="6437376" y="4062722"/>
            <a:ext cx="384048" cy="383047"/>
          </a:xfrm>
          <a:prstGeom prst="rect">
            <a:avLst/>
          </a:prstGeom>
        </p:spPr>
      </p:pic>
      <p:sp>
        <p:nvSpPr>
          <p:cNvPr id="25" name="TextBox 24"/>
          <p:cNvSpPr txBox="1"/>
          <p:nvPr/>
        </p:nvSpPr>
        <p:spPr>
          <a:xfrm>
            <a:off x="6949440" y="4034789"/>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FastAPI</a:t>
            </a:r>
          </a:p>
          <a:p>
            <a:pPr algn="l">
              <a:lnSpc>
                <a:spcPct val="112000"/>
              </a:lnSpc>
              <a:spcBef>
                <a:spcPts val="200"/>
              </a:spcBef>
              <a:defRPr sz="950" b="0" i="0">
                <a:solidFill>
                  <a:srgbClr val="8C8C88"/>
                </a:solidFill>
                <a:latin typeface="Segoe UI"/>
              </a:defRPr>
            </a:pPr>
            <a:r>
              <a:t>API et studio web</a:t>
            </a:r>
          </a:p>
        </p:txBody>
      </p:sp>
      <p:sp>
        <p:nvSpPr>
          <p:cNvPr id="26" name="Rectangle 25"/>
          <p:cNvSpPr/>
          <p:nvPr/>
        </p:nvSpPr>
        <p:spPr>
          <a:xfrm>
            <a:off x="8869680" y="1874519"/>
            <a:ext cx="2395728" cy="320040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28015" bIns="91440"/>
          <a:lstStyle/>
          <a:p>
            <a:pPr algn="ctr"/>
          </a:p>
        </p:txBody>
      </p:sp>
      <p:sp>
        <p:nvSpPr>
          <p:cNvPr id="27" name="TextBox 26"/>
          <p:cNvSpPr txBox="1"/>
          <p:nvPr/>
        </p:nvSpPr>
        <p:spPr>
          <a:xfrm>
            <a:off x="9089136" y="2048256"/>
            <a:ext cx="2066544" cy="457200"/>
          </a:xfrm>
          <a:prstGeom prst="rect">
            <a:avLst/>
          </a:prstGeom>
          <a:noFill/>
        </p:spPr>
        <p:txBody>
          <a:bodyPr wrap="square" lIns="0" rIns="0" tIns="0" bIns="0">
            <a:spAutoFit/>
          </a:bodyPr>
          <a:lstStyle/>
          <a:p>
            <a:pPr algn="l">
              <a:lnSpc>
                <a:spcPct val="100000"/>
              </a:lnSpc>
              <a:spcBef>
                <a:spcPts val="0"/>
              </a:spcBef>
              <a:defRPr sz="750" b="0" i="0">
                <a:solidFill>
                  <a:srgbClr val="1F6FB2"/>
                </a:solidFill>
                <a:latin typeface="Segoe UI Semibold"/>
              </a:defRPr>
            </a:pPr>
            <a:r>
              <a:t>F  R  O  N  T  -  E  N  D     &amp;     V  I  D  É  O</a:t>
            </a:r>
          </a:p>
        </p:txBody>
      </p:sp>
      <p:sp>
        <p:nvSpPr>
          <p:cNvPr id="28" name="Rectangle 27"/>
          <p:cNvSpPr/>
          <p:nvPr/>
        </p:nvSpPr>
        <p:spPr>
          <a:xfrm>
            <a:off x="9089136" y="2604897"/>
            <a:ext cx="384048" cy="384048"/>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9144"/>
          <a:lstStyle/>
          <a:p>
            <a:pPr algn="ctr">
              <a:lnSpc>
                <a:spcPct val="100000"/>
              </a:lnSpc>
              <a:spcBef>
                <a:spcPts val="0"/>
              </a:spcBef>
              <a:defRPr sz="1100" b="0" i="1">
                <a:solidFill>
                  <a:srgbClr val="1F6FB2"/>
                </a:solidFill>
                <a:latin typeface="Georgia"/>
              </a:defRPr>
            </a:pPr>
            <a:r>
              <a:t>Re</a:t>
            </a:r>
          </a:p>
        </p:txBody>
      </p:sp>
      <p:sp>
        <p:nvSpPr>
          <p:cNvPr id="29" name="TextBox 28"/>
          <p:cNvSpPr txBox="1"/>
          <p:nvPr/>
        </p:nvSpPr>
        <p:spPr>
          <a:xfrm>
            <a:off x="9601200" y="2577465"/>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Remotion</a:t>
            </a:r>
          </a:p>
          <a:p>
            <a:pPr algn="l">
              <a:lnSpc>
                <a:spcPct val="112000"/>
              </a:lnSpc>
              <a:spcBef>
                <a:spcPts val="200"/>
              </a:spcBef>
              <a:defRPr sz="950" b="0" i="0">
                <a:solidFill>
                  <a:srgbClr val="8C8C88"/>
                </a:solidFill>
                <a:latin typeface="Segoe UI"/>
              </a:defRPr>
            </a:pPr>
            <a:r>
              <a:t>Scènes animées</a:t>
            </a:r>
          </a:p>
        </p:txBody>
      </p:sp>
      <p:pic>
        <p:nvPicPr>
          <p:cNvPr id="30" name="Picture 29" descr="react.png"/>
          <p:cNvPicPr>
            <a:picLocks noChangeAspect="1"/>
          </p:cNvPicPr>
          <p:nvPr/>
        </p:nvPicPr>
        <p:blipFill>
          <a:blip r:embed="rId6"/>
          <a:stretch>
            <a:fillRect/>
          </a:stretch>
        </p:blipFill>
        <p:spPr>
          <a:xfrm>
            <a:off x="9089136" y="3208829"/>
            <a:ext cx="384048" cy="342042"/>
          </a:xfrm>
          <a:prstGeom prst="rect">
            <a:avLst/>
          </a:prstGeom>
        </p:spPr>
      </p:pic>
      <p:sp>
        <p:nvSpPr>
          <p:cNvPr id="31" name="TextBox 30"/>
          <p:cNvSpPr txBox="1"/>
          <p:nvPr/>
        </p:nvSpPr>
        <p:spPr>
          <a:xfrm>
            <a:off x="9601200" y="3160395"/>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React</a:t>
            </a:r>
          </a:p>
          <a:p>
            <a:pPr algn="l">
              <a:lnSpc>
                <a:spcPct val="112000"/>
              </a:lnSpc>
              <a:spcBef>
                <a:spcPts val="200"/>
              </a:spcBef>
              <a:defRPr sz="950" b="0" i="0">
                <a:solidFill>
                  <a:srgbClr val="8C8C88"/>
                </a:solidFill>
                <a:latin typeface="Segoe UI"/>
              </a:defRPr>
            </a:pPr>
            <a:r>
              <a:t>Composants de scène</a:t>
            </a:r>
          </a:p>
        </p:txBody>
      </p:sp>
      <p:pic>
        <p:nvPicPr>
          <p:cNvPr id="32" name="Picture 31" descr="typescript.png"/>
          <p:cNvPicPr>
            <a:picLocks noChangeAspect="1"/>
          </p:cNvPicPr>
          <p:nvPr/>
        </p:nvPicPr>
        <p:blipFill>
          <a:blip r:embed="rId7"/>
          <a:stretch>
            <a:fillRect/>
          </a:stretch>
        </p:blipFill>
        <p:spPr>
          <a:xfrm>
            <a:off x="9089136" y="3770756"/>
            <a:ext cx="384048" cy="384048"/>
          </a:xfrm>
          <a:prstGeom prst="rect">
            <a:avLst/>
          </a:prstGeom>
        </p:spPr>
      </p:pic>
      <p:sp>
        <p:nvSpPr>
          <p:cNvPr id="33" name="TextBox 32"/>
          <p:cNvSpPr txBox="1"/>
          <p:nvPr/>
        </p:nvSpPr>
        <p:spPr>
          <a:xfrm>
            <a:off x="9601200" y="3743324"/>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TypeScript</a:t>
            </a:r>
          </a:p>
          <a:p>
            <a:pPr algn="l">
              <a:lnSpc>
                <a:spcPct val="112000"/>
              </a:lnSpc>
              <a:spcBef>
                <a:spcPts val="200"/>
              </a:spcBef>
              <a:defRPr sz="950" b="0" i="0">
                <a:solidFill>
                  <a:srgbClr val="8C8C88"/>
                </a:solidFill>
                <a:latin typeface="Segoe UI"/>
              </a:defRPr>
            </a:pPr>
            <a:r>
              <a:t>Scènes typées</a:t>
            </a:r>
          </a:p>
        </p:txBody>
      </p:sp>
      <p:pic>
        <p:nvPicPr>
          <p:cNvPr id="34" name="Picture 33" descr="ffmpeg.png"/>
          <p:cNvPicPr>
            <a:picLocks noChangeAspect="1"/>
          </p:cNvPicPr>
          <p:nvPr/>
        </p:nvPicPr>
        <p:blipFill>
          <a:blip r:embed="rId8"/>
          <a:stretch>
            <a:fillRect/>
          </a:stretch>
        </p:blipFill>
        <p:spPr>
          <a:xfrm>
            <a:off x="9089136" y="4362688"/>
            <a:ext cx="384048" cy="366045"/>
          </a:xfrm>
          <a:prstGeom prst="rect">
            <a:avLst/>
          </a:prstGeom>
        </p:spPr>
      </p:pic>
      <p:sp>
        <p:nvSpPr>
          <p:cNvPr id="35" name="TextBox 34"/>
          <p:cNvSpPr txBox="1"/>
          <p:nvPr/>
        </p:nvSpPr>
        <p:spPr>
          <a:xfrm>
            <a:off x="9601200" y="4326254"/>
            <a:ext cx="1499616" cy="640080"/>
          </a:xfrm>
          <a:prstGeom prst="rect">
            <a:avLst/>
          </a:prstGeom>
          <a:noFill/>
        </p:spPr>
        <p:txBody>
          <a:bodyPr wrap="square" lIns="0" rIns="0" tIns="0" bIns="0">
            <a:spAutoFit/>
          </a:bodyPr>
          <a:lstStyle/>
          <a:p>
            <a:pPr algn="l">
              <a:lnSpc>
                <a:spcPct val="110000"/>
              </a:lnSpc>
              <a:spcBef>
                <a:spcPts val="0"/>
              </a:spcBef>
              <a:defRPr sz="1150" b="0" i="0">
                <a:solidFill>
                  <a:srgbClr val="2B2B29"/>
                </a:solidFill>
                <a:latin typeface="Segoe UI Semibold"/>
              </a:defRPr>
            </a:pPr>
            <a:r>
              <a:t>FFmpeg</a:t>
            </a:r>
          </a:p>
          <a:p>
            <a:pPr algn="l">
              <a:lnSpc>
                <a:spcPct val="112000"/>
              </a:lnSpc>
              <a:spcBef>
                <a:spcPts val="200"/>
              </a:spcBef>
              <a:defRPr sz="950" b="0" i="0">
                <a:solidFill>
                  <a:srgbClr val="8C8C88"/>
                </a:solidFill>
                <a:latin typeface="Segoe UI"/>
              </a:defRPr>
            </a:pPr>
            <a:r>
              <a:t>Assemblage et encodage</a:t>
            </a:r>
          </a:p>
        </p:txBody>
      </p:sp>
      <p:sp>
        <p:nvSpPr>
          <p:cNvPr id="36" name="Rectangle 35"/>
          <p:cNvSpPr/>
          <p:nvPr/>
        </p:nvSpPr>
        <p:spPr>
          <a:xfrm>
            <a:off x="914400" y="5285232"/>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4400" y="5596128"/>
            <a:ext cx="32004" cy="65836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88720" y="5577840"/>
            <a:ext cx="5486400" cy="685800"/>
          </a:xfrm>
          <a:prstGeom prst="rect">
            <a:avLst/>
          </a:prstGeom>
          <a:noFill/>
        </p:spPr>
        <p:txBody>
          <a:bodyPr wrap="square" lIns="0" rIns="0" tIns="0" bIns="0">
            <a:spAutoFit/>
          </a:bodyPr>
          <a:lstStyle/>
          <a:p>
            <a:pPr algn="l">
              <a:lnSpc>
                <a:spcPct val="100000"/>
              </a:lnSpc>
              <a:spcBef>
                <a:spcPts val="0"/>
              </a:spcBef>
              <a:defRPr sz="2000" b="0" i="1">
                <a:solidFill>
                  <a:srgbClr val="2B2B29"/>
                </a:solidFill>
                <a:latin typeface="Georgia"/>
              </a:defRPr>
            </a:pPr>
            <a:r>
              <a:t>Aucune carte graphique requise.</a:t>
            </a:r>
          </a:p>
          <a:p>
            <a:pPr algn="l">
              <a:lnSpc>
                <a:spcPct val="100000"/>
              </a:lnSpc>
              <a:spcBef>
                <a:spcPts val="400"/>
              </a:spcBef>
              <a:defRPr sz="1050" b="0" i="0">
                <a:solidFill>
                  <a:srgbClr val="8C8C88"/>
                </a:solidFill>
                <a:latin typeface="Segoe UI"/>
              </a:defRPr>
            </a:pPr>
            <a:r>
              <a:t>C'était une contrainte du cahier des charges.</a:t>
            </a:r>
          </a:p>
        </p:txBody>
      </p:sp>
      <p:pic>
        <p:nvPicPr>
          <p:cNvPr id="39" name="Picture 38" descr="pytest.png"/>
          <p:cNvPicPr>
            <a:picLocks noChangeAspect="1"/>
          </p:cNvPicPr>
          <p:nvPr/>
        </p:nvPicPr>
        <p:blipFill>
          <a:blip r:embed="rId9"/>
          <a:stretch>
            <a:fillRect/>
          </a:stretch>
        </p:blipFill>
        <p:spPr>
          <a:xfrm>
            <a:off x="7659242" y="5632704"/>
            <a:ext cx="336042" cy="384048"/>
          </a:xfrm>
          <a:prstGeom prst="rect">
            <a:avLst/>
          </a:prstGeom>
        </p:spPr>
      </p:pic>
      <p:sp>
        <p:nvSpPr>
          <p:cNvPr id="40" name="TextBox 39"/>
          <p:cNvSpPr txBox="1"/>
          <p:nvPr/>
        </p:nvSpPr>
        <p:spPr>
          <a:xfrm>
            <a:off x="8147304" y="5614416"/>
            <a:ext cx="1554480" cy="548640"/>
          </a:xfrm>
          <a:prstGeom prst="rect">
            <a:avLst/>
          </a:prstGeom>
          <a:noFill/>
        </p:spPr>
        <p:txBody>
          <a:bodyPr wrap="square" lIns="0" rIns="0" tIns="0" bIns="0">
            <a:spAutoFit/>
          </a:bodyPr>
          <a:lstStyle/>
          <a:p>
            <a:pPr algn="l">
              <a:lnSpc>
                <a:spcPct val="100000"/>
              </a:lnSpc>
              <a:spcBef>
                <a:spcPts val="0"/>
              </a:spcBef>
              <a:defRPr sz="1150" b="0" i="0">
                <a:solidFill>
                  <a:srgbClr val="2B2B29"/>
                </a:solidFill>
                <a:latin typeface="Segoe UI Semibold"/>
              </a:defRPr>
            </a:pPr>
            <a:r>
              <a:t>pytest</a:t>
            </a:r>
          </a:p>
          <a:p>
            <a:pPr algn="l">
              <a:lnSpc>
                <a:spcPct val="112000"/>
              </a:lnSpc>
              <a:spcBef>
                <a:spcPts val="200"/>
              </a:spcBef>
              <a:defRPr sz="950" b="0" i="0">
                <a:solidFill>
                  <a:srgbClr val="8C8C88"/>
                </a:solidFill>
                <a:latin typeface="Segoe UI"/>
              </a:defRPr>
            </a:pPr>
            <a:r>
              <a:t>31 tests automatisés</a:t>
            </a:r>
          </a:p>
        </p:txBody>
      </p:sp>
      <p:pic>
        <p:nvPicPr>
          <p:cNvPr id="41" name="Picture 40" descr="git.png"/>
          <p:cNvPicPr>
            <a:picLocks noChangeAspect="1"/>
          </p:cNvPicPr>
          <p:nvPr/>
        </p:nvPicPr>
        <p:blipFill>
          <a:blip r:embed="rId10"/>
          <a:stretch>
            <a:fillRect/>
          </a:stretch>
        </p:blipFill>
        <p:spPr>
          <a:xfrm>
            <a:off x="9646920" y="5632704"/>
            <a:ext cx="384048" cy="384048"/>
          </a:xfrm>
          <a:prstGeom prst="rect">
            <a:avLst/>
          </a:prstGeom>
        </p:spPr>
      </p:pic>
      <p:sp>
        <p:nvSpPr>
          <p:cNvPr id="42" name="TextBox 41"/>
          <p:cNvSpPr txBox="1"/>
          <p:nvPr/>
        </p:nvSpPr>
        <p:spPr>
          <a:xfrm>
            <a:off x="10158984" y="5614416"/>
            <a:ext cx="1554480" cy="548640"/>
          </a:xfrm>
          <a:prstGeom prst="rect">
            <a:avLst/>
          </a:prstGeom>
          <a:noFill/>
        </p:spPr>
        <p:txBody>
          <a:bodyPr wrap="square" lIns="0" rIns="0" tIns="0" bIns="0">
            <a:spAutoFit/>
          </a:bodyPr>
          <a:lstStyle/>
          <a:p>
            <a:pPr algn="l">
              <a:lnSpc>
                <a:spcPct val="100000"/>
              </a:lnSpc>
              <a:spcBef>
                <a:spcPts val="0"/>
              </a:spcBef>
              <a:defRPr sz="1150" b="0" i="0">
                <a:solidFill>
                  <a:srgbClr val="2B2B29"/>
                </a:solidFill>
                <a:latin typeface="Segoe UI Semibold"/>
              </a:defRPr>
            </a:pPr>
            <a:r>
              <a:t>Git</a:t>
            </a:r>
          </a:p>
          <a:p>
            <a:pPr algn="l">
              <a:lnSpc>
                <a:spcPct val="112000"/>
              </a:lnSpc>
              <a:spcBef>
                <a:spcPts val="200"/>
              </a:spcBef>
              <a:defRPr sz="950" b="0" i="0">
                <a:solidFill>
                  <a:srgbClr val="8C8C88"/>
                </a:solidFill>
                <a:latin typeface="Segoe UI"/>
              </a:defRPr>
            </a:pPr>
            <a:r>
              <a:t>Versionnement du projet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U  N  E     P  R  O  D  U  C  T  I  O  N     A  U  T  O  M  A  T  I  S  É  E</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Résultats</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20</a:t>
            </a:r>
          </a:p>
        </p:txBody>
      </p:sp>
      <p:sp>
        <p:nvSpPr>
          <p:cNvPr id="6" name="TextBox 5"/>
          <p:cNvSpPr txBox="1"/>
          <p:nvPr/>
        </p:nvSpPr>
        <p:spPr>
          <a:xfrm>
            <a:off x="914400" y="1965960"/>
            <a:ext cx="1536192" cy="868680"/>
          </a:xfrm>
          <a:prstGeom prst="rect">
            <a:avLst/>
          </a:prstGeom>
          <a:noFill/>
        </p:spPr>
        <p:txBody>
          <a:bodyPr wrap="square" lIns="0" rIns="0" tIns="0" bIns="0">
            <a:spAutoFit/>
          </a:bodyPr>
          <a:lstStyle/>
          <a:p>
            <a:pPr algn="ctr">
              <a:lnSpc>
                <a:spcPct val="100000"/>
              </a:lnSpc>
              <a:spcBef>
                <a:spcPts val="0"/>
              </a:spcBef>
              <a:defRPr sz="3100" b="0" i="1">
                <a:solidFill>
                  <a:srgbClr val="2B2B29"/>
                </a:solidFill>
                <a:latin typeface="Georgia"/>
              </a:defRPr>
            </a:pPr>
            <a:r>
              <a:t>28</a:t>
            </a:r>
          </a:p>
          <a:p>
            <a:pPr algn="ctr">
              <a:lnSpc>
                <a:spcPct val="100000"/>
              </a:lnSpc>
              <a:spcBef>
                <a:spcPts val="200"/>
              </a:spcBef>
              <a:defRPr sz="1000" b="0" i="0">
                <a:solidFill>
                  <a:srgbClr val="8C8C88"/>
                </a:solidFill>
                <a:latin typeface="Segoe UI"/>
              </a:defRPr>
            </a:pPr>
            <a:r>
              <a:t>pages</a:t>
            </a:r>
          </a:p>
        </p:txBody>
      </p:sp>
      <p:sp>
        <p:nvSpPr>
          <p:cNvPr id="7" name="TextBox 6"/>
          <p:cNvSpPr txBox="1"/>
          <p:nvPr/>
        </p:nvSpPr>
        <p:spPr>
          <a:xfrm>
            <a:off x="2404872" y="2176272"/>
            <a:ext cx="411480" cy="320040"/>
          </a:xfrm>
          <a:prstGeom prst="rect">
            <a:avLst/>
          </a:prstGeom>
          <a:noFill/>
        </p:spPr>
        <p:txBody>
          <a:bodyPr wrap="square" lIns="0" rIns="0" tIns="0" bIns="0">
            <a:spAutoFit/>
          </a:bodyPr>
          <a:lstStyle/>
          <a:p>
            <a:pPr algn="ctr">
              <a:lnSpc>
                <a:spcPct val="100000"/>
              </a:lnSpc>
              <a:spcBef>
                <a:spcPts val="0"/>
              </a:spcBef>
              <a:defRPr sz="1400" b="0" i="0">
                <a:solidFill>
                  <a:srgbClr val="7FB2D9"/>
                </a:solidFill>
                <a:latin typeface="Segoe UI"/>
              </a:defRPr>
            </a:pPr>
            <a:r>
              <a:t>→</a:t>
            </a:r>
          </a:p>
        </p:txBody>
      </p:sp>
      <p:sp>
        <p:nvSpPr>
          <p:cNvPr id="8" name="TextBox 7"/>
          <p:cNvSpPr txBox="1"/>
          <p:nvPr/>
        </p:nvSpPr>
        <p:spPr>
          <a:xfrm>
            <a:off x="2670048" y="1965960"/>
            <a:ext cx="1536192" cy="868680"/>
          </a:xfrm>
          <a:prstGeom prst="rect">
            <a:avLst/>
          </a:prstGeom>
          <a:noFill/>
        </p:spPr>
        <p:txBody>
          <a:bodyPr wrap="square" lIns="0" rIns="0" tIns="0" bIns="0">
            <a:spAutoFit/>
          </a:bodyPr>
          <a:lstStyle/>
          <a:p>
            <a:pPr algn="ctr">
              <a:lnSpc>
                <a:spcPct val="100000"/>
              </a:lnSpc>
              <a:spcBef>
                <a:spcPts val="0"/>
              </a:spcBef>
              <a:defRPr sz="3100" b="0" i="1">
                <a:solidFill>
                  <a:srgbClr val="2B2B29"/>
                </a:solidFill>
                <a:latin typeface="Georgia"/>
              </a:defRPr>
            </a:pPr>
            <a:r>
              <a:t>8</a:t>
            </a:r>
          </a:p>
          <a:p>
            <a:pPr algn="ctr">
              <a:lnSpc>
                <a:spcPct val="100000"/>
              </a:lnSpc>
              <a:spcBef>
                <a:spcPts val="200"/>
              </a:spcBef>
              <a:defRPr sz="1000" b="0" i="0">
                <a:solidFill>
                  <a:srgbClr val="8C8C88"/>
                </a:solidFill>
                <a:latin typeface="Segoe UI"/>
              </a:defRPr>
            </a:pPr>
            <a:r>
              <a:t>chapitres</a:t>
            </a:r>
          </a:p>
        </p:txBody>
      </p:sp>
      <p:sp>
        <p:nvSpPr>
          <p:cNvPr id="9" name="TextBox 8"/>
          <p:cNvSpPr txBox="1"/>
          <p:nvPr/>
        </p:nvSpPr>
        <p:spPr>
          <a:xfrm>
            <a:off x="4160520" y="2176272"/>
            <a:ext cx="411480" cy="320040"/>
          </a:xfrm>
          <a:prstGeom prst="rect">
            <a:avLst/>
          </a:prstGeom>
          <a:noFill/>
        </p:spPr>
        <p:txBody>
          <a:bodyPr wrap="square" lIns="0" rIns="0" tIns="0" bIns="0">
            <a:spAutoFit/>
          </a:bodyPr>
          <a:lstStyle/>
          <a:p>
            <a:pPr algn="ctr">
              <a:lnSpc>
                <a:spcPct val="100000"/>
              </a:lnSpc>
              <a:spcBef>
                <a:spcPts val="0"/>
              </a:spcBef>
              <a:defRPr sz="1400" b="0" i="0">
                <a:solidFill>
                  <a:srgbClr val="7FB2D9"/>
                </a:solidFill>
                <a:latin typeface="Segoe UI"/>
              </a:defRPr>
            </a:pPr>
            <a:r>
              <a:t>→</a:t>
            </a:r>
          </a:p>
        </p:txBody>
      </p:sp>
      <p:sp>
        <p:nvSpPr>
          <p:cNvPr id="10" name="TextBox 9"/>
          <p:cNvSpPr txBox="1"/>
          <p:nvPr/>
        </p:nvSpPr>
        <p:spPr>
          <a:xfrm>
            <a:off x="4425696" y="1965960"/>
            <a:ext cx="1536192" cy="868680"/>
          </a:xfrm>
          <a:prstGeom prst="rect">
            <a:avLst/>
          </a:prstGeom>
          <a:noFill/>
        </p:spPr>
        <p:txBody>
          <a:bodyPr wrap="square" lIns="0" rIns="0" tIns="0" bIns="0">
            <a:spAutoFit/>
          </a:bodyPr>
          <a:lstStyle/>
          <a:p>
            <a:pPr algn="ctr">
              <a:lnSpc>
                <a:spcPct val="100000"/>
              </a:lnSpc>
              <a:spcBef>
                <a:spcPts val="0"/>
              </a:spcBef>
              <a:defRPr sz="3100" b="0" i="1">
                <a:solidFill>
                  <a:srgbClr val="2B2B29"/>
                </a:solidFill>
                <a:latin typeface="Georgia"/>
              </a:defRPr>
            </a:pPr>
            <a:r>
              <a:t>17 min</a:t>
            </a:r>
          </a:p>
          <a:p>
            <a:pPr algn="ctr">
              <a:lnSpc>
                <a:spcPct val="100000"/>
              </a:lnSpc>
              <a:spcBef>
                <a:spcPts val="200"/>
              </a:spcBef>
              <a:defRPr sz="1000" b="0" i="0">
                <a:solidFill>
                  <a:srgbClr val="8C8C88"/>
                </a:solidFill>
                <a:latin typeface="Segoe UI"/>
              </a:defRPr>
            </a:pPr>
            <a:r>
              <a:t>de cours</a:t>
            </a:r>
          </a:p>
        </p:txBody>
      </p:sp>
      <p:sp>
        <p:nvSpPr>
          <p:cNvPr id="11" name="TextBox 10"/>
          <p:cNvSpPr txBox="1"/>
          <p:nvPr/>
        </p:nvSpPr>
        <p:spPr>
          <a:xfrm>
            <a:off x="5916168" y="2176272"/>
            <a:ext cx="411480" cy="320040"/>
          </a:xfrm>
          <a:prstGeom prst="rect">
            <a:avLst/>
          </a:prstGeom>
          <a:noFill/>
        </p:spPr>
        <p:txBody>
          <a:bodyPr wrap="square" lIns="0" rIns="0" tIns="0" bIns="0">
            <a:spAutoFit/>
          </a:bodyPr>
          <a:lstStyle/>
          <a:p>
            <a:pPr algn="ctr">
              <a:lnSpc>
                <a:spcPct val="100000"/>
              </a:lnSpc>
              <a:spcBef>
                <a:spcPts val="0"/>
              </a:spcBef>
              <a:defRPr sz="1400" b="0" i="0">
                <a:solidFill>
                  <a:srgbClr val="7FB2D9"/>
                </a:solidFill>
                <a:latin typeface="Segoe UI"/>
              </a:defRPr>
            </a:pPr>
            <a:r>
              <a:t>→</a:t>
            </a:r>
          </a:p>
        </p:txBody>
      </p:sp>
      <p:sp>
        <p:nvSpPr>
          <p:cNvPr id="12" name="TextBox 11"/>
          <p:cNvSpPr txBox="1"/>
          <p:nvPr/>
        </p:nvSpPr>
        <p:spPr>
          <a:xfrm>
            <a:off x="6181344" y="1965960"/>
            <a:ext cx="1536192" cy="868680"/>
          </a:xfrm>
          <a:prstGeom prst="rect">
            <a:avLst/>
          </a:prstGeom>
          <a:noFill/>
        </p:spPr>
        <p:txBody>
          <a:bodyPr wrap="square" lIns="0" rIns="0" tIns="0" bIns="0">
            <a:spAutoFit/>
          </a:bodyPr>
          <a:lstStyle/>
          <a:p>
            <a:pPr algn="ctr">
              <a:lnSpc>
                <a:spcPct val="100000"/>
              </a:lnSpc>
              <a:spcBef>
                <a:spcPts val="0"/>
              </a:spcBef>
              <a:defRPr sz="3100" b="0" i="1">
                <a:solidFill>
                  <a:srgbClr val="2B2B29"/>
                </a:solidFill>
                <a:latin typeface="Georgia"/>
              </a:defRPr>
            </a:pPr>
            <a:r>
              <a:t>68</a:t>
            </a:r>
          </a:p>
          <a:p>
            <a:pPr algn="ctr">
              <a:lnSpc>
                <a:spcPct val="100000"/>
              </a:lnSpc>
              <a:spcBef>
                <a:spcPts val="200"/>
              </a:spcBef>
              <a:defRPr sz="1000" b="0" i="0">
                <a:solidFill>
                  <a:srgbClr val="8C8C88"/>
                </a:solidFill>
                <a:latin typeface="Segoe UI"/>
              </a:defRPr>
            </a:pPr>
            <a:r>
              <a:t>scènes animées</a:t>
            </a:r>
          </a:p>
        </p:txBody>
      </p:sp>
      <p:sp>
        <p:nvSpPr>
          <p:cNvPr id="13" name="TextBox 12"/>
          <p:cNvSpPr txBox="1"/>
          <p:nvPr/>
        </p:nvSpPr>
        <p:spPr>
          <a:xfrm>
            <a:off x="7671815" y="2176272"/>
            <a:ext cx="411480" cy="320040"/>
          </a:xfrm>
          <a:prstGeom prst="rect">
            <a:avLst/>
          </a:prstGeom>
          <a:noFill/>
        </p:spPr>
        <p:txBody>
          <a:bodyPr wrap="square" lIns="0" rIns="0" tIns="0" bIns="0">
            <a:spAutoFit/>
          </a:bodyPr>
          <a:lstStyle/>
          <a:p>
            <a:pPr algn="ctr">
              <a:lnSpc>
                <a:spcPct val="100000"/>
              </a:lnSpc>
              <a:spcBef>
                <a:spcPts val="0"/>
              </a:spcBef>
              <a:defRPr sz="1400" b="0" i="0">
                <a:solidFill>
                  <a:srgbClr val="7FB2D9"/>
                </a:solidFill>
                <a:latin typeface="Segoe UI"/>
              </a:defRPr>
            </a:pPr>
            <a:r>
              <a:t>→</a:t>
            </a:r>
          </a:p>
        </p:txBody>
      </p:sp>
      <p:sp>
        <p:nvSpPr>
          <p:cNvPr id="14" name="TextBox 13"/>
          <p:cNvSpPr txBox="1"/>
          <p:nvPr/>
        </p:nvSpPr>
        <p:spPr>
          <a:xfrm>
            <a:off x="7936992" y="1965960"/>
            <a:ext cx="1536192" cy="868680"/>
          </a:xfrm>
          <a:prstGeom prst="rect">
            <a:avLst/>
          </a:prstGeom>
          <a:noFill/>
        </p:spPr>
        <p:txBody>
          <a:bodyPr wrap="square" lIns="0" rIns="0" tIns="0" bIns="0">
            <a:spAutoFit/>
          </a:bodyPr>
          <a:lstStyle/>
          <a:p>
            <a:pPr algn="ctr">
              <a:lnSpc>
                <a:spcPct val="100000"/>
              </a:lnSpc>
              <a:spcBef>
                <a:spcPts val="0"/>
              </a:spcBef>
              <a:defRPr sz="3100" b="0" i="1">
                <a:solidFill>
                  <a:srgbClr val="2B2B29"/>
                </a:solidFill>
                <a:latin typeface="Georgia"/>
              </a:defRPr>
            </a:pPr>
            <a:r>
              <a:t>110</a:t>
            </a:r>
          </a:p>
          <a:p>
            <a:pPr algn="ctr">
              <a:lnSpc>
                <a:spcPct val="100000"/>
              </a:lnSpc>
              <a:spcBef>
                <a:spcPts val="200"/>
              </a:spcBef>
              <a:defRPr sz="1000" b="0" i="0">
                <a:solidFill>
                  <a:srgbClr val="8C8C88"/>
                </a:solidFill>
                <a:latin typeface="Segoe UI"/>
              </a:defRPr>
            </a:pPr>
            <a:r>
              <a:t>sous-titres</a:t>
            </a:r>
          </a:p>
        </p:txBody>
      </p:sp>
      <p:sp>
        <p:nvSpPr>
          <p:cNvPr id="15" name="TextBox 14"/>
          <p:cNvSpPr txBox="1"/>
          <p:nvPr/>
        </p:nvSpPr>
        <p:spPr>
          <a:xfrm>
            <a:off x="9427463" y="2176272"/>
            <a:ext cx="411480" cy="320040"/>
          </a:xfrm>
          <a:prstGeom prst="rect">
            <a:avLst/>
          </a:prstGeom>
          <a:noFill/>
        </p:spPr>
        <p:txBody>
          <a:bodyPr wrap="square" lIns="0" rIns="0" tIns="0" bIns="0">
            <a:spAutoFit/>
          </a:bodyPr>
          <a:lstStyle/>
          <a:p>
            <a:pPr algn="ctr">
              <a:lnSpc>
                <a:spcPct val="100000"/>
              </a:lnSpc>
              <a:spcBef>
                <a:spcPts val="0"/>
              </a:spcBef>
              <a:defRPr sz="1400" b="0" i="0">
                <a:solidFill>
                  <a:srgbClr val="7FB2D9"/>
                </a:solidFill>
                <a:latin typeface="Segoe UI"/>
              </a:defRPr>
            </a:pPr>
            <a:r>
              <a:t>→</a:t>
            </a:r>
          </a:p>
        </p:txBody>
      </p:sp>
      <p:sp>
        <p:nvSpPr>
          <p:cNvPr id="16" name="TextBox 15"/>
          <p:cNvSpPr txBox="1"/>
          <p:nvPr/>
        </p:nvSpPr>
        <p:spPr>
          <a:xfrm>
            <a:off x="9692640" y="1965960"/>
            <a:ext cx="1536192" cy="868680"/>
          </a:xfrm>
          <a:prstGeom prst="rect">
            <a:avLst/>
          </a:prstGeom>
          <a:noFill/>
        </p:spPr>
        <p:txBody>
          <a:bodyPr wrap="square" lIns="0" rIns="0" tIns="0" bIns="0">
            <a:spAutoFit/>
          </a:bodyPr>
          <a:lstStyle/>
          <a:p>
            <a:pPr algn="ctr">
              <a:lnSpc>
                <a:spcPct val="100000"/>
              </a:lnSpc>
              <a:spcBef>
                <a:spcPts val="0"/>
              </a:spcBef>
              <a:defRPr sz="3100" b="0" i="1">
                <a:solidFill>
                  <a:srgbClr val="2B2B29"/>
                </a:solidFill>
                <a:latin typeface="Georgia"/>
              </a:defRPr>
            </a:pPr>
            <a:r>
              <a:t>8</a:t>
            </a:r>
          </a:p>
          <a:p>
            <a:pPr algn="ctr">
              <a:lnSpc>
                <a:spcPct val="100000"/>
              </a:lnSpc>
              <a:spcBef>
                <a:spcPts val="200"/>
              </a:spcBef>
              <a:defRPr sz="1000" b="0" i="0">
                <a:solidFill>
                  <a:srgbClr val="8C8C88"/>
                </a:solidFill>
                <a:latin typeface="Segoe UI"/>
              </a:defRPr>
            </a:pPr>
            <a:r>
              <a:t>questions</a:t>
            </a:r>
          </a:p>
        </p:txBody>
      </p:sp>
      <p:sp>
        <p:nvSpPr>
          <p:cNvPr id="17" name="Rectangle 16"/>
          <p:cNvSpPr/>
          <p:nvPr/>
        </p:nvSpPr>
        <p:spPr>
          <a:xfrm>
            <a:off x="914400" y="315468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3474720"/>
            <a:ext cx="1645920" cy="5029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64008"/>
          <a:lstStyle/>
          <a:p>
            <a:pPr algn="ctr">
              <a:lnSpc>
                <a:spcPct val="100000"/>
              </a:lnSpc>
              <a:spcBef>
                <a:spcPts val="0"/>
              </a:spcBef>
              <a:defRPr sz="950" b="0" i="0">
                <a:solidFill>
                  <a:srgbClr val="2B2B29"/>
                </a:solidFill>
                <a:latin typeface="Segoe UI Semibold"/>
              </a:defRPr>
            </a:pPr>
            <a:r>
              <a:t>Support PDF</a:t>
            </a:r>
          </a:p>
        </p:txBody>
      </p:sp>
      <p:sp>
        <p:nvSpPr>
          <p:cNvPr id="19" name="TextBox 18"/>
          <p:cNvSpPr txBox="1"/>
          <p:nvPr/>
        </p:nvSpPr>
        <p:spPr>
          <a:xfrm>
            <a:off x="2542032" y="3520440"/>
            <a:ext cx="411480" cy="320040"/>
          </a:xfrm>
          <a:prstGeom prst="rect">
            <a:avLst/>
          </a:prstGeom>
          <a:noFill/>
        </p:spPr>
        <p:txBody>
          <a:bodyPr wrap="square" lIns="0" rIns="0" tIns="0" bIns="0">
            <a:spAutoFit/>
          </a:bodyPr>
          <a:lstStyle/>
          <a:p>
            <a:pPr algn="ctr">
              <a:lnSpc>
                <a:spcPct val="100000"/>
              </a:lnSpc>
              <a:spcBef>
                <a:spcPts val="0"/>
              </a:spcBef>
              <a:defRPr sz="1300" b="0" i="0">
                <a:solidFill>
                  <a:srgbClr val="8C8C88"/>
                </a:solidFill>
                <a:latin typeface="Segoe UI"/>
              </a:defRPr>
            </a:pPr>
            <a:r>
              <a:t>→</a:t>
            </a:r>
          </a:p>
        </p:txBody>
      </p:sp>
      <p:sp>
        <p:nvSpPr>
          <p:cNvPr id="20" name="Rectangle 19"/>
          <p:cNvSpPr/>
          <p:nvPr/>
        </p:nvSpPr>
        <p:spPr>
          <a:xfrm>
            <a:off x="2697480" y="3474720"/>
            <a:ext cx="1645920" cy="50292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64008"/>
          <a:lstStyle/>
          <a:p>
            <a:pPr algn="ctr">
              <a:lnSpc>
                <a:spcPct val="100000"/>
              </a:lnSpc>
              <a:spcBef>
                <a:spcPts val="0"/>
              </a:spcBef>
              <a:defRPr sz="950" b="0" i="0">
                <a:solidFill>
                  <a:srgbClr val="1F6FB2"/>
                </a:solidFill>
                <a:latin typeface="Segoe UI Semibold"/>
              </a:defRPr>
            </a:pPr>
            <a:r>
              <a:t>Cours vidéo</a:t>
            </a:r>
          </a:p>
        </p:txBody>
      </p:sp>
      <p:sp>
        <p:nvSpPr>
          <p:cNvPr id="21" name="TextBox 20"/>
          <p:cNvSpPr txBox="1"/>
          <p:nvPr/>
        </p:nvSpPr>
        <p:spPr>
          <a:xfrm>
            <a:off x="4325112" y="3520440"/>
            <a:ext cx="411480" cy="320040"/>
          </a:xfrm>
          <a:prstGeom prst="rect">
            <a:avLst/>
          </a:prstGeom>
          <a:noFill/>
        </p:spPr>
        <p:txBody>
          <a:bodyPr wrap="square" lIns="0" rIns="0" tIns="0" bIns="0">
            <a:spAutoFit/>
          </a:bodyPr>
          <a:lstStyle/>
          <a:p>
            <a:pPr algn="ctr">
              <a:lnSpc>
                <a:spcPct val="100000"/>
              </a:lnSpc>
              <a:spcBef>
                <a:spcPts val="0"/>
              </a:spcBef>
              <a:defRPr sz="1300" b="0" i="0">
                <a:solidFill>
                  <a:srgbClr val="8C8C88"/>
                </a:solidFill>
                <a:latin typeface="Segoe UI"/>
              </a:defRPr>
            </a:pPr>
            <a:r>
              <a:t>→</a:t>
            </a:r>
          </a:p>
        </p:txBody>
      </p:sp>
      <p:sp>
        <p:nvSpPr>
          <p:cNvPr id="22" name="Rectangle 21"/>
          <p:cNvSpPr/>
          <p:nvPr/>
        </p:nvSpPr>
        <p:spPr>
          <a:xfrm>
            <a:off x="4480560" y="3474720"/>
            <a:ext cx="1645920" cy="5029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64008"/>
          <a:lstStyle/>
          <a:p>
            <a:pPr algn="ctr">
              <a:lnSpc>
                <a:spcPct val="100000"/>
              </a:lnSpc>
              <a:spcBef>
                <a:spcPts val="0"/>
              </a:spcBef>
              <a:defRPr sz="950" b="0" i="0">
                <a:solidFill>
                  <a:srgbClr val="FFFFFF"/>
                </a:solidFill>
                <a:latin typeface="Segoe UI Semibold"/>
              </a:defRPr>
            </a:pPr>
            <a:r>
              <a:t>Plateforme e-learning</a:t>
            </a:r>
          </a:p>
        </p:txBody>
      </p:sp>
      <p:sp>
        <p:nvSpPr>
          <p:cNvPr id="23" name="Rectangle 22"/>
          <p:cNvSpPr/>
          <p:nvPr/>
        </p:nvSpPr>
        <p:spPr>
          <a:xfrm>
            <a:off x="914400" y="4297680"/>
            <a:ext cx="32004" cy="82296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4279392"/>
            <a:ext cx="5029200" cy="822960"/>
          </a:xfrm>
          <a:prstGeom prst="rect">
            <a:avLst/>
          </a:prstGeom>
          <a:noFill/>
        </p:spPr>
        <p:txBody>
          <a:bodyPr wrap="square" lIns="0" rIns="0" tIns="0" bIns="0">
            <a:spAutoFit/>
          </a:bodyPr>
          <a:lstStyle/>
          <a:p>
            <a:pPr algn="l">
              <a:lnSpc>
                <a:spcPct val="100000"/>
              </a:lnSpc>
              <a:spcBef>
                <a:spcPts val="0"/>
              </a:spcBef>
              <a:defRPr sz="1900" b="0" i="1">
                <a:solidFill>
                  <a:srgbClr val="2B2B29"/>
                </a:solidFill>
                <a:latin typeface="Georgia"/>
              </a:defRPr>
            </a:pPr>
            <a:r>
              <a:t>Chapitre le plus long : 3 min 15 s</a:t>
            </a:r>
          </a:p>
          <a:p>
            <a:pPr algn="l">
              <a:lnSpc>
                <a:spcPct val="100000"/>
              </a:lnSpc>
              <a:spcBef>
                <a:spcPts val="500"/>
              </a:spcBef>
              <a:defRPr sz="1100" b="0" i="0">
                <a:solidFill>
                  <a:srgbClr val="8C8C88"/>
                </a:solidFill>
                <a:latin typeface="Segoe UI"/>
              </a:defRPr>
            </a:pPr>
            <a:r>
              <a:t>l'exigence était de rester sous cinq minutes</a:t>
            </a:r>
          </a:p>
        </p:txBody>
      </p:sp>
      <p:sp>
        <p:nvSpPr>
          <p:cNvPr id="25" name="Rectangle 24"/>
          <p:cNvSpPr/>
          <p:nvPr/>
        </p:nvSpPr>
        <p:spPr>
          <a:xfrm>
            <a:off x="914400" y="5349240"/>
            <a:ext cx="5303520" cy="73152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0817" bIns="100584"/>
          <a:lstStyle/>
          <a:p>
            <a:pPr algn="ctr">
              <a:lnSpc>
                <a:spcPct val="100000"/>
              </a:lnSpc>
              <a:spcBef>
                <a:spcPts val="0"/>
              </a:spcBef>
              <a:defRPr sz="1150" b="0" i="1">
                <a:solidFill>
                  <a:srgbClr val="8C8C88"/>
                </a:solidFill>
                <a:latin typeface="Segoe UI"/>
              </a:defRPr>
            </a:pPr>
            <a:r>
              <a:t>Emplacement réservé — démonstration vidéo</a:t>
            </a:r>
          </a:p>
        </p:txBody>
      </p:sp>
      <p:pic>
        <p:nvPicPr>
          <p:cNvPr id="26" name="Picture 25" descr="slide12_six_scenes_du_cours.png"/>
          <p:cNvPicPr>
            <a:picLocks noChangeAspect="1"/>
          </p:cNvPicPr>
          <p:nvPr/>
        </p:nvPicPr>
        <p:blipFill>
          <a:blip r:embed="rId2"/>
          <a:stretch>
            <a:fillRect/>
          </a:stretch>
        </p:blipFill>
        <p:spPr>
          <a:xfrm>
            <a:off x="6949440" y="3429000"/>
            <a:ext cx="3413760" cy="28803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C  E     Q  U  I     A     É  T  É     V  É  R  I  F  I  É</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Tests &amp; validation</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21</a:t>
            </a:r>
          </a:p>
        </p:txBody>
      </p:sp>
      <p:sp>
        <p:nvSpPr>
          <p:cNvPr id="6" name="Rectangle 5"/>
          <p:cNvSpPr/>
          <p:nvPr/>
        </p:nvSpPr>
        <p:spPr>
          <a:xfrm>
            <a:off x="914400" y="2011680"/>
            <a:ext cx="32004" cy="14630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920240"/>
            <a:ext cx="2377440" cy="1554480"/>
          </a:xfrm>
          <a:prstGeom prst="rect">
            <a:avLst/>
          </a:prstGeom>
          <a:noFill/>
        </p:spPr>
        <p:txBody>
          <a:bodyPr wrap="square" lIns="0" rIns="0" tIns="0" bIns="0">
            <a:spAutoFit/>
          </a:bodyPr>
          <a:lstStyle/>
          <a:p>
            <a:pPr algn="l">
              <a:lnSpc>
                <a:spcPct val="100000"/>
              </a:lnSpc>
              <a:spcBef>
                <a:spcPts val="0"/>
              </a:spcBef>
              <a:defRPr sz="6200" b="0" i="1">
                <a:solidFill>
                  <a:srgbClr val="1F6FB2"/>
                </a:solidFill>
                <a:latin typeface="Georgia"/>
              </a:defRPr>
            </a:pPr>
            <a:r>
              <a:t>31</a:t>
            </a:r>
          </a:p>
          <a:p>
            <a:pPr algn="l">
              <a:lnSpc>
                <a:spcPct val="100000"/>
              </a:lnSpc>
              <a:spcBef>
                <a:spcPts val="200"/>
              </a:spcBef>
              <a:defRPr sz="1200" b="0" i="0">
                <a:solidFill>
                  <a:srgbClr val="8C8C88"/>
                </a:solidFill>
                <a:latin typeface="Segoe UI"/>
              </a:defRPr>
            </a:pPr>
            <a:r>
              <a:t>tests automatisés</a:t>
            </a:r>
          </a:p>
        </p:txBody>
      </p:sp>
      <p:sp>
        <p:nvSpPr>
          <p:cNvPr id="8" name="TextBox 7"/>
          <p:cNvSpPr txBox="1"/>
          <p:nvPr/>
        </p:nvSpPr>
        <p:spPr>
          <a:xfrm>
            <a:off x="4160520" y="1965960"/>
            <a:ext cx="3474720" cy="22860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T  E  S  T  S     A  U  T  O  M  A  T  I  S  É  S</a:t>
            </a:r>
          </a:p>
          <a:p>
            <a:pPr algn="l">
              <a:lnSpc>
                <a:spcPct val="100000"/>
              </a:lnSpc>
              <a:spcBef>
                <a:spcPts val="900"/>
              </a:spcBef>
              <a:defRPr sz="1250" b="0" i="0">
                <a:solidFill>
                  <a:srgbClr val="2B2B29"/>
                </a:solidFill>
                <a:latin typeface="Segoe UI"/>
              </a:defRPr>
            </a:pPr>
            <a:r>
              <a:t>—  pipeline</a:t>
            </a:r>
          </a:p>
          <a:p>
            <a:pPr algn="l">
              <a:lnSpc>
                <a:spcPct val="100000"/>
              </a:lnSpc>
              <a:spcBef>
                <a:spcPts val="900"/>
              </a:spcBef>
              <a:defRPr sz="1250" b="0" i="0">
                <a:solidFill>
                  <a:srgbClr val="2B2B29"/>
                </a:solidFill>
                <a:latin typeface="Segoe UI"/>
              </a:defRPr>
            </a:pPr>
            <a:r>
              <a:t>—  données</a:t>
            </a:r>
          </a:p>
          <a:p>
            <a:pPr algn="l">
              <a:lnSpc>
                <a:spcPct val="100000"/>
              </a:lnSpc>
              <a:spcBef>
                <a:spcPts val="900"/>
              </a:spcBef>
              <a:defRPr sz="1250" b="0" i="0">
                <a:solidFill>
                  <a:srgbClr val="2B2B29"/>
                </a:solidFill>
                <a:latin typeface="Segoe UI"/>
              </a:defRPr>
            </a:pPr>
            <a:r>
              <a:t>—  reprise</a:t>
            </a:r>
          </a:p>
          <a:p>
            <a:pPr algn="l">
              <a:lnSpc>
                <a:spcPct val="100000"/>
              </a:lnSpc>
              <a:spcBef>
                <a:spcPts val="900"/>
              </a:spcBef>
              <a:defRPr sz="1250" b="0" i="0">
                <a:solidFill>
                  <a:srgbClr val="2B2B29"/>
                </a:solidFill>
                <a:latin typeface="Segoe UI"/>
              </a:defRPr>
            </a:pPr>
            <a:r>
              <a:t>—  cohérence</a:t>
            </a:r>
          </a:p>
        </p:txBody>
      </p:sp>
      <p:sp>
        <p:nvSpPr>
          <p:cNvPr id="9" name="TextBox 8"/>
          <p:cNvSpPr txBox="1"/>
          <p:nvPr/>
        </p:nvSpPr>
        <p:spPr>
          <a:xfrm>
            <a:off x="7909559" y="1965960"/>
            <a:ext cx="3474720" cy="228600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V  A  L  I  D  A  T  I  O  N     D  U     P  R  O  D  U  I  T</a:t>
            </a:r>
          </a:p>
          <a:p>
            <a:pPr algn="l">
              <a:lnSpc>
                <a:spcPct val="100000"/>
              </a:lnSpc>
              <a:spcBef>
                <a:spcPts val="900"/>
              </a:spcBef>
              <a:defRPr sz="1250" b="0" i="0">
                <a:solidFill>
                  <a:srgbClr val="2B2B29"/>
                </a:solidFill>
                <a:latin typeface="Segoe UI"/>
              </a:defRPr>
            </a:pPr>
            <a:r>
              <a:t>—  vidéo</a:t>
            </a:r>
          </a:p>
          <a:p>
            <a:pPr algn="l">
              <a:lnSpc>
                <a:spcPct val="100000"/>
              </a:lnSpc>
              <a:spcBef>
                <a:spcPts val="900"/>
              </a:spcBef>
              <a:defRPr sz="1250" b="0" i="0">
                <a:solidFill>
                  <a:srgbClr val="2B2B29"/>
                </a:solidFill>
                <a:latin typeface="Segoe UI"/>
              </a:defRPr>
            </a:pPr>
            <a:r>
              <a:t>—  audio</a:t>
            </a:r>
          </a:p>
          <a:p>
            <a:pPr algn="l">
              <a:lnSpc>
                <a:spcPct val="100000"/>
              </a:lnSpc>
              <a:spcBef>
                <a:spcPts val="900"/>
              </a:spcBef>
              <a:defRPr sz="1250" b="0" i="0">
                <a:solidFill>
                  <a:srgbClr val="2B2B29"/>
                </a:solidFill>
                <a:latin typeface="Segoe UI"/>
              </a:defRPr>
            </a:pPr>
            <a:r>
              <a:t>—  sous-titres</a:t>
            </a:r>
          </a:p>
          <a:p>
            <a:pPr algn="l">
              <a:lnSpc>
                <a:spcPct val="100000"/>
              </a:lnSpc>
              <a:spcBef>
                <a:spcPts val="900"/>
              </a:spcBef>
              <a:defRPr sz="1250" b="0" i="0">
                <a:solidFill>
                  <a:srgbClr val="2B2B29"/>
                </a:solidFill>
                <a:latin typeface="Segoe UI"/>
              </a:defRPr>
            </a:pPr>
            <a:r>
              <a:t>—  visuels</a:t>
            </a:r>
          </a:p>
          <a:p>
            <a:pPr algn="l">
              <a:lnSpc>
                <a:spcPct val="100000"/>
              </a:lnSpc>
              <a:spcBef>
                <a:spcPts val="900"/>
              </a:spcBef>
              <a:defRPr sz="1250" b="0" i="0">
                <a:solidFill>
                  <a:srgbClr val="2B2B29"/>
                </a:solidFill>
                <a:latin typeface="Segoe UI"/>
              </a:defRPr>
            </a:pPr>
            <a:r>
              <a:t>—  durée</a:t>
            </a:r>
          </a:p>
        </p:txBody>
      </p:sp>
      <p:sp>
        <p:nvSpPr>
          <p:cNvPr id="10" name="Rectangle 9"/>
          <p:cNvSpPr/>
          <p:nvPr/>
        </p:nvSpPr>
        <p:spPr>
          <a:xfrm>
            <a:off x="914400" y="452628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846320"/>
            <a:ext cx="3291840" cy="868680"/>
          </a:xfrm>
          <a:prstGeom prst="rect">
            <a:avLst/>
          </a:prstGeom>
          <a:noFill/>
        </p:spPr>
        <p:txBody>
          <a:bodyPr wrap="square" lIns="0" rIns="0" tIns="0" bIns="0">
            <a:spAutoFit/>
          </a:bodyPr>
          <a:lstStyle/>
          <a:p>
            <a:pPr algn="l">
              <a:lnSpc>
                <a:spcPct val="100000"/>
              </a:lnSpc>
              <a:spcBef>
                <a:spcPts val="0"/>
              </a:spcBef>
              <a:defRPr sz="2600" b="0" i="1">
                <a:solidFill>
                  <a:srgbClr val="2B2B29"/>
                </a:solidFill>
                <a:latin typeface="Georgia"/>
              </a:defRPr>
            </a:pPr>
            <a:r>
              <a:t>7 / 8</a:t>
            </a:r>
          </a:p>
          <a:p>
            <a:pPr algn="l">
              <a:lnSpc>
                <a:spcPct val="100000"/>
              </a:lnSpc>
              <a:spcBef>
                <a:spcPts val="200"/>
              </a:spcBef>
              <a:defRPr sz="1000" b="0" i="0">
                <a:solidFill>
                  <a:srgbClr val="8C8C88"/>
                </a:solidFill>
                <a:latin typeface="Segoe UI"/>
              </a:defRPr>
            </a:pPr>
            <a:r>
              <a:t>objectifs entièrement atteints</a:t>
            </a:r>
          </a:p>
        </p:txBody>
      </p:sp>
      <p:sp>
        <p:nvSpPr>
          <p:cNvPr id="12" name="TextBox 11"/>
          <p:cNvSpPr txBox="1"/>
          <p:nvPr/>
        </p:nvSpPr>
        <p:spPr>
          <a:xfrm>
            <a:off x="4572000" y="4846320"/>
            <a:ext cx="3291840" cy="868680"/>
          </a:xfrm>
          <a:prstGeom prst="rect">
            <a:avLst/>
          </a:prstGeom>
          <a:noFill/>
        </p:spPr>
        <p:txBody>
          <a:bodyPr wrap="square" lIns="0" rIns="0" tIns="0" bIns="0">
            <a:spAutoFit/>
          </a:bodyPr>
          <a:lstStyle/>
          <a:p>
            <a:pPr algn="l">
              <a:lnSpc>
                <a:spcPct val="100000"/>
              </a:lnSpc>
              <a:spcBef>
                <a:spcPts val="0"/>
              </a:spcBef>
              <a:defRPr sz="2600" b="0" i="1">
                <a:solidFill>
                  <a:srgbClr val="2B2B29"/>
                </a:solidFill>
                <a:latin typeface="Georgia"/>
              </a:defRPr>
            </a:pPr>
            <a:r>
              <a:t>7 / 8</a:t>
            </a:r>
          </a:p>
          <a:p>
            <a:pPr algn="l">
              <a:lnSpc>
                <a:spcPct val="100000"/>
              </a:lnSpc>
              <a:spcBef>
                <a:spcPts val="200"/>
              </a:spcBef>
              <a:defRPr sz="1000" b="0" i="0">
                <a:solidFill>
                  <a:srgbClr val="8C8C88"/>
                </a:solidFill>
                <a:latin typeface="Segoe UI"/>
              </a:defRPr>
            </a:pPr>
            <a:r>
              <a:t>valeurs chiffrées reprises</a:t>
            </a:r>
          </a:p>
        </p:txBody>
      </p:sp>
      <p:sp>
        <p:nvSpPr>
          <p:cNvPr id="13" name="Rectangle 12"/>
          <p:cNvSpPr/>
          <p:nvPr/>
        </p:nvSpPr>
        <p:spPr>
          <a:xfrm>
            <a:off x="8229600" y="4846320"/>
            <a:ext cx="3063240" cy="914400"/>
          </a:xfrm>
          <a:prstGeom prst="rect">
            <a:avLst/>
          </a:prstGeom>
          <a:solidFill>
            <a:srgbClr val="F1F1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0817" bIns="100584"/>
          <a:lstStyle/>
          <a:p>
            <a:pPr algn="l">
              <a:lnSpc>
                <a:spcPct val="120000"/>
              </a:lnSpc>
              <a:spcBef>
                <a:spcPts val="0"/>
              </a:spcBef>
              <a:defRPr sz="1150" b="0" i="0">
                <a:solidFill>
                  <a:srgbClr val="A87A1F"/>
                </a:solidFill>
                <a:latin typeface="Segoe UI"/>
              </a:defRPr>
            </a:pPr>
            <a:r>
              <a:t>1 valeur chiffrée sur 8 n'a pas été reprise.</a:t>
            </a:r>
          </a:p>
          <a:p>
            <a:pPr algn="l">
              <a:lnSpc>
                <a:spcPct val="100000"/>
              </a:lnSpc>
              <a:spcBef>
                <a:spcPts val="400"/>
              </a:spcBef>
              <a:defRPr sz="1050" b="0" i="0">
                <a:solidFill>
                  <a:srgbClr val="8C8C88"/>
                </a:solidFill>
                <a:latin typeface="Segoe UI"/>
              </a:defRPr>
            </a:pPr>
            <a:r>
              <a:t>Un axe d'amélioration identifié.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914400" y="566928"/>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70432" y="603504"/>
            <a:ext cx="10362895" cy="274320"/>
          </a:xfrm>
          <a:prstGeom prst="rect">
            <a:avLst/>
          </a:prstGeom>
          <a:noFill/>
        </p:spPr>
        <p:txBody>
          <a:bodyPr wrap="square" lIns="0" rIns="0" tIns="0" bIns="0">
            <a:spAutoFit/>
          </a:bodyPr>
          <a:lstStyle/>
          <a:p>
            <a:pPr algn="l">
              <a:lnSpc>
                <a:spcPct val="100000"/>
              </a:lnSpc>
              <a:spcBef>
                <a:spcPts val="0"/>
              </a:spcBef>
              <a:defRPr sz="950" b="0" i="0">
                <a:solidFill>
                  <a:srgbClr val="8C8C88"/>
                </a:solidFill>
                <a:latin typeface="Segoe UI Semibold"/>
              </a:defRPr>
            </a:pPr>
            <a:r>
              <a:t>P  O  U  R     F  I  N  I  R</a:t>
            </a:r>
          </a:p>
        </p:txBody>
      </p:sp>
      <p:sp>
        <p:nvSpPr>
          <p:cNvPr id="4" name="TextBox 3"/>
          <p:cNvSpPr txBox="1"/>
          <p:nvPr/>
        </p:nvSpPr>
        <p:spPr>
          <a:xfrm>
            <a:off x="1170432" y="868680"/>
            <a:ext cx="10088575" cy="640080"/>
          </a:xfrm>
          <a:prstGeom prst="rect">
            <a:avLst/>
          </a:prstGeom>
          <a:noFill/>
        </p:spPr>
        <p:txBody>
          <a:bodyPr wrap="square" lIns="0" rIns="0" tIns="0" bIns="0">
            <a:spAutoFit/>
          </a:bodyPr>
          <a:lstStyle/>
          <a:p>
            <a:pPr algn="l">
              <a:lnSpc>
                <a:spcPct val="100000"/>
              </a:lnSpc>
              <a:spcBef>
                <a:spcPts val="0"/>
              </a:spcBef>
              <a:defRPr sz="2700" b="0" i="1">
                <a:solidFill>
                  <a:srgbClr val="2B2B29"/>
                </a:solidFill>
                <a:latin typeface="Georgia"/>
              </a:defRPr>
            </a:pPr>
            <a:r>
              <a:t>Conclusion &amp; perspectives</a:t>
            </a:r>
          </a:p>
        </p:txBody>
      </p:sp>
      <p:sp>
        <p:nvSpPr>
          <p:cNvPr id="5" name="TextBox 4"/>
          <p:cNvSpPr txBox="1"/>
          <p:nvPr/>
        </p:nvSpPr>
        <p:spPr>
          <a:xfrm>
            <a:off x="10911535" y="6291072"/>
            <a:ext cx="777240" cy="320040"/>
          </a:xfrm>
          <a:prstGeom prst="rect">
            <a:avLst/>
          </a:prstGeom>
          <a:noFill/>
        </p:spPr>
        <p:txBody>
          <a:bodyPr wrap="square" lIns="0" rIns="0" tIns="0" bIns="0">
            <a:spAutoFit/>
          </a:bodyPr>
          <a:lstStyle/>
          <a:p>
            <a:pPr algn="r">
              <a:lnSpc>
                <a:spcPct val="100000"/>
              </a:lnSpc>
              <a:spcBef>
                <a:spcPts val="0"/>
              </a:spcBef>
              <a:defRPr sz="950" b="0" i="0">
                <a:solidFill>
                  <a:srgbClr val="8C8C88"/>
                </a:solidFill>
                <a:latin typeface="Segoe UI"/>
              </a:defRPr>
            </a:pPr>
            <a:r>
              <a:t>22</a:t>
            </a:r>
          </a:p>
        </p:txBody>
      </p:sp>
      <p:sp>
        <p:nvSpPr>
          <p:cNvPr id="6" name="TextBox 5"/>
          <p:cNvSpPr txBox="1"/>
          <p:nvPr/>
        </p:nvSpPr>
        <p:spPr>
          <a:xfrm>
            <a:off x="1188720" y="2011680"/>
            <a:ext cx="5029200" cy="3017520"/>
          </a:xfrm>
          <a:prstGeom prst="rect">
            <a:avLst/>
          </a:prstGeom>
          <a:noFill/>
        </p:spPr>
        <p:txBody>
          <a:bodyPr wrap="square" lIns="0" rIns="0" tIns="0" bIns="0">
            <a:spAutoFit/>
          </a:bodyPr>
          <a:lstStyle/>
          <a:p>
            <a:pPr algn="l">
              <a:lnSpc>
                <a:spcPct val="100000"/>
              </a:lnSpc>
              <a:spcBef>
                <a:spcPts val="0"/>
              </a:spcBef>
              <a:defRPr sz="950" b="0" i="0">
                <a:solidFill>
                  <a:srgbClr val="2F7D4F"/>
                </a:solidFill>
                <a:latin typeface="Segoe UI Semibold"/>
              </a:defRPr>
            </a:pPr>
            <a:r>
              <a:t>C  E     Q  U  I     A     É  T  É     R  É  A  L  I  S  É</a:t>
            </a:r>
          </a:p>
          <a:p>
            <a:pPr algn="l">
              <a:lnSpc>
                <a:spcPct val="100000"/>
              </a:lnSpc>
              <a:spcBef>
                <a:spcPts val="900"/>
              </a:spcBef>
              <a:defRPr sz="1200" b="0" i="0">
                <a:solidFill>
                  <a:srgbClr val="2B2B29"/>
                </a:solidFill>
                <a:latin typeface="Segoe UI"/>
              </a:defRPr>
            </a:pPr>
            <a:r>
              <a:t>—  Génération automatique du cours</a:t>
            </a:r>
          </a:p>
          <a:p>
            <a:pPr algn="l">
              <a:lnSpc>
                <a:spcPct val="100000"/>
              </a:lnSpc>
              <a:spcBef>
                <a:spcPts val="900"/>
              </a:spcBef>
              <a:defRPr sz="1200" b="0" i="0">
                <a:solidFill>
                  <a:srgbClr val="2B2B29"/>
                </a:solidFill>
                <a:latin typeface="Segoe UI"/>
              </a:defRPr>
            </a:pPr>
            <a:r>
              <a:t>—  Chapitres courts</a:t>
            </a:r>
          </a:p>
          <a:p>
            <a:pPr algn="l">
              <a:lnSpc>
                <a:spcPct val="100000"/>
              </a:lnSpc>
              <a:spcBef>
                <a:spcPts val="900"/>
              </a:spcBef>
              <a:defRPr sz="1200" b="0" i="0">
                <a:solidFill>
                  <a:srgbClr val="2B2B29"/>
                </a:solidFill>
                <a:latin typeface="Segoe UI"/>
              </a:defRPr>
            </a:pPr>
            <a:r>
              <a:t>—  Narration et voix synthétique</a:t>
            </a:r>
          </a:p>
          <a:p>
            <a:pPr algn="l">
              <a:lnSpc>
                <a:spcPct val="100000"/>
              </a:lnSpc>
              <a:spcBef>
                <a:spcPts val="900"/>
              </a:spcBef>
              <a:defRPr sz="1200" b="0" i="0">
                <a:solidFill>
                  <a:srgbClr val="2B2B29"/>
                </a:solidFill>
                <a:latin typeface="Segoe UI"/>
              </a:defRPr>
            </a:pPr>
            <a:r>
              <a:t>—  Visuels et animations</a:t>
            </a:r>
          </a:p>
          <a:p>
            <a:pPr algn="l">
              <a:lnSpc>
                <a:spcPct val="100000"/>
              </a:lnSpc>
              <a:spcBef>
                <a:spcPts val="900"/>
              </a:spcBef>
              <a:defRPr sz="1200" b="0" i="0">
                <a:solidFill>
                  <a:srgbClr val="2B2B29"/>
                </a:solidFill>
                <a:latin typeface="Segoe UI"/>
              </a:defRPr>
            </a:pPr>
            <a:r>
              <a:t>—  Sous-titres synchronisés</a:t>
            </a:r>
          </a:p>
          <a:p>
            <a:pPr algn="l">
              <a:lnSpc>
                <a:spcPct val="100000"/>
              </a:lnSpc>
              <a:spcBef>
                <a:spcPts val="900"/>
              </a:spcBef>
              <a:defRPr sz="1200" b="0" i="0">
                <a:solidFill>
                  <a:srgbClr val="2B2B29"/>
                </a:solidFill>
                <a:latin typeface="Segoe UI"/>
              </a:defRPr>
            </a:pPr>
            <a:r>
              <a:t>—  Quiz final</a:t>
            </a:r>
          </a:p>
          <a:p>
            <a:pPr algn="l">
              <a:lnSpc>
                <a:spcPct val="100000"/>
              </a:lnSpc>
              <a:spcBef>
                <a:spcPts val="900"/>
              </a:spcBef>
              <a:defRPr sz="1200" b="0" i="0">
                <a:solidFill>
                  <a:srgbClr val="2B2B29"/>
                </a:solidFill>
                <a:latin typeface="Segoe UI"/>
              </a:defRPr>
            </a:pPr>
            <a:r>
              <a:t>—  Publication web</a:t>
            </a:r>
          </a:p>
          <a:p>
            <a:pPr algn="l">
              <a:lnSpc>
                <a:spcPct val="100000"/>
              </a:lnSpc>
              <a:spcBef>
                <a:spcPts val="900"/>
              </a:spcBef>
              <a:defRPr sz="1200" b="0" i="0">
                <a:solidFill>
                  <a:srgbClr val="2B2B29"/>
                </a:solidFill>
                <a:latin typeface="Segoe UI"/>
              </a:defRPr>
            </a:pPr>
            <a:r>
              <a:t>—  Pipeline reproductible et reprenable</a:t>
            </a:r>
          </a:p>
        </p:txBody>
      </p:sp>
      <p:sp>
        <p:nvSpPr>
          <p:cNvPr id="7" name="TextBox 6"/>
          <p:cNvSpPr txBox="1"/>
          <p:nvPr/>
        </p:nvSpPr>
        <p:spPr>
          <a:xfrm>
            <a:off x="6492240" y="2011680"/>
            <a:ext cx="4754880" cy="3017520"/>
          </a:xfrm>
          <a:prstGeom prst="rect">
            <a:avLst/>
          </a:prstGeom>
          <a:noFill/>
        </p:spPr>
        <p:txBody>
          <a:bodyPr wrap="square" lIns="0" rIns="0" tIns="0" bIns="0">
            <a:spAutoFit/>
          </a:bodyPr>
          <a:lstStyle/>
          <a:p>
            <a:pPr algn="l">
              <a:lnSpc>
                <a:spcPct val="100000"/>
              </a:lnSpc>
              <a:spcBef>
                <a:spcPts val="0"/>
              </a:spcBef>
              <a:defRPr sz="950" b="0" i="0">
                <a:solidFill>
                  <a:srgbClr val="1F6FB2"/>
                </a:solidFill>
                <a:latin typeface="Segoe UI Semibold"/>
              </a:defRPr>
            </a:pPr>
            <a:r>
              <a:t>P  E  R  S  P  E  C  T  I  V  E  S</a:t>
            </a:r>
          </a:p>
          <a:p>
            <a:pPr algn="l">
              <a:lnSpc>
                <a:spcPct val="100000"/>
              </a:lnSpc>
              <a:spcBef>
                <a:spcPts val="1200"/>
              </a:spcBef>
              <a:defRPr sz="1200" b="0" i="0">
                <a:solidFill>
                  <a:srgbClr val="2B2B29"/>
                </a:solidFill>
                <a:latin typeface="Segoe UI"/>
              </a:defRPr>
            </a:pPr>
            <a:r>
              <a:t>—  Améliorer l'exhaustivité des informations</a:t>
            </a:r>
          </a:p>
          <a:p>
            <a:pPr algn="l">
              <a:lnSpc>
                <a:spcPct val="100000"/>
              </a:lnSpc>
              <a:spcBef>
                <a:spcPts val="1200"/>
              </a:spcBef>
              <a:defRPr sz="1200" b="0" i="0">
                <a:solidFill>
                  <a:srgbClr val="2B2B29"/>
                </a:solidFill>
                <a:latin typeface="Segoe UI"/>
              </a:defRPr>
            </a:pPr>
            <a:r>
              <a:t>—  Étendre les types de contenus supportés</a:t>
            </a:r>
          </a:p>
          <a:p>
            <a:pPr algn="l">
              <a:lnSpc>
                <a:spcPct val="100000"/>
              </a:lnSpc>
              <a:spcBef>
                <a:spcPts val="1200"/>
              </a:spcBef>
              <a:defRPr sz="1200" b="0" i="0">
                <a:solidFill>
                  <a:srgbClr val="2B2B29"/>
                </a:solidFill>
                <a:latin typeface="Segoe UI"/>
              </a:defRPr>
            </a:pPr>
            <a:r>
              <a:t>—  Enrichir les modèles de schémas</a:t>
            </a:r>
          </a:p>
          <a:p>
            <a:pPr algn="l">
              <a:lnSpc>
                <a:spcPct val="100000"/>
              </a:lnSpc>
              <a:spcBef>
                <a:spcPts val="1200"/>
              </a:spcBef>
              <a:defRPr sz="1200" b="0" i="0">
                <a:solidFill>
                  <a:srgbClr val="2B2B29"/>
                </a:solidFill>
                <a:latin typeface="Segoe UI"/>
              </a:defRPr>
            </a:pPr>
            <a:r>
              <a:t>—  Développer le suivi des apprenants</a:t>
            </a:r>
          </a:p>
          <a:p>
            <a:pPr algn="l">
              <a:lnSpc>
                <a:spcPct val="100000"/>
              </a:lnSpc>
              <a:spcBef>
                <a:spcPts val="1200"/>
              </a:spcBef>
              <a:defRPr sz="1200" b="0" i="0">
                <a:solidFill>
                  <a:srgbClr val="2B2B29"/>
                </a:solidFill>
                <a:latin typeface="Segoe UI"/>
              </a:defRPr>
            </a:pPr>
            <a:r>
              <a:t>—  Passage à une utilisation de production</a:t>
            </a:r>
          </a:p>
        </p:txBody>
      </p:sp>
      <p:sp>
        <p:nvSpPr>
          <p:cNvPr id="8" name="Rectangle 7"/>
          <p:cNvSpPr/>
          <p:nvPr/>
        </p:nvSpPr>
        <p:spPr>
          <a:xfrm>
            <a:off x="914400" y="5212080"/>
            <a:ext cx="10362895" cy="10058"/>
          </a:xfrm>
          <a:prstGeom prst="rect">
            <a:avLst/>
          </a:prstGeom>
          <a:solidFill>
            <a:srgbClr val="D5D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5532120"/>
            <a:ext cx="32004" cy="86868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5486400"/>
            <a:ext cx="9692640" cy="914400"/>
          </a:xfrm>
          <a:prstGeom prst="rect">
            <a:avLst/>
          </a:prstGeom>
          <a:noFill/>
        </p:spPr>
        <p:txBody>
          <a:bodyPr wrap="square" lIns="0" rIns="0" tIns="0" bIns="0">
            <a:spAutoFit/>
          </a:bodyPr>
          <a:lstStyle/>
          <a:p>
            <a:pPr algn="l">
              <a:lnSpc>
                <a:spcPct val="115000"/>
              </a:lnSpc>
              <a:spcBef>
                <a:spcPts val="0"/>
              </a:spcBef>
              <a:defRPr sz="1900" b="0" i="1">
                <a:solidFill>
                  <a:srgbClr val="2B2B29"/>
                </a:solidFill>
                <a:latin typeface="Georgia"/>
              </a:defRPr>
            </a:pPr>
            <a:r>
              <a:t>Du support de formation au cours e-learning :</a:t>
            </a:r>
          </a:p>
          <a:p>
            <a:pPr algn="l">
              <a:lnSpc>
                <a:spcPct val="115000"/>
              </a:lnSpc>
              <a:spcBef>
                <a:spcPts val="0"/>
              </a:spcBef>
              <a:defRPr sz="1900" b="0" i="1">
                <a:solidFill>
                  <a:srgbClr val="2B2B29"/>
                </a:solidFill>
                <a:latin typeface="Georgia"/>
              </a:defRPr>
            </a:pPr>
            <a:r>
              <a:t>une chaîne de production automatisée par IA.</a:t>
            </a:r>
          </a:p>
        </p:txBody>
      </p:sp>
      <p:sp>
        <p:nvSpPr>
          <p:cNvPr id="11" name="TextBox 10"/>
          <p:cNvSpPr txBox="1"/>
          <p:nvPr/>
        </p:nvSpPr>
        <p:spPr>
          <a:xfrm>
            <a:off x="7863840" y="5989320"/>
            <a:ext cx="3383280" cy="365760"/>
          </a:xfrm>
          <a:prstGeom prst="rect">
            <a:avLst/>
          </a:prstGeom>
          <a:noFill/>
        </p:spPr>
        <p:txBody>
          <a:bodyPr wrap="square" lIns="0" rIns="0" tIns="0" bIns="0">
            <a:spAutoFit/>
          </a:bodyPr>
          <a:lstStyle/>
          <a:p>
            <a:pPr algn="r">
              <a:lnSpc>
                <a:spcPct val="100000"/>
              </a:lnSpc>
              <a:spcBef>
                <a:spcPts val="0"/>
              </a:spcBef>
              <a:defRPr sz="1200" b="0" i="0">
                <a:solidFill>
                  <a:srgbClr val="1F6FB2"/>
                </a:solidFill>
                <a:latin typeface="Segoe UI Semibold"/>
              </a:defRPr>
            </a:pPr>
            <a:r>
              <a:t>Merci pour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